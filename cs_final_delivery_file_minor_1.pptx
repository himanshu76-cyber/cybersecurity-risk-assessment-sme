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24"/>
    <p:sldId id="274" r:id="rId25"/>
    <p:sldId id="257" r:id="rId3"/>
    <p:sldId id="258" r:id="rId4"/>
    <p:sldId id="259" r:id="rId5"/>
    <p:sldId id="260" r:id="rId6"/>
    <p:sldId id="280" r:id="rId31"/>
    <p:sldId id="261" r:id="rId7"/>
    <p:sldId id="278" r:id="rId29"/>
    <p:sldId id="281" r:id="rId32"/>
    <p:sldId id="262" r:id="rId8"/>
    <p:sldId id="279" r:id="rId30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26"/>
    <p:sldId id="276" r:id="rId27"/>
    <p:sldId id="277" r:id="rId2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B5F"/>
                </a:solidFill>
                <a:latin typeface="Arial"/>
              </a:rPr>
              <a:t>Threat Risk Scores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Ransomware</c:v>
                  </c:pt>
                  <c:pt idx="1">
                    <c:v>Phishing</c:v>
                  </c:pt>
                  <c:pt idx="2">
                    <c:v>Weak Pwd</c:v>
                  </c:pt>
                  <c:pt idx="3">
                    <c:v>Insider Threats</c:v>
                  </c:pt>
                  <c:pt idx="4">
                    <c:v>Unpatched SW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</c:v>
                </c:pt>
                <c:pt idx="1">
                  <c:v>4.4</c:v>
                </c:pt>
                <c:pt idx="2">
                  <c:v>4.4</c:v>
                </c:pt>
                <c:pt idx="3">
                  <c:v>4.2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_00D4FF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900" name="rect_00D4FF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900" name="rect_0A164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902" name="circle_7680960"/>
          <p:cNvSpPr/>
          <p:nvPr/>
        </p:nvSpPr>
        <p:spPr>
          <a:xfrm>
            <a:off x="6035040" y="514350"/>
            <a:ext cx="3291840" cy="3291840"/>
          </a:xfrm>
          <a:prstGeom prst="ellipse">
            <a:avLst/>
          </a:prstGeom>
          <a:solidFill>
            <a:srgbClr val="001F6E">
              <a:alpha val="70000"/>
            </a:srgbClr>
          </a:solidFill>
          <a:ln w="12700">
            <a:solidFill>
              <a:srgbClr val="001F6E">
                <a:alpha val="70000"/>
              </a:srgbClr>
            </a:solidFill>
          </a:ln>
        </p:spPr>
      </p:sp>
      <p:sp>
        <p:nvSpPr>
          <p:cNvPr id="902" name="circle_7680960"/>
          <p:cNvSpPr/>
          <p:nvPr/>
        </p:nvSpPr>
        <p:spPr>
          <a:xfrm>
            <a:off x="6549390" y="1028700"/>
            <a:ext cx="2263140" cy="2263140"/>
          </a:xfrm>
          <a:prstGeom prst="ellipse">
            <a:avLst/>
          </a:prstGeom>
          <a:solidFill>
            <a:srgbClr val="003399">
              <a:alpha val="50000"/>
            </a:srgbClr>
          </a:solidFill>
          <a:ln w="12700">
            <a:solidFill>
              <a:srgbClr val="003399">
                <a:alpha val="50000"/>
              </a:srgbClr>
            </a:solidFill>
          </a:ln>
        </p:spPr>
      </p:sp>
      <p:sp>
        <p:nvSpPr>
          <p:cNvPr id="902" name="circle_7680960"/>
          <p:cNvSpPr/>
          <p:nvPr/>
        </p:nvSpPr>
        <p:spPr>
          <a:xfrm>
            <a:off x="7166610" y="1645920"/>
            <a:ext cx="1028700" cy="1028700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</a:ln>
        </p:spPr>
      </p:sp>
      <p:sp>
        <p:nvSpPr>
          <p:cNvPr id="902" name="circle_5029200"/>
          <p:cNvSpPr/>
          <p:nvPr/>
        </p:nvSpPr>
        <p:spPr>
          <a:xfrm>
            <a:off x="5011200" y="599220"/>
            <a:ext cx="36000" cy="36000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</a:ln>
        </p:spPr>
      </p:sp>
      <p:sp>
        <p:nvSpPr>
          <p:cNvPr id="902" name="circle_5669280"/>
          <p:cNvSpPr/>
          <p:nvPr/>
        </p:nvSpPr>
        <p:spPr>
          <a:xfrm>
            <a:off x="5657280" y="4359975"/>
            <a:ext cx="24000" cy="2400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</a:ln>
        </p:spPr>
      </p:sp>
      <p:sp>
        <p:nvSpPr>
          <p:cNvPr id="902" name="circle_6583680"/>
          <p:cNvSpPr/>
          <p:nvPr/>
        </p:nvSpPr>
        <p:spPr>
          <a:xfrm>
            <a:off x="6573680" y="761525"/>
            <a:ext cx="20000" cy="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</a:ln>
        </p:spPr>
      </p:sp>
      <p:sp>
        <p:nvSpPr>
          <p:cNvPr id="902" name="circle_8229600"/>
          <p:cNvSpPr/>
          <p:nvPr/>
        </p:nvSpPr>
        <p:spPr>
          <a:xfrm>
            <a:off x="8209600" y="3991930"/>
            <a:ext cx="40000" cy="40000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</a:ln>
        </p:spPr>
      </p:sp>
      <p:sp>
        <p:nvSpPr>
          <p:cNvPr id="910" name="shield"/>
          <p:cNvSpPr/>
          <p:nvPr/>
        </p:nvSpPr>
        <p:spPr>
          <a:xfrm>
            <a:off x="6858000" y="822960"/>
            <a:ext cx="1645920" cy="2674620"/>
          </a:xfrm>
          <a:prstGeom prst="home">
            <a:avLst/>
          </a:prstGeom>
          <a:solidFill>
            <a:srgbClr val="00D4FF">
              <a:alpha val="15000"/>
            </a:srgbClr>
          </a:solidFill>
          <a:ln w="3810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911" name="shield_inner"/>
          <p:cNvSpPr/>
          <p:nvPr/>
        </p:nvSpPr>
        <p:spPr>
          <a:xfrm>
            <a:off x="7146036" y="1291019"/>
            <a:ext cx="1069848" cy="1738503"/>
          </a:xfrm>
          <a:prstGeom prst="home">
            <a:avLst/>
          </a:prstGeom>
          <a:noFill/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12" name="lockbody"/>
          <p:cNvSpPr/>
          <p:nvPr/>
        </p:nvSpPr>
        <p:spPr>
          <a:xfrm>
            <a:off x="7452360" y="1903095"/>
            <a:ext cx="457200" cy="462915"/>
          </a:xfrm>
          <a:prstGeom prst="roundRect">
            <a:avLst>
              <a:gd name="adj" fmla="val 20000"/>
            </a:avLst>
          </a:prstGeom>
          <a:solidFill>
            <a:srgbClr val="00D4FF">
              <a:alpha val="90000"/>
            </a:srgbClr>
          </a:solidFill>
          <a:ln>
            <a:noFill/>
          </a:ln>
        </p:spPr>
      </p:sp>
      <p:sp>
        <p:nvSpPr>
          <p:cNvPr id="913" name="shackle"/>
          <p:cNvSpPr/>
          <p:nvPr/>
        </p:nvSpPr>
        <p:spPr>
          <a:xfrm>
            <a:off x="7626096" y="1648492"/>
            <a:ext cx="109728" cy="300894"/>
          </a:xfrm>
          <a:prstGeom prst="ellipse">
            <a:avLst/>
          </a:prstGeom>
          <a:noFill/>
          <a:ln w="22860">
            <a:solidFill>
              <a:srgbClr val="00D4FF"/>
            </a:solidFill>
          </a:ln>
        </p:spPr>
      </p:sp>
      <p:sp>
        <p:nvSpPr>
          <p:cNvPr id="900" name="rect_001F6E"/>
          <p:cNvSpPr/>
          <p:nvPr/>
        </p:nvSpPr>
        <p:spPr>
          <a:xfrm>
            <a:off x="502920" y="514350"/>
            <a:ext cx="1645920" cy="370332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901" name="txt_MINOR PR"/>
          <p:cNvSpPr txBox="1"/>
          <p:nvPr/>
        </p:nvSpPr>
        <p:spPr>
          <a:xfrm>
            <a:off x="594360" y="555498"/>
            <a:ext cx="155448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</a:rPr>
              <a:t>MINOR PROJECT — I</a:t>
            </a:r>
          </a:p>
        </p:txBody>
      </p:sp>
      <p:sp>
        <p:nvSpPr>
          <p:cNvPr id="901" name="txt_CYBERSEC"/>
          <p:cNvSpPr txBox="1"/>
          <p:nvPr/>
        </p:nvSpPr>
        <p:spPr>
          <a:xfrm>
            <a:off x="502920" y="1157287"/>
            <a:ext cx="5486400" cy="10287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spc="300" kern="0" dirty="0">
                <a:solidFill>
                  <a:srgbClr val="00D4FF"/>
                </a:solidFill>
                <a:latin typeface="Calibri Light" pitchFamily="34" charset="0"/>
              </a:rPr>
              <a:t>CYBERSECURITY</a:t>
            </a:r>
          </a:p>
        </p:txBody>
      </p:sp>
      <p:sp>
        <p:nvSpPr>
          <p:cNvPr id="901" name="txt_Risk Ass"/>
          <p:cNvSpPr txBox="1"/>
          <p:nvPr/>
        </p:nvSpPr>
        <p:spPr>
          <a:xfrm>
            <a:off x="502920" y="2288857"/>
            <a:ext cx="548640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0" spc="100" kern="0" dirty="0">
                <a:solidFill>
                  <a:srgbClr val="FFFFFF"/>
                </a:solidFill>
                <a:latin typeface="Calibri" pitchFamily="34" charset="0"/>
              </a:rPr>
              <a:t>Risk Assessment Framework</a:t>
            </a:r>
          </a:p>
        </p:txBody>
      </p:sp>
      <p:sp>
        <p:nvSpPr>
          <p:cNvPr id="901" name="txt_for Smal"/>
          <p:cNvSpPr txBox="1"/>
          <p:nvPr/>
        </p:nvSpPr>
        <p:spPr>
          <a:xfrm>
            <a:off x="502920" y="2906077"/>
            <a:ext cx="5486400" cy="46291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0" kern="0" dirty="0">
                <a:solidFill>
                  <a:srgbClr val="7EC8E3"/>
                </a:solidFill>
                <a:latin typeface="Calibri" pitchFamily="34" charset="0"/>
              </a:rPr>
              <a:t>for Small Businesses</a:t>
            </a:r>
          </a:p>
        </p:txBody>
      </p:sp>
      <p:sp>
        <p:nvSpPr>
          <p:cNvPr id="900" name="rect_00D4FF"/>
          <p:cNvSpPr/>
          <p:nvPr/>
        </p:nvSpPr>
        <p:spPr>
          <a:xfrm>
            <a:off x="502920" y="3523297"/>
            <a:ext cx="3474720" cy="2571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901" name="txt_Presente"/>
          <p:cNvSpPr txBox="1"/>
          <p:nvPr/>
        </p:nvSpPr>
        <p:spPr>
          <a:xfrm>
            <a:off x="502920" y="3677602"/>
            <a:ext cx="54864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Presented by: Himanshu Soni</a:t>
            </a:r>
          </a:p>
        </p:txBody>
      </p:sp>
      <p:sp>
        <p:nvSpPr>
          <p:cNvPr id="900" name="rect_00104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900" name="rect_00D4FF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901" name="txt_Cybersec"/>
          <p:cNvSpPr txBox="1"/>
          <p:nvPr/>
        </p:nvSpPr>
        <p:spPr>
          <a:xfrm>
            <a:off x="502920" y="4603432"/>
            <a:ext cx="45720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 ·  Risk Management  ·  2025–2026</a:t>
            </a:r>
          </a:p>
        </p:txBody>
      </p:sp>
      <p:sp>
        <p:nvSpPr>
          <p:cNvPr id="901" name="txt_CONFIDEN"/>
          <p:cNvSpPr txBox="1"/>
          <p:nvPr/>
        </p:nvSpPr>
        <p:spPr>
          <a:xfrm>
            <a:off x="5486400" y="4603432"/>
            <a:ext cx="3200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  <a:latin typeface="Calibri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/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18288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D4FF"/>
                </a:solidFill>
                <a:latin typeface="Calibri" pitchFamily="34" charset="0"/>
              </a:rPr>
              <a:t>Table of Contents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13887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13887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2920"/>
          <p:cNvSpPr txBox="1"/>
          <p:nvPr/>
        </p:nvSpPr>
        <p:spPr>
          <a:xfrm>
            <a:off x="502920" y="14658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51" name="t1051560"/>
          <p:cNvSpPr txBox="1"/>
          <p:nvPr/>
        </p:nvSpPr>
        <p:spPr>
          <a:xfrm>
            <a:off x="1051560" y="14401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Introduction &amp; Background</a:t>
            </a:r>
          </a:p>
        </p:txBody>
      </p:sp>
      <p:sp>
        <p:nvSpPr>
          <p:cNvPr id="51" name="t1051560"/>
          <p:cNvSpPr txBox="1"/>
          <p:nvPr/>
        </p:nvSpPr>
        <p:spPr>
          <a:xfrm>
            <a:off x="1051560" y="18516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What is Cybersecurity · What are SMEs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24174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24174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2920"/>
          <p:cNvSpPr txBox="1"/>
          <p:nvPr/>
        </p:nvSpPr>
        <p:spPr>
          <a:xfrm>
            <a:off x="502920" y="24945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51" name="t1051560"/>
          <p:cNvSpPr txBox="1"/>
          <p:nvPr/>
        </p:nvSpPr>
        <p:spPr>
          <a:xfrm>
            <a:off x="1051560" y="24688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Cybersecurity Risks</a:t>
            </a:r>
          </a:p>
        </p:txBody>
      </p:sp>
      <p:sp>
        <p:nvSpPr>
          <p:cNvPr id="51" name="t1051560"/>
          <p:cNvSpPr txBox="1"/>
          <p:nvPr/>
        </p:nvSpPr>
        <p:spPr>
          <a:xfrm>
            <a:off x="1051560" y="28803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Top 5 Threats · Impact on SMEs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34461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34461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2920"/>
          <p:cNvSpPr txBox="1"/>
          <p:nvPr/>
        </p:nvSpPr>
        <p:spPr>
          <a:xfrm>
            <a:off x="502920" y="35232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51" name="t1051560"/>
          <p:cNvSpPr txBox="1"/>
          <p:nvPr/>
        </p:nvSpPr>
        <p:spPr>
          <a:xfrm>
            <a:off x="1051560" y="34975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Risk Assessment Framework</a:t>
            </a:r>
          </a:p>
        </p:txBody>
      </p:sp>
      <p:sp>
        <p:nvSpPr>
          <p:cNvPr id="51" name="t1051560"/>
          <p:cNvSpPr txBox="1"/>
          <p:nvPr/>
        </p:nvSpPr>
        <p:spPr>
          <a:xfrm>
            <a:off x="1051560" y="39090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Model · Process · Evaluation Metric</a:t>
            </a:r>
          </a:p>
        </p:txBody>
      </p:sp>
      <p:sp>
        <p:nvSpPr>
          <p:cNvPr id="50" name="r4937760"/>
          <p:cNvSpPr/>
          <p:nvPr/>
        </p:nvSpPr>
        <p:spPr>
          <a:xfrm>
            <a:off x="4937760" y="13887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937760"/>
          <p:cNvSpPr/>
          <p:nvPr/>
        </p:nvSpPr>
        <p:spPr>
          <a:xfrm>
            <a:off x="4937760" y="13887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74920"/>
          <p:cNvSpPr txBox="1"/>
          <p:nvPr/>
        </p:nvSpPr>
        <p:spPr>
          <a:xfrm>
            <a:off x="5074920" y="14658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51" name="t5623560"/>
          <p:cNvSpPr txBox="1"/>
          <p:nvPr/>
        </p:nvSpPr>
        <p:spPr>
          <a:xfrm>
            <a:off x="5623560" y="14401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Mitigation Strategies</a:t>
            </a:r>
          </a:p>
        </p:txBody>
      </p:sp>
      <p:sp>
        <p:nvSpPr>
          <p:cNvPr id="51" name="t5623560"/>
          <p:cNvSpPr txBox="1"/>
          <p:nvPr/>
        </p:nvSpPr>
        <p:spPr>
          <a:xfrm>
            <a:off x="5623560" y="18516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Controls · Best Practices</a:t>
            </a:r>
          </a:p>
        </p:txBody>
      </p:sp>
      <p:sp>
        <p:nvSpPr>
          <p:cNvPr id="50" name="r4937760"/>
          <p:cNvSpPr/>
          <p:nvPr/>
        </p:nvSpPr>
        <p:spPr>
          <a:xfrm>
            <a:off x="4937760" y="24174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937760"/>
          <p:cNvSpPr/>
          <p:nvPr/>
        </p:nvSpPr>
        <p:spPr>
          <a:xfrm>
            <a:off x="4937760" y="24174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74920"/>
          <p:cNvSpPr txBox="1"/>
          <p:nvPr/>
        </p:nvSpPr>
        <p:spPr>
          <a:xfrm>
            <a:off x="5074920" y="24945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51" name="t5623560"/>
          <p:cNvSpPr txBox="1"/>
          <p:nvPr/>
        </p:nvSpPr>
        <p:spPr>
          <a:xfrm>
            <a:off x="5623560" y="24688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Case Studies &amp; Validation</a:t>
            </a:r>
          </a:p>
        </p:txBody>
      </p:sp>
      <p:sp>
        <p:nvSpPr>
          <p:cNvPr id="51" name="t5623560"/>
          <p:cNvSpPr txBox="1"/>
          <p:nvPr/>
        </p:nvSpPr>
        <p:spPr>
          <a:xfrm>
            <a:off x="5623560" y="28803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3 Real-World SME Case Studies</a:t>
            </a:r>
          </a:p>
        </p:txBody>
      </p:sp>
      <p:sp>
        <p:nvSpPr>
          <p:cNvPr id="50" name="r4937760"/>
          <p:cNvSpPr/>
          <p:nvPr/>
        </p:nvSpPr>
        <p:spPr>
          <a:xfrm>
            <a:off x="4937760" y="3446145"/>
            <a:ext cx="4114800" cy="87439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937760"/>
          <p:cNvSpPr/>
          <p:nvPr/>
        </p:nvSpPr>
        <p:spPr>
          <a:xfrm>
            <a:off x="4937760" y="3446145"/>
            <a:ext cx="64008" cy="874395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74920"/>
          <p:cNvSpPr txBox="1"/>
          <p:nvPr/>
        </p:nvSpPr>
        <p:spPr>
          <a:xfrm>
            <a:off x="5074920" y="3523297"/>
            <a:ext cx="5486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kern="0" dirty="0">
                <a:solidFill>
                  <a:srgbClr val="00D4FF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51" name="t5623560"/>
          <p:cNvSpPr txBox="1"/>
          <p:nvPr/>
        </p:nvSpPr>
        <p:spPr>
          <a:xfrm>
            <a:off x="5623560" y="3497580"/>
            <a:ext cx="3291840" cy="4371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Findings &amp; Conclusion</a:t>
            </a:r>
          </a:p>
        </p:txBody>
      </p:sp>
      <p:sp>
        <p:nvSpPr>
          <p:cNvPr id="51" name="t5623560"/>
          <p:cNvSpPr txBox="1"/>
          <p:nvPr/>
        </p:nvSpPr>
        <p:spPr>
          <a:xfrm>
            <a:off x="5623560" y="3909060"/>
            <a:ext cx="329184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Key Findings · Recommendations</a:t>
            </a:r>
          </a:p>
        </p:txBody>
      </p:sp>
      <p:sp>
        <p:nvSpPr>
          <p:cNvPr id="51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/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18288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D4FF"/>
                </a:solidFill>
                <a:latin typeface="Calibri" pitchFamily="34" charset="0"/>
              </a:rPr>
              <a:t>Objectives of the Study</a:t>
            </a:r>
          </a:p>
        </p:txBody>
      </p:sp>
      <p:sp>
        <p:nvSpPr>
          <p:cNvPr id="51" name="t457200"/>
          <p:cNvSpPr txBox="1"/>
          <p:nvPr/>
        </p:nvSpPr>
        <p:spPr>
          <a:xfrm>
            <a:off x="457200" y="951547"/>
            <a:ext cx="804672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0" kern="0" dirty="0">
                <a:solidFill>
                  <a:srgbClr val="7EC8E3"/>
                </a:solidFill>
                <a:latin typeface="Calibri" pitchFamily="34" charset="0"/>
              </a:rPr>
              <a:t>What this project aims to identify, develop, and validate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1311592"/>
            <a:ext cx="8412480" cy="72009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1311592"/>
            <a:ext cx="64008" cy="72009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502920"/>
          <p:cNvSpPr/>
          <p:nvPr/>
        </p:nvSpPr>
        <p:spPr>
          <a:xfrm>
            <a:off x="502920" y="1491614"/>
            <a:ext cx="320040" cy="334327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51" name="t512064"/>
          <p:cNvSpPr txBox="1"/>
          <p:nvPr/>
        </p:nvSpPr>
        <p:spPr>
          <a:xfrm>
            <a:off x="512064" y="1501901"/>
            <a:ext cx="301752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kern="0" dirty="0">
                <a:solidFill>
                  <a:srgbClr val="00D4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1" name="t960120"/>
          <p:cNvSpPr txBox="1"/>
          <p:nvPr/>
        </p:nvSpPr>
        <p:spPr>
          <a:xfrm>
            <a:off x="960120" y="1388744"/>
            <a:ext cx="76809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Identify Cybersecurity Risks in SMEs</a:t>
            </a:r>
          </a:p>
        </p:txBody>
      </p:sp>
      <p:sp>
        <p:nvSpPr>
          <p:cNvPr id="51" name="t960120"/>
          <p:cNvSpPr txBox="1"/>
          <p:nvPr/>
        </p:nvSpPr>
        <p:spPr>
          <a:xfrm>
            <a:off x="960120" y="1661350"/>
            <a:ext cx="7680960" cy="34975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A0C4D8"/>
                </a:solidFill>
                <a:latin typeface="Calibri" pitchFamily="34" charset="0"/>
              </a:rPr>
              <a:t>Analyse the most prevalent and damaging cyber threats faced by small businesses — including phishing, ransomware, insider threats, weak passwords, and unpatched software.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2108834"/>
            <a:ext cx="8412480" cy="72009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2108834"/>
            <a:ext cx="64008" cy="72009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502920"/>
          <p:cNvSpPr/>
          <p:nvPr/>
        </p:nvSpPr>
        <p:spPr>
          <a:xfrm>
            <a:off x="502920" y="2288856"/>
            <a:ext cx="320040" cy="334327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51" name="t512064"/>
          <p:cNvSpPr txBox="1"/>
          <p:nvPr/>
        </p:nvSpPr>
        <p:spPr>
          <a:xfrm>
            <a:off x="512064" y="2299143"/>
            <a:ext cx="301752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kern="0" dirty="0">
                <a:solidFill>
                  <a:srgbClr val="00D4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1" name="t960120"/>
          <p:cNvSpPr txBox="1"/>
          <p:nvPr/>
        </p:nvSpPr>
        <p:spPr>
          <a:xfrm>
            <a:off x="960120" y="2185986"/>
            <a:ext cx="76809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Develop a Risk Assessment Framework</a:t>
            </a:r>
          </a:p>
        </p:txBody>
      </p:sp>
      <p:sp>
        <p:nvSpPr>
          <p:cNvPr id="51" name="t960120"/>
          <p:cNvSpPr txBox="1"/>
          <p:nvPr/>
        </p:nvSpPr>
        <p:spPr>
          <a:xfrm>
            <a:off x="960120" y="2458592"/>
            <a:ext cx="7680960" cy="34975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A0C4D8"/>
                </a:solidFill>
                <a:latin typeface="Calibri" pitchFamily="34" charset="0"/>
              </a:rPr>
              <a:t>Build a structured, quantitative model (Risk Score = Likelihood × Impact) that SMEs can use to prioritise threats based on severity and probability.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2906076"/>
            <a:ext cx="8412480" cy="72009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2906076"/>
            <a:ext cx="64008" cy="72009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502920"/>
          <p:cNvSpPr/>
          <p:nvPr/>
        </p:nvSpPr>
        <p:spPr>
          <a:xfrm>
            <a:off x="502920" y="3086098"/>
            <a:ext cx="320040" cy="334327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51" name="t512064"/>
          <p:cNvSpPr txBox="1"/>
          <p:nvPr/>
        </p:nvSpPr>
        <p:spPr>
          <a:xfrm>
            <a:off x="512064" y="3096385"/>
            <a:ext cx="301752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kern="0" dirty="0">
                <a:solidFill>
                  <a:srgbClr val="00D4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1" name="t960120"/>
          <p:cNvSpPr txBox="1"/>
          <p:nvPr/>
        </p:nvSpPr>
        <p:spPr>
          <a:xfrm>
            <a:off x="960120" y="2983228"/>
            <a:ext cx="76809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Propose Mitigation Strategies</a:t>
            </a:r>
          </a:p>
        </p:txBody>
      </p:sp>
      <p:sp>
        <p:nvSpPr>
          <p:cNvPr id="51" name="t960120"/>
          <p:cNvSpPr txBox="1"/>
          <p:nvPr/>
        </p:nvSpPr>
        <p:spPr>
          <a:xfrm>
            <a:off x="960120" y="3255834"/>
            <a:ext cx="7680960" cy="34975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A0C4D8"/>
                </a:solidFill>
                <a:latin typeface="Calibri" pitchFamily="34" charset="0"/>
              </a:rPr>
              <a:t>Recommend practical, cost-effective security controls such as MFA, RBAC, employee training, data backups, and patch management aligned with the NIST Cybersecurity Framework.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3703318"/>
            <a:ext cx="8412480" cy="72009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3703318"/>
            <a:ext cx="64008" cy="72009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502920"/>
          <p:cNvSpPr/>
          <p:nvPr/>
        </p:nvSpPr>
        <p:spPr>
          <a:xfrm>
            <a:off x="502920" y="3883340"/>
            <a:ext cx="320040" cy="334327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51" name="t512064"/>
          <p:cNvSpPr txBox="1"/>
          <p:nvPr/>
        </p:nvSpPr>
        <p:spPr>
          <a:xfrm>
            <a:off x="512064" y="3893627"/>
            <a:ext cx="301752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kern="0" dirty="0">
                <a:solidFill>
                  <a:srgbClr val="00D4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1" name="t960120"/>
          <p:cNvSpPr txBox="1"/>
          <p:nvPr/>
        </p:nvSpPr>
        <p:spPr>
          <a:xfrm>
            <a:off x="960120" y="3780470"/>
            <a:ext cx="76809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</a:rPr>
              <a:t>Validate Through Real-World Case Studies</a:t>
            </a:r>
          </a:p>
        </p:txBody>
      </p:sp>
      <p:sp>
        <p:nvSpPr>
          <p:cNvPr id="51" name="t960120"/>
          <p:cNvSpPr txBox="1"/>
          <p:nvPr/>
        </p:nvSpPr>
        <p:spPr>
          <a:xfrm>
            <a:off x="960120" y="4053076"/>
            <a:ext cx="7680960" cy="34975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A0C4D8"/>
                </a:solidFill>
                <a:latin typeface="Calibri" pitchFamily="34" charset="0"/>
              </a:rPr>
              <a:t>Test the framework against three SME scenarios (retail, healthcare, IT services) to demonstrate its effectiveness in identifying high-priority risks and guiding remediation.</a:t>
            </a:r>
          </a:p>
        </p:txBody>
      </p:sp>
      <p:sp>
        <p:nvSpPr>
          <p:cNvPr id="51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Cybersecurity?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2801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the practice of protecting computers, networks, systems, and data from unauthorized access, cyber attacks, damage, or theft.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computers and digital devices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networks and internet connections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hacking and cyber attacks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data and information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privacy and confidentiality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data integrity and availability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businesses and individuals stay safe online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risks from malware, viruses, and phishing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SMEs?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— Small and Medium Enterprises — are businesses that operate on a smaller scale than large corporations in terms of employees, revenue, and size.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medium-sized businesses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contributors to the economy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employment opportunities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efficient resource management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adopt digital technologies for growth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cybersecurity to protect business data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risks from cyber attacks and data breaches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innovation and local economic development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Local retail stores  ·  Small manufacturing units  ·  Startups  ·  Consulting firms  ·  Medium-sized service companies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Cybersecurity Risks in SMEs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9728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97280"/>
            <a:ext cx="45720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Attacks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emails, messages, or websites used to steal sensitive information and login credentials.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45720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188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Ransomware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software that encrypts files and demands payment for restoring access.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27889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788920"/>
            <a:ext cx="457200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Insider Threats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or partners may intentionally or accidentally expose sensitive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0" y="27889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0" y="2788920"/>
            <a:ext cx="457200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1188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Passwords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2004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password practices make it easier for attackers to gain unauthorized access.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27889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788920"/>
            <a:ext cx="457200" cy="14630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Unpatched Software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32004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software contains vulnerabilities that cybercriminals can exploit.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of Cyber Attacks on SMEs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Losses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monetary loss from fraud, ransom payments, and recovery costs.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Theft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business and customer data stolen or sold on dark web.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691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Disruption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halted, leading to lost productivity and revenue.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Reputation Damage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credibility harmed; long-term customer relationships at risk.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06040" cy="150876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108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3611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of Customer Trust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lose confidence and switch to competitors.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Risk Score  =  </a:t>
            </a:r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 ×  </a:t>
            </a:r>
            <a:pPr algn="ctr"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8412480" cy="256032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 (1–5)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(1–5)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Attacks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Threats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Unpatched 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Scale: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0" y="4462272"/>
            <a:ext cx="150876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1–5: Low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31920" y="4462272"/>
            <a:ext cx="150876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6–10: Medium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4462272"/>
            <a:ext cx="150876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11–15: High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223760" y="4462272"/>
            <a:ext cx="1508760" cy="2560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4462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16–25: Critical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Risks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cybersecurity risks facing the SME.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515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08376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 Likelihood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1508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how likely each threat is to occur.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57216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 Impact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potential damage if the risk occurs.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515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06056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Score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95160" y="15087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Likelihood × Impact to get the Risk Score.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089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536" y="3136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 Threats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35661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threats from Critical to Low.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06040" y="31089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06040" y="31089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008376" y="3136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Controls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97480" y="35661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appropriate mitigation strategies.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108960"/>
            <a:ext cx="1828800" cy="38404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57216" y="3136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&amp; Review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0" y="35661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review and update the model.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Evaluation Metric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Risk Score  =  ( 0.4 × </a:t>
            </a:r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)  +  ( 0.6 × </a:t>
            </a:r>
            <a:pPr algn="ctr" indent="0" marL="0">
              <a:buNone/>
            </a:pPr>
            <a:r>
              <a:rPr lang="en-US" sz="1600" b="1" dirty="0">
                <a:solidFill>
                  <a:srgbClr val="F6A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 )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9164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91640"/>
          <a:ext cx="3657600" cy="310896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Attacks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Threats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Unpatched SW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Mitigation Strategies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Attacks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security awareness training, email filtering, anti-phishing tools, Multi-Factor Authentication (MFA)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data backups, antivirus/anti-malware software, endpoint protection, software updates, network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Threats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control (RBAC), employee monitoring, security policies, least-privilege access, regular audits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password policy, MFA, password managers, periodic password changes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Unpatched 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patch management, regular software updates, vulnerability scanning, asset inventory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Security Controls for SMEs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MFA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extra layer of login security beyond passwords.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84832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84832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84832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Firewalls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30552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filter incoming and outgoing network traffic.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03904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03904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03904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Antivirus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9624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removes malicious software threats.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22976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22976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22976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Backups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68696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recovery after ransomware attacks or data loss.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42048" y="100584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42048" y="10972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42048" y="16002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87768" y="187452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access based on user job roles.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Educates employees about cyber threats and safe practices.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84832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84832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084832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30552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data from unauthorized access.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03904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03904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803904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 Mgmt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9624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systems protected against known vulnerabilities.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22976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22976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22976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68696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network activities in real time.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42048" y="3017520"/>
            <a:ext cx="1572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42048" y="31089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242048" y="3611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87768" y="3886200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address security weaknesses regularly.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1: Small Retail Store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Retail Shop  ·  25 Employees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🎣  Cybersecurity Issue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received phishing emails.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 clicked a malicious link.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credentials were compromised.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Risk Assessment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Phishing Attack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5/5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4/5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20 (High)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Mitigation Applied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awareness training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filtering 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✅  Outcome: </a:t>
            </a:r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click rate reduced significantly. No further account compromises. Model correctly identified phishing as a high-priority risk.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2: Small Healthcare Clinic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SME  ·  40 Employees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Cybersecurity Issue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infected with ransomware.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became temporarily inaccessible.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Risk Assessment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Ransomware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4/5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5/5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20 (Critical)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Mitigation Applied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offline backups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protection software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patch management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✅  Outcome: </a:t>
            </a:r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restored from backups. Business operations resumed quickly. Model accurately ranked ransomware as the highest-risk threat.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3: Small IT Services Company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Consulting Firm  ·  30 Employees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Cybersecurity Issue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employee retained access to company files.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client data was exposed.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Risk Assessment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Insider Threat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3/5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5/5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15 (High)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Mitigation Applied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9748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514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account deactivation after employee exit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access audits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✅  Outcome: </a:t>
            </a:r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incidents eliminated. Improved protection of client information. Model successfully highlighted insider threats as a major concern.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Validation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097280"/>
                <a:gridCol w="210312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Threat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🛒  Retail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+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credential theft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🏥  Healthcare Clinic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Backups + Endpoint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recovery from 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💻  IT Services Firm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Threat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+ Access Audits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Prevented data exposure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429000"/>
            <a:ext cx="8412480" cy="14630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assessment model effectively identified the most severe threats.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 reduced both the likelihood and impact of attacks.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applicable across retail, healthcare, and IT services sectors.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risks by severity helps SMEs allocate cybersecurity resources effectively.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200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face significant cybersecurity risks due to limited security resources.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3200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099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and ransomware are the most critical external threats.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3200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6829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957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 can cause major data breaches and operational disruptions.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3200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266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05409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and unpatched software increase vulnerability to cyberattacks.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685032"/>
            <a:ext cx="320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850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71246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helps SMEs prioritize threats based on likelihood and impact.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320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434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3708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such as MFA, firewalls, backups, and employee training effectively reduce cyber risks.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for SME Cybersecurity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424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Multi-Factor Authentication (MFA) for all critical accounts.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282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password policies and password managers.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maintain firewalls and antivirus software.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998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063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regular software updates and patch management.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7856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employee cybersecurity awareness 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10424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042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regular data backups and test recovery procedures.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7282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1691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Role-Based Access Control (RBAC) and least privilege.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4140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377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sensitive business and customer data.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0998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3063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systems for suspicious activities and incidents.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378561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3749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periodic security audits and risk assessments.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D1D45"/>
          </a:solidFill>
          <a:ln w="12700">
            <a:solidFill>
              <a:srgbClr val="0D1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proactive cybersecurity approach combining risk assessment, employee awareness, and technical controls can significantly reduce cyber threats for SMEs.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194560"/>
            <a:ext cx="2103120" cy="118872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194560"/>
            <a:ext cx="2103120" cy="118872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40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Awareness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103120" cy="1188720"/>
          </a:xfrm>
          <a:prstGeom prst="rect">
            <a:avLst/>
          </a:prstGeom>
          <a:solidFill>
            <a:srgbClr val="21346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240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Controls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implementing these best practices, SMEs can improve data protection, business continuity,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customer trust while minimising financial and operational risks.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/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18288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D4FF"/>
                </a:solidFill>
                <a:latin typeface="Calibri" pitchFamily="34" charset="0"/>
              </a:rPr>
              <a:t>Limitations &amp; Future Scope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1105852"/>
            <a:ext cx="3931920" cy="282892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51" name="t457200"/>
          <p:cNvSpPr txBox="1"/>
          <p:nvPr/>
        </p:nvSpPr>
        <p:spPr>
          <a:xfrm>
            <a:off x="457200" y="1116139"/>
            <a:ext cx="365760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</a:rPr>
              <a:t>LIMITATIONS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1517332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1517332"/>
            <a:ext cx="54864" cy="61722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51" name="t530352"/>
          <p:cNvSpPr txBox="1"/>
          <p:nvPr/>
        </p:nvSpPr>
        <p:spPr>
          <a:xfrm>
            <a:off x="530352" y="1594484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Study limited to 3 SME case studies; broader validation across industries is needed.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2211704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2211704"/>
            <a:ext cx="54864" cy="61722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51" name="t530352"/>
          <p:cNvSpPr txBox="1"/>
          <p:nvPr/>
        </p:nvSpPr>
        <p:spPr>
          <a:xfrm>
            <a:off x="530352" y="2288856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The risk model uses a simplified Likelihood × Impact formula — advanced weighted scoring could improve precision.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2906076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2906076"/>
            <a:ext cx="54864" cy="61722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51" name="t530352"/>
          <p:cNvSpPr txBox="1"/>
          <p:nvPr/>
        </p:nvSpPr>
        <p:spPr>
          <a:xfrm>
            <a:off x="530352" y="2983228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Framework has not been tested on large enterprises or multinational organisations.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3600448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3600448"/>
            <a:ext cx="54864" cy="61722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51" name="t530352"/>
          <p:cNvSpPr txBox="1"/>
          <p:nvPr/>
        </p:nvSpPr>
        <p:spPr>
          <a:xfrm>
            <a:off x="530352" y="3677600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Threat landscape evolves rapidly; model requires periodic updates to remain current.</a:t>
            </a:r>
          </a:p>
        </p:txBody>
      </p:sp>
      <p:sp>
        <p:nvSpPr>
          <p:cNvPr id="50" name="r4846320"/>
          <p:cNvSpPr/>
          <p:nvPr/>
        </p:nvSpPr>
        <p:spPr>
          <a:xfrm>
            <a:off x="4846320" y="1105852"/>
            <a:ext cx="3931920" cy="282892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51" name="t4937760"/>
          <p:cNvSpPr txBox="1"/>
          <p:nvPr/>
        </p:nvSpPr>
        <p:spPr>
          <a:xfrm>
            <a:off x="4937760" y="1116139"/>
            <a:ext cx="365760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</a:rPr>
              <a:t>FUTURE SCOPE</a:t>
            </a:r>
          </a:p>
        </p:txBody>
      </p:sp>
      <p:sp>
        <p:nvSpPr>
          <p:cNvPr id="50" name="r4846320"/>
          <p:cNvSpPr/>
          <p:nvPr/>
        </p:nvSpPr>
        <p:spPr>
          <a:xfrm>
            <a:off x="4846320" y="1517332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846320"/>
          <p:cNvSpPr/>
          <p:nvPr/>
        </p:nvSpPr>
        <p:spPr>
          <a:xfrm>
            <a:off x="4846320" y="1517332"/>
            <a:ext cx="54864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10912"/>
          <p:cNvSpPr txBox="1"/>
          <p:nvPr/>
        </p:nvSpPr>
        <p:spPr>
          <a:xfrm>
            <a:off x="5010912" y="1594484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Integrate AI &amp; machine learning for real-time automated threat detection and risk scoring.</a:t>
            </a:r>
          </a:p>
        </p:txBody>
      </p:sp>
      <p:sp>
        <p:nvSpPr>
          <p:cNvPr id="50" name="r4846320"/>
          <p:cNvSpPr/>
          <p:nvPr/>
        </p:nvSpPr>
        <p:spPr>
          <a:xfrm>
            <a:off x="4846320" y="2211704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846320"/>
          <p:cNvSpPr/>
          <p:nvPr/>
        </p:nvSpPr>
        <p:spPr>
          <a:xfrm>
            <a:off x="4846320" y="2211704"/>
            <a:ext cx="54864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10912"/>
          <p:cNvSpPr txBox="1"/>
          <p:nvPr/>
        </p:nvSpPr>
        <p:spPr>
          <a:xfrm>
            <a:off x="5010912" y="2288856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Develop an automated risk scoring tool / dashboard SMEs can self-administer with minimal expertise.</a:t>
            </a:r>
          </a:p>
        </p:txBody>
      </p:sp>
      <p:sp>
        <p:nvSpPr>
          <p:cNvPr id="50" name="r4846320"/>
          <p:cNvSpPr/>
          <p:nvPr/>
        </p:nvSpPr>
        <p:spPr>
          <a:xfrm>
            <a:off x="4846320" y="2906076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846320"/>
          <p:cNvSpPr/>
          <p:nvPr/>
        </p:nvSpPr>
        <p:spPr>
          <a:xfrm>
            <a:off x="4846320" y="2906076"/>
            <a:ext cx="54864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10912"/>
          <p:cNvSpPr txBox="1"/>
          <p:nvPr/>
        </p:nvSpPr>
        <p:spPr>
          <a:xfrm>
            <a:off x="5010912" y="2983228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Expand the framework to cover cloud security, IoT devices, and remote-work environments.</a:t>
            </a:r>
          </a:p>
        </p:txBody>
      </p:sp>
      <p:sp>
        <p:nvSpPr>
          <p:cNvPr id="50" name="r4846320"/>
          <p:cNvSpPr/>
          <p:nvPr/>
        </p:nvSpPr>
        <p:spPr>
          <a:xfrm>
            <a:off x="4846320" y="3600448"/>
            <a:ext cx="4023360" cy="61722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846320"/>
          <p:cNvSpPr/>
          <p:nvPr/>
        </p:nvSpPr>
        <p:spPr>
          <a:xfrm>
            <a:off x="4846320" y="3600448"/>
            <a:ext cx="54864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10912"/>
          <p:cNvSpPr txBox="1"/>
          <p:nvPr/>
        </p:nvSpPr>
        <p:spPr>
          <a:xfrm>
            <a:off x="5010912" y="3677600"/>
            <a:ext cx="36576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D0D8E8"/>
                </a:solidFill>
                <a:latin typeface="Calibri" pitchFamily="34" charset="0"/>
              </a:rPr>
              <a:t>Align with additional standards: ISO/IEC 27001, GDPR compliance, and OWASP Top 10.</a:t>
            </a:r>
          </a:p>
        </p:txBody>
      </p:sp>
      <p:sp>
        <p:nvSpPr>
          <p:cNvPr id="51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/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18288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D4FF"/>
                </a:solidFill>
                <a:latin typeface="Calibri" pitchFamily="34" charset="0"/>
              </a:rPr>
              <a:t>References &amp; Bibliography</a:t>
            </a:r>
          </a:p>
        </p:txBody>
      </p:sp>
      <p:sp>
        <p:nvSpPr>
          <p:cNvPr id="51" name="t457200"/>
          <p:cNvSpPr txBox="1"/>
          <p:nvPr/>
        </p:nvSpPr>
        <p:spPr>
          <a:xfrm>
            <a:off x="457200" y="951547"/>
            <a:ext cx="804672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0" kern="0" dirty="0">
                <a:solidFill>
                  <a:srgbClr val="7EC8E3"/>
                </a:solidFill>
                <a:latin typeface="Calibri" pitchFamily="34" charset="0"/>
              </a:rPr>
              <a:t>Standards, frameworks, and sources used in this project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1183005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1183005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2920"/>
          <p:cNvSpPr txBox="1"/>
          <p:nvPr/>
        </p:nvSpPr>
        <p:spPr>
          <a:xfrm>
            <a:off x="502920" y="1234440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[1]</a:t>
            </a:r>
          </a:p>
        </p:txBody>
      </p:sp>
      <p:sp>
        <p:nvSpPr>
          <p:cNvPr id="51" name="t502920"/>
          <p:cNvSpPr txBox="1"/>
          <p:nvPr/>
        </p:nvSpPr>
        <p:spPr>
          <a:xfrm>
            <a:off x="502920" y="1517332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NIST Cybersecurity Framework (CSF) v2.0</a:t>
            </a:r>
          </a:p>
        </p:txBody>
      </p:sp>
      <p:sp>
        <p:nvSpPr>
          <p:cNvPr id="51" name="t502920"/>
          <p:cNvSpPr txBox="1"/>
          <p:nvPr/>
        </p:nvSpPr>
        <p:spPr>
          <a:xfrm>
            <a:off x="502920" y="1774507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National Institute of Standards and Technology. (2024). Cybersecurity Framework. https://www.nist.gov/cyberframework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2237422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2237422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2920"/>
          <p:cNvSpPr txBox="1"/>
          <p:nvPr/>
        </p:nvSpPr>
        <p:spPr>
          <a:xfrm>
            <a:off x="502920" y="2288857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[2]</a:t>
            </a:r>
          </a:p>
        </p:txBody>
      </p:sp>
      <p:sp>
        <p:nvSpPr>
          <p:cNvPr id="51" name="t502920"/>
          <p:cNvSpPr txBox="1"/>
          <p:nvPr/>
        </p:nvSpPr>
        <p:spPr>
          <a:xfrm>
            <a:off x="502920" y="2571749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ISO/IEC 27001:2022 — Information Security Management</a:t>
            </a:r>
          </a:p>
        </p:txBody>
      </p:sp>
      <p:sp>
        <p:nvSpPr>
          <p:cNvPr id="51" name="t502920"/>
          <p:cNvSpPr txBox="1"/>
          <p:nvPr/>
        </p:nvSpPr>
        <p:spPr>
          <a:xfrm>
            <a:off x="502920" y="2828924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International Organization for Standardization. Information security, cybersecurity and privacy protection.</a:t>
            </a:r>
          </a:p>
        </p:txBody>
      </p:sp>
      <p:sp>
        <p:nvSpPr>
          <p:cNvPr id="50" name="r365760"/>
          <p:cNvSpPr/>
          <p:nvPr/>
        </p:nvSpPr>
        <p:spPr>
          <a:xfrm>
            <a:off x="365760" y="3291839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365760"/>
          <p:cNvSpPr/>
          <p:nvPr/>
        </p:nvSpPr>
        <p:spPr>
          <a:xfrm>
            <a:off x="365760" y="3291839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2920"/>
          <p:cNvSpPr txBox="1"/>
          <p:nvPr/>
        </p:nvSpPr>
        <p:spPr>
          <a:xfrm>
            <a:off x="502920" y="3343274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[3]</a:t>
            </a:r>
          </a:p>
        </p:txBody>
      </p:sp>
      <p:sp>
        <p:nvSpPr>
          <p:cNvPr id="51" name="t502920"/>
          <p:cNvSpPr txBox="1"/>
          <p:nvPr/>
        </p:nvSpPr>
        <p:spPr>
          <a:xfrm>
            <a:off x="502920" y="3626166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OWASP Top 10 — Web Application Security Risks</a:t>
            </a:r>
          </a:p>
        </p:txBody>
      </p:sp>
      <p:sp>
        <p:nvSpPr>
          <p:cNvPr id="51" name="t502920"/>
          <p:cNvSpPr txBox="1"/>
          <p:nvPr/>
        </p:nvSpPr>
        <p:spPr>
          <a:xfrm>
            <a:off x="502920" y="3883341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Open Web Application Security Project. (2021). OWASP Top 10. https://owasp.org/www-project-top-ten/</a:t>
            </a:r>
          </a:p>
        </p:txBody>
      </p:sp>
      <p:sp>
        <p:nvSpPr>
          <p:cNvPr id="50" name="r4846320"/>
          <p:cNvSpPr/>
          <p:nvPr/>
        </p:nvSpPr>
        <p:spPr>
          <a:xfrm>
            <a:off x="4846320" y="1183005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846320"/>
          <p:cNvSpPr/>
          <p:nvPr/>
        </p:nvSpPr>
        <p:spPr>
          <a:xfrm>
            <a:off x="4846320" y="1183005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4983480"/>
          <p:cNvSpPr txBox="1"/>
          <p:nvPr/>
        </p:nvSpPr>
        <p:spPr>
          <a:xfrm>
            <a:off x="4983480" y="1234440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[4]</a:t>
            </a:r>
          </a:p>
        </p:txBody>
      </p:sp>
      <p:sp>
        <p:nvSpPr>
          <p:cNvPr id="51" name="t4983480"/>
          <p:cNvSpPr txBox="1"/>
          <p:nvPr/>
        </p:nvSpPr>
        <p:spPr>
          <a:xfrm>
            <a:off x="4983480" y="1517332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Cybersecurity for Small Businesses — FCC Guide</a:t>
            </a:r>
          </a:p>
        </p:txBody>
      </p:sp>
      <p:sp>
        <p:nvSpPr>
          <p:cNvPr id="51" name="t4983480"/>
          <p:cNvSpPr txBox="1"/>
          <p:nvPr/>
        </p:nvSpPr>
        <p:spPr>
          <a:xfrm>
            <a:off x="4983480" y="1774507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Federal Communications Commission. Cybersecurity Planning Guide for Small Businesses. https://www.fcc.gov/cyberplanner</a:t>
            </a:r>
          </a:p>
        </p:txBody>
      </p:sp>
      <p:sp>
        <p:nvSpPr>
          <p:cNvPr id="50" name="r4846320"/>
          <p:cNvSpPr/>
          <p:nvPr/>
        </p:nvSpPr>
        <p:spPr>
          <a:xfrm>
            <a:off x="4846320" y="2237422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846320"/>
          <p:cNvSpPr/>
          <p:nvPr/>
        </p:nvSpPr>
        <p:spPr>
          <a:xfrm>
            <a:off x="4846320" y="2237422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4983480"/>
          <p:cNvSpPr txBox="1"/>
          <p:nvPr/>
        </p:nvSpPr>
        <p:spPr>
          <a:xfrm>
            <a:off x="4983480" y="2288857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[5]</a:t>
            </a:r>
          </a:p>
        </p:txBody>
      </p:sp>
      <p:sp>
        <p:nvSpPr>
          <p:cNvPr id="51" name="t4983480"/>
          <p:cNvSpPr txBox="1"/>
          <p:nvPr/>
        </p:nvSpPr>
        <p:spPr>
          <a:xfrm>
            <a:off x="4983480" y="2571749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Verizon Data Breach Investigations Report (DBIR)</a:t>
            </a:r>
          </a:p>
        </p:txBody>
      </p:sp>
      <p:sp>
        <p:nvSpPr>
          <p:cNvPr id="51" name="t4983480"/>
          <p:cNvSpPr txBox="1"/>
          <p:nvPr/>
        </p:nvSpPr>
        <p:spPr>
          <a:xfrm>
            <a:off x="4983480" y="2828924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Verizon. (2023). Data Breach Investigations Report — SMB threat landscape analysis.</a:t>
            </a:r>
          </a:p>
        </p:txBody>
      </p:sp>
      <p:sp>
        <p:nvSpPr>
          <p:cNvPr id="50" name="r4846320"/>
          <p:cNvSpPr/>
          <p:nvPr/>
        </p:nvSpPr>
        <p:spPr>
          <a:xfrm>
            <a:off x="4846320" y="3291839"/>
            <a:ext cx="4160520" cy="951547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4846320"/>
          <p:cNvSpPr/>
          <p:nvPr/>
        </p:nvSpPr>
        <p:spPr>
          <a:xfrm>
            <a:off x="4846320" y="3291839"/>
            <a:ext cx="54864" cy="95154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4983480"/>
          <p:cNvSpPr txBox="1"/>
          <p:nvPr/>
        </p:nvSpPr>
        <p:spPr>
          <a:xfrm>
            <a:off x="4983480" y="3343274"/>
            <a:ext cx="54864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00D4FF"/>
                </a:solidFill>
                <a:latin typeface="Calibri" pitchFamily="34" charset="0"/>
              </a:rPr>
              <a:t>[6]</a:t>
            </a:r>
          </a:p>
        </p:txBody>
      </p:sp>
      <p:sp>
        <p:nvSpPr>
          <p:cNvPr id="51" name="t4983480"/>
          <p:cNvSpPr txBox="1"/>
          <p:nvPr/>
        </p:nvSpPr>
        <p:spPr>
          <a:xfrm>
            <a:off x="4983480" y="3626166"/>
            <a:ext cx="393192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</a:rPr>
              <a:t>Risk Assessment Methodology — ENISA</a:t>
            </a:r>
          </a:p>
        </p:txBody>
      </p:sp>
      <p:sp>
        <p:nvSpPr>
          <p:cNvPr id="51" name="t4983480"/>
          <p:cNvSpPr txBox="1"/>
          <p:nvPr/>
        </p:nvSpPr>
        <p:spPr>
          <a:xfrm>
            <a:off x="4983480" y="3883341"/>
            <a:ext cx="3931920" cy="3343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European Union Agency for Cybersecurity. (2023). ENISA Threat Landscape for Small and Medium Enterprises.</a:t>
            </a:r>
          </a:p>
        </p:txBody>
      </p:sp>
      <p:sp>
        <p:nvSpPr>
          <p:cNvPr id="51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/>
      <p:sp>
        <p:nvSpPr>
          <p:cNvPr id="50" name="r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621792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2" name="c7680960"/>
          <p:cNvSpPr/>
          <p:nvPr/>
        </p:nvSpPr>
        <p:spPr>
          <a:xfrm>
            <a:off x="6137910" y="771525"/>
            <a:ext cx="3086100" cy="3086100"/>
          </a:xfrm>
          <a:prstGeom prst="ellipse">
            <a:avLst/>
          </a:prstGeom>
          <a:solidFill>
            <a:srgbClr val="001F6E">
              <a:alpha val="70000"/>
            </a:srgbClr>
          </a:solidFill>
          <a:ln>
            <a:noFill/>
          </a:ln>
        </p:spPr>
      </p:sp>
      <p:sp>
        <p:nvSpPr>
          <p:cNvPr id="52" name="c7680960"/>
          <p:cNvSpPr/>
          <p:nvPr/>
        </p:nvSpPr>
        <p:spPr>
          <a:xfrm>
            <a:off x="6755130" y="1388745"/>
            <a:ext cx="1851660" cy="1851660"/>
          </a:xfrm>
          <a:prstGeom prst="ellipse">
            <a:avLst/>
          </a:prstGeom>
          <a:solidFill>
            <a:srgbClr val="003399">
              <a:alpha val="50000"/>
            </a:srgbClr>
          </a:solidFill>
          <a:ln>
            <a:noFill/>
          </a:ln>
        </p:spPr>
      </p:sp>
      <p:sp>
        <p:nvSpPr>
          <p:cNvPr id="52" name="c7680960"/>
          <p:cNvSpPr/>
          <p:nvPr/>
        </p:nvSpPr>
        <p:spPr>
          <a:xfrm>
            <a:off x="7269480" y="1903095"/>
            <a:ext cx="822960" cy="822960"/>
          </a:xfrm>
          <a:prstGeom prst="ellipse">
            <a:avLst/>
          </a:prstGeom>
          <a:solidFill>
            <a:srgbClr val="00D4FF">
              <a:alpha val="35000"/>
            </a:srgbClr>
          </a:solidFill>
          <a:ln>
            <a:noFill/>
          </a:ln>
        </p:spPr>
      </p:sp>
      <p:sp>
        <p:nvSpPr>
          <p:cNvPr id="51" name="t502920"/>
          <p:cNvSpPr txBox="1"/>
          <p:nvPr/>
        </p:nvSpPr>
        <p:spPr>
          <a:xfrm>
            <a:off x="502920" y="925830"/>
            <a:ext cx="5303520" cy="113157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500" b="1" spc="500" kern="0" dirty="0">
                <a:solidFill>
                  <a:srgbClr val="00D4FF"/>
                </a:solidFill>
                <a:latin typeface="Calibri Light" pitchFamily="34" charset="0"/>
              </a:rPr>
              <a:t>THANK YOU</a:t>
            </a:r>
          </a:p>
        </p:txBody>
      </p:sp>
      <p:sp>
        <p:nvSpPr>
          <p:cNvPr id="50" name="r502920"/>
          <p:cNvSpPr/>
          <p:nvPr/>
        </p:nvSpPr>
        <p:spPr>
          <a:xfrm>
            <a:off x="502920" y="2211705"/>
            <a:ext cx="3657600" cy="2571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02920"/>
          <p:cNvSpPr txBox="1"/>
          <p:nvPr/>
        </p:nvSpPr>
        <p:spPr>
          <a:xfrm>
            <a:off x="502920" y="2366010"/>
            <a:ext cx="530352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</a:rPr>
              <a:t>Presented by: Himanshu Soni</a:t>
            </a:r>
          </a:p>
        </p:txBody>
      </p:sp>
      <p:sp>
        <p:nvSpPr>
          <p:cNvPr id="51" name="t502920"/>
          <p:cNvSpPr txBox="1"/>
          <p:nvPr/>
        </p:nvSpPr>
        <p:spPr>
          <a:xfrm>
            <a:off x="502920" y="2777490"/>
            <a:ext cx="53035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Minor Project — I  ·  Naviotech Solution Pvt Ltd</a:t>
            </a:r>
          </a:p>
        </p:txBody>
      </p:sp>
      <p:sp>
        <p:nvSpPr>
          <p:cNvPr id="50" name="r502920"/>
          <p:cNvSpPr/>
          <p:nvPr/>
        </p:nvSpPr>
        <p:spPr>
          <a:xfrm>
            <a:off x="502920" y="3317557"/>
            <a:ext cx="5303520" cy="591502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0" name="r502920"/>
          <p:cNvSpPr/>
          <p:nvPr/>
        </p:nvSpPr>
        <p:spPr>
          <a:xfrm>
            <a:off x="502920" y="3317557"/>
            <a:ext cx="64008" cy="591502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685800"/>
          <p:cNvSpPr txBox="1"/>
          <p:nvPr/>
        </p:nvSpPr>
        <p:spPr>
          <a:xfrm>
            <a:off x="685800" y="3368992"/>
            <a:ext cx="4937760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kern="0" dirty="0">
                <a:solidFill>
                  <a:srgbClr val="FFFFFF"/>
                </a:solidFill>
                <a:latin typeface="Calibri" pitchFamily="34" charset="0"/>
              </a:rPr>
              <a:t>Cybersecurity Risk Assessment Framework</a:t>
            </a:r>
          </a:p>
        </p:txBody>
      </p:sp>
      <p:sp>
        <p:nvSpPr>
          <p:cNvPr id="51" name="t685800"/>
          <p:cNvSpPr txBox="1"/>
          <p:nvPr/>
        </p:nvSpPr>
        <p:spPr>
          <a:xfrm>
            <a:off x="685800" y="3626167"/>
            <a:ext cx="493776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for Small Businesses</a:t>
            </a:r>
          </a:p>
        </p:txBody>
      </p:sp>
      <p:sp>
        <p:nvSpPr>
          <p:cNvPr id="51" name="t502920"/>
          <p:cNvSpPr txBox="1"/>
          <p:nvPr/>
        </p:nvSpPr>
        <p:spPr>
          <a:xfrm>
            <a:off x="502920" y="4089082"/>
            <a:ext cx="53035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0" kern="0" dirty="0">
                <a:solidFill>
                  <a:srgbClr val="A0C4D8"/>
                </a:solidFill>
                <a:latin typeface="Calibri" pitchFamily="34" charset="0"/>
              </a:rPr>
              <a:t>Open for Questions &amp; Discussion</a:t>
            </a:r>
          </a:p>
        </p:txBody>
      </p:sp>
      <p:sp>
        <p:nvSpPr>
          <p:cNvPr id="51" name="t365760"/>
          <p:cNvSpPr txBox="1"/>
          <p:nvPr/>
        </p:nvSpPr>
        <p:spPr>
          <a:xfrm>
            <a:off x="365760" y="4603432"/>
            <a:ext cx="50292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 ·  Risk Management  ·  2025–2026</a:t>
            </a:r>
          </a:p>
        </p:txBody>
      </p:sp>
      <p:sp>
        <p:nvSpPr>
          <p:cNvPr id="51" name="t5486400"/>
          <p:cNvSpPr txBox="1"/>
          <p:nvPr/>
        </p:nvSpPr>
        <p:spPr>
          <a:xfrm>
            <a:off x="5486400" y="4603432"/>
            <a:ext cx="3200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  <a:latin typeface="Calibri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/>
      <p:sp>
        <p:nvSpPr>
          <p:cNvPr id="50" name="r0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0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0" name="r0452628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0452628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18288030861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334327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D4FF"/>
                </a:solidFill>
                <a:latin typeface="Calibri" pitchFamily="34" charset="0"/>
              </a:rPr>
              <a:t>NIST Cybersecurity Framework Architecture</a:t>
            </a:r>
          </a:p>
        </p:txBody>
      </p:sp>
      <p:sp>
        <p:nvSpPr>
          <p:cNvPr id="51" name="t457200951547"/>
          <p:cNvSpPr txBox="1"/>
          <p:nvPr/>
        </p:nvSpPr>
        <p:spPr>
          <a:xfrm>
            <a:off x="457200" y="951547"/>
            <a:ext cx="80467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Five core functions applied to SME cybersecurity risk management</a:t>
            </a:r>
          </a:p>
        </p:txBody>
      </p:sp>
      <p:sp>
        <p:nvSpPr>
          <p:cNvPr id="51" name="t3657604603432"/>
          <p:cNvSpPr txBox="1"/>
          <p:nvPr/>
        </p:nvSpPr>
        <p:spPr>
          <a:xfrm>
            <a:off x="365760" y="4603432"/>
            <a:ext cx="5486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  <p:sp>
        <p:nvSpPr>
          <p:cNvPr id="50" name="r4709161208722"/>
          <p:cNvSpPr/>
          <p:nvPr/>
        </p:nvSpPr>
        <p:spPr>
          <a:xfrm>
            <a:off x="470916" y="1208722"/>
            <a:ext cx="1508760" cy="2674620"/>
          </a:xfrm>
          <a:prstGeom prst="rect">
            <a:avLst/>
          </a:prstGeom>
          <a:solidFill>
            <a:srgbClr val="001F6E"/>
          </a:solidFill>
          <a:ln>
            <a:noFill/>
          </a:ln>
        </p:spPr>
      </p:sp>
      <p:sp>
        <p:nvSpPr>
          <p:cNvPr id="50" name="r4709161208722"/>
          <p:cNvSpPr/>
          <p:nvPr/>
        </p:nvSpPr>
        <p:spPr>
          <a:xfrm>
            <a:off x="470916" y="1208722"/>
            <a:ext cx="1508760" cy="231457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2" name="c12252961723071"/>
          <p:cNvSpPr/>
          <p:nvPr/>
        </p:nvSpPr>
        <p:spPr>
          <a:xfrm>
            <a:off x="1029843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51" name="t9966961568767"/>
          <p:cNvSpPr txBox="1"/>
          <p:nvPr/>
        </p:nvSpPr>
        <p:spPr>
          <a:xfrm>
            <a:off x="996696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00D4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1" name="t5166362005964"/>
          <p:cNvSpPr txBox="1"/>
          <p:nvPr/>
        </p:nvSpPr>
        <p:spPr>
          <a:xfrm>
            <a:off x="516636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</a:rPr>
              <a:t>IDENTIFY</a:t>
            </a:r>
          </a:p>
        </p:txBody>
      </p:sp>
      <p:sp>
        <p:nvSpPr>
          <p:cNvPr id="51" name="t5440682417444"/>
          <p:cNvSpPr txBox="1"/>
          <p:nvPr/>
        </p:nvSpPr>
        <p:spPr>
          <a:xfrm>
            <a:off x="544068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Asset Mgmt</a:t>
            </a:r>
          </a:p>
        </p:txBody>
      </p:sp>
      <p:sp>
        <p:nvSpPr>
          <p:cNvPr id="51" name="t5440682710623"/>
          <p:cNvSpPr txBox="1"/>
          <p:nvPr/>
        </p:nvSpPr>
        <p:spPr>
          <a:xfrm>
            <a:off x="544068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Business Env</a:t>
            </a:r>
          </a:p>
        </p:txBody>
      </p:sp>
      <p:sp>
        <p:nvSpPr>
          <p:cNvPr id="51" name="t5440683003802"/>
          <p:cNvSpPr txBox="1"/>
          <p:nvPr/>
        </p:nvSpPr>
        <p:spPr>
          <a:xfrm>
            <a:off x="544068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Governance</a:t>
            </a:r>
          </a:p>
        </p:txBody>
      </p:sp>
      <p:sp>
        <p:nvSpPr>
          <p:cNvPr id="51" name="t5440683296981"/>
          <p:cNvSpPr txBox="1"/>
          <p:nvPr/>
        </p:nvSpPr>
        <p:spPr>
          <a:xfrm>
            <a:off x="544068" y="3296981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Risk Assessment</a:t>
            </a:r>
          </a:p>
        </p:txBody>
      </p:sp>
      <p:sp>
        <p:nvSpPr>
          <p:cNvPr id="51" name="t5440683590160"/>
          <p:cNvSpPr txBox="1"/>
          <p:nvPr/>
        </p:nvSpPr>
        <p:spPr>
          <a:xfrm>
            <a:off x="544068" y="3590160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Supply Chain</a:t>
            </a:r>
          </a:p>
        </p:txBody>
      </p:sp>
      <p:cxnSp>
        <p:nvCxnSpPr>
          <p:cNvPr id="60" name="arr19961352546032"/>
          <p:cNvCxnSpPr/>
          <p:nvPr/>
        </p:nvCxnSpPr>
        <p:spPr>
          <a:xfrm>
            <a:off x="1996135" y="2546032"/>
            <a:ext cx="148133" cy="1"/>
          </a:xfrm>
          <a:prstGeom prst="straightConnector1">
            <a:avLst/>
          </a:prstGeom>
          <a:ln w="22860">
            <a:solidFill>
              <a:srgbClr val="00D4FF"/>
            </a:solidFill>
            <a:tailEnd type="triangle" w="med" len="med"/>
          </a:ln>
        </p:spPr>
      </p:cxnSp>
      <p:sp>
        <p:nvSpPr>
          <p:cNvPr id="50" name="r21442681208722"/>
          <p:cNvSpPr/>
          <p:nvPr/>
        </p:nvSpPr>
        <p:spPr>
          <a:xfrm>
            <a:off x="2144268" y="1208722"/>
            <a:ext cx="1508760" cy="2674620"/>
          </a:xfrm>
          <a:prstGeom prst="rect">
            <a:avLst/>
          </a:prstGeom>
          <a:solidFill>
            <a:srgbClr val="003080"/>
          </a:solidFill>
          <a:ln>
            <a:noFill/>
          </a:ln>
        </p:spPr>
      </p:sp>
      <p:sp>
        <p:nvSpPr>
          <p:cNvPr id="50" name="r21442681208722"/>
          <p:cNvSpPr/>
          <p:nvPr/>
        </p:nvSpPr>
        <p:spPr>
          <a:xfrm>
            <a:off x="2144268" y="1208722"/>
            <a:ext cx="1508760" cy="231457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52" name="c28986481723071"/>
          <p:cNvSpPr/>
          <p:nvPr/>
        </p:nvSpPr>
        <p:spPr>
          <a:xfrm>
            <a:off x="2703195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51" name="t26700481568767"/>
          <p:cNvSpPr txBox="1"/>
          <p:nvPr/>
        </p:nvSpPr>
        <p:spPr>
          <a:xfrm>
            <a:off x="2670048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4FC3F7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1" name="t21899882005964"/>
          <p:cNvSpPr txBox="1"/>
          <p:nvPr/>
        </p:nvSpPr>
        <p:spPr>
          <a:xfrm>
            <a:off x="2189988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</a:rPr>
              <a:t>PROTECT</a:t>
            </a:r>
          </a:p>
        </p:txBody>
      </p:sp>
      <p:sp>
        <p:nvSpPr>
          <p:cNvPr id="51" name="t22174202417444"/>
          <p:cNvSpPr txBox="1"/>
          <p:nvPr/>
        </p:nvSpPr>
        <p:spPr>
          <a:xfrm>
            <a:off x="2217420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Access Control</a:t>
            </a:r>
          </a:p>
        </p:txBody>
      </p:sp>
      <p:sp>
        <p:nvSpPr>
          <p:cNvPr id="51" name="t22174202710623"/>
          <p:cNvSpPr txBox="1"/>
          <p:nvPr/>
        </p:nvSpPr>
        <p:spPr>
          <a:xfrm>
            <a:off x="2217420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Awareness</a:t>
            </a:r>
          </a:p>
        </p:txBody>
      </p:sp>
      <p:sp>
        <p:nvSpPr>
          <p:cNvPr id="51" name="t22174203003802"/>
          <p:cNvSpPr txBox="1"/>
          <p:nvPr/>
        </p:nvSpPr>
        <p:spPr>
          <a:xfrm>
            <a:off x="2217420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Data Security</a:t>
            </a:r>
          </a:p>
        </p:txBody>
      </p:sp>
      <p:sp>
        <p:nvSpPr>
          <p:cNvPr id="51" name="t22174203296981"/>
          <p:cNvSpPr txBox="1"/>
          <p:nvPr/>
        </p:nvSpPr>
        <p:spPr>
          <a:xfrm>
            <a:off x="2217420" y="3296981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Maintenance</a:t>
            </a:r>
          </a:p>
        </p:txBody>
      </p:sp>
      <p:sp>
        <p:nvSpPr>
          <p:cNvPr id="51" name="t22174203590160"/>
          <p:cNvSpPr txBox="1"/>
          <p:nvPr/>
        </p:nvSpPr>
        <p:spPr>
          <a:xfrm>
            <a:off x="2217420" y="3590160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Protective Tech</a:t>
            </a:r>
          </a:p>
        </p:txBody>
      </p:sp>
      <p:cxnSp>
        <p:nvCxnSpPr>
          <p:cNvPr id="60" name="arr36694872546032"/>
          <p:cNvCxnSpPr/>
          <p:nvPr/>
        </p:nvCxnSpPr>
        <p:spPr>
          <a:xfrm>
            <a:off x="3669487" y="2546032"/>
            <a:ext cx="148133" cy="1"/>
          </a:xfrm>
          <a:prstGeom prst="straightConnector1">
            <a:avLst/>
          </a:prstGeom>
          <a:ln w="22860">
            <a:solidFill>
              <a:srgbClr val="4FC3F7"/>
            </a:solidFill>
            <a:tailEnd type="triangle" w="med" len="med"/>
          </a:ln>
        </p:spPr>
      </p:cxnSp>
      <p:sp>
        <p:nvSpPr>
          <p:cNvPr id="50" name="r38176201208722"/>
          <p:cNvSpPr/>
          <p:nvPr/>
        </p:nvSpPr>
        <p:spPr>
          <a:xfrm>
            <a:off x="3817620" y="1208722"/>
            <a:ext cx="1508760" cy="2674620"/>
          </a:xfrm>
          <a:prstGeom prst="rect">
            <a:avLst/>
          </a:prstGeom>
          <a:solidFill>
            <a:srgbClr val="004D99"/>
          </a:solidFill>
          <a:ln>
            <a:noFill/>
          </a:ln>
        </p:spPr>
      </p:sp>
      <p:sp>
        <p:nvSpPr>
          <p:cNvPr id="50" name="r38176201208722"/>
          <p:cNvSpPr/>
          <p:nvPr/>
        </p:nvSpPr>
        <p:spPr>
          <a:xfrm>
            <a:off x="3817620" y="1208722"/>
            <a:ext cx="1508760" cy="231457"/>
          </a:xfrm>
          <a:prstGeom prst="rect">
            <a:avLst/>
          </a:prstGeom>
          <a:solidFill>
            <a:srgbClr val="80DEEA"/>
          </a:solidFill>
          <a:ln>
            <a:noFill/>
          </a:ln>
        </p:spPr>
      </p:sp>
      <p:sp>
        <p:nvSpPr>
          <p:cNvPr id="52" name="c45720001723071"/>
          <p:cNvSpPr/>
          <p:nvPr/>
        </p:nvSpPr>
        <p:spPr>
          <a:xfrm>
            <a:off x="4376547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51" name="t43434001568767"/>
          <p:cNvSpPr txBox="1"/>
          <p:nvPr/>
        </p:nvSpPr>
        <p:spPr>
          <a:xfrm>
            <a:off x="4343400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80DEEA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1" name="t38633402005964"/>
          <p:cNvSpPr txBox="1"/>
          <p:nvPr/>
        </p:nvSpPr>
        <p:spPr>
          <a:xfrm>
            <a:off x="3863340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0DEEA"/>
                </a:solidFill>
                <a:latin typeface="Calibri" pitchFamily="34" charset="0"/>
              </a:rPr>
              <a:t>DETECT</a:t>
            </a:r>
          </a:p>
        </p:txBody>
      </p:sp>
      <p:sp>
        <p:nvSpPr>
          <p:cNvPr id="51" name="t38907722417444"/>
          <p:cNvSpPr txBox="1"/>
          <p:nvPr/>
        </p:nvSpPr>
        <p:spPr>
          <a:xfrm>
            <a:off x="3890772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Anomalies</a:t>
            </a:r>
          </a:p>
        </p:txBody>
      </p:sp>
      <p:sp>
        <p:nvSpPr>
          <p:cNvPr id="51" name="t38907722710623"/>
          <p:cNvSpPr txBox="1"/>
          <p:nvPr/>
        </p:nvSpPr>
        <p:spPr>
          <a:xfrm>
            <a:off x="3890772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Continuous Mon.</a:t>
            </a:r>
          </a:p>
        </p:txBody>
      </p:sp>
      <p:sp>
        <p:nvSpPr>
          <p:cNvPr id="51" name="t38907723003802"/>
          <p:cNvSpPr txBox="1"/>
          <p:nvPr/>
        </p:nvSpPr>
        <p:spPr>
          <a:xfrm>
            <a:off x="3890772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Detection Process</a:t>
            </a:r>
          </a:p>
        </p:txBody>
      </p:sp>
      <p:cxnSp>
        <p:nvCxnSpPr>
          <p:cNvPr id="60" name="arr53428392546032"/>
          <p:cNvCxnSpPr/>
          <p:nvPr/>
        </p:nvCxnSpPr>
        <p:spPr>
          <a:xfrm>
            <a:off x="5342839" y="2546032"/>
            <a:ext cx="148133" cy="1"/>
          </a:xfrm>
          <a:prstGeom prst="straightConnector1">
            <a:avLst/>
          </a:prstGeom>
          <a:ln w="22860">
            <a:solidFill>
              <a:srgbClr val="80DEEA"/>
            </a:solidFill>
            <a:tailEnd type="triangle" w="med" len="med"/>
          </a:ln>
        </p:spPr>
      </p:cxnSp>
      <p:sp>
        <p:nvSpPr>
          <p:cNvPr id="50" name="r54909721208722"/>
          <p:cNvSpPr/>
          <p:nvPr/>
        </p:nvSpPr>
        <p:spPr>
          <a:xfrm>
            <a:off x="5490972" y="1208722"/>
            <a:ext cx="1508760" cy="2674620"/>
          </a:xfrm>
          <a:prstGeom prst="rect">
            <a:avLst/>
          </a:prstGeom>
          <a:solidFill>
            <a:srgbClr val="006080"/>
          </a:solidFill>
          <a:ln>
            <a:noFill/>
          </a:ln>
        </p:spPr>
      </p:sp>
      <p:sp>
        <p:nvSpPr>
          <p:cNvPr id="50" name="r54909721208722"/>
          <p:cNvSpPr/>
          <p:nvPr/>
        </p:nvSpPr>
        <p:spPr>
          <a:xfrm>
            <a:off x="5490972" y="1208722"/>
            <a:ext cx="1508760" cy="231457"/>
          </a:xfrm>
          <a:prstGeom prst="rect">
            <a:avLst/>
          </a:prstGeom>
          <a:solidFill>
            <a:srgbClr val="80CBC4"/>
          </a:solidFill>
          <a:ln>
            <a:noFill/>
          </a:ln>
        </p:spPr>
      </p:sp>
      <p:sp>
        <p:nvSpPr>
          <p:cNvPr id="52" name="c62453521723071"/>
          <p:cNvSpPr/>
          <p:nvPr/>
        </p:nvSpPr>
        <p:spPr>
          <a:xfrm>
            <a:off x="6049899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51" name="t60167521568767"/>
          <p:cNvSpPr txBox="1"/>
          <p:nvPr/>
        </p:nvSpPr>
        <p:spPr>
          <a:xfrm>
            <a:off x="6016752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80CBC4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1" name="t55366922005964"/>
          <p:cNvSpPr txBox="1"/>
          <p:nvPr/>
        </p:nvSpPr>
        <p:spPr>
          <a:xfrm>
            <a:off x="5536692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0CBC4"/>
                </a:solidFill>
                <a:latin typeface="Calibri" pitchFamily="34" charset="0"/>
              </a:rPr>
              <a:t>RESPOND</a:t>
            </a:r>
          </a:p>
        </p:txBody>
      </p:sp>
      <p:sp>
        <p:nvSpPr>
          <p:cNvPr id="51" name="t55641242417444"/>
          <p:cNvSpPr txBox="1"/>
          <p:nvPr/>
        </p:nvSpPr>
        <p:spPr>
          <a:xfrm>
            <a:off x="5564124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Response Plan</a:t>
            </a:r>
          </a:p>
        </p:txBody>
      </p:sp>
      <p:sp>
        <p:nvSpPr>
          <p:cNvPr id="51" name="t55641242710623"/>
          <p:cNvSpPr txBox="1"/>
          <p:nvPr/>
        </p:nvSpPr>
        <p:spPr>
          <a:xfrm>
            <a:off x="5564124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Communications</a:t>
            </a:r>
          </a:p>
        </p:txBody>
      </p:sp>
      <p:sp>
        <p:nvSpPr>
          <p:cNvPr id="51" name="t55641243003802"/>
          <p:cNvSpPr txBox="1"/>
          <p:nvPr/>
        </p:nvSpPr>
        <p:spPr>
          <a:xfrm>
            <a:off x="5564124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Analysis</a:t>
            </a:r>
          </a:p>
        </p:txBody>
      </p:sp>
      <p:sp>
        <p:nvSpPr>
          <p:cNvPr id="51" name="t55641243296981"/>
          <p:cNvSpPr txBox="1"/>
          <p:nvPr/>
        </p:nvSpPr>
        <p:spPr>
          <a:xfrm>
            <a:off x="5564124" y="3296981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Mitigation</a:t>
            </a:r>
          </a:p>
        </p:txBody>
      </p:sp>
      <p:cxnSp>
        <p:nvCxnSpPr>
          <p:cNvPr id="60" name="arr70161912546032"/>
          <p:cNvCxnSpPr/>
          <p:nvPr/>
        </p:nvCxnSpPr>
        <p:spPr>
          <a:xfrm>
            <a:off x="7016191" y="2546032"/>
            <a:ext cx="148133" cy="1"/>
          </a:xfrm>
          <a:prstGeom prst="straightConnector1">
            <a:avLst/>
          </a:prstGeom>
          <a:ln w="22860">
            <a:solidFill>
              <a:srgbClr val="80CBC4"/>
            </a:solidFill>
            <a:tailEnd type="triangle" w="med" len="med"/>
          </a:ln>
        </p:spPr>
      </p:cxnSp>
      <p:sp>
        <p:nvSpPr>
          <p:cNvPr id="50" name="r71643241208722"/>
          <p:cNvSpPr/>
          <p:nvPr/>
        </p:nvSpPr>
        <p:spPr>
          <a:xfrm>
            <a:off x="7164324" y="1208722"/>
            <a:ext cx="1508760" cy="2674620"/>
          </a:xfrm>
          <a:prstGeom prst="rect">
            <a:avLst/>
          </a:prstGeom>
          <a:solidFill>
            <a:srgbClr val="00704A"/>
          </a:solidFill>
          <a:ln>
            <a:noFill/>
          </a:ln>
        </p:spPr>
      </p:sp>
      <p:sp>
        <p:nvSpPr>
          <p:cNvPr id="50" name="r71643241208722"/>
          <p:cNvSpPr/>
          <p:nvPr/>
        </p:nvSpPr>
        <p:spPr>
          <a:xfrm>
            <a:off x="7164324" y="1208722"/>
            <a:ext cx="1508760" cy="231457"/>
          </a:xfrm>
          <a:prstGeom prst="rect">
            <a:avLst/>
          </a:prstGeom>
          <a:solidFill>
            <a:srgbClr val="69F0AE"/>
          </a:solidFill>
          <a:ln>
            <a:noFill/>
          </a:ln>
        </p:spPr>
      </p:sp>
      <p:sp>
        <p:nvSpPr>
          <p:cNvPr id="52" name="c79187041723071"/>
          <p:cNvSpPr/>
          <p:nvPr/>
        </p:nvSpPr>
        <p:spPr>
          <a:xfrm>
            <a:off x="7723251" y="1527618"/>
            <a:ext cx="390906" cy="390906"/>
          </a:xfrm>
          <a:prstGeom prst="ellipse">
            <a:avLst/>
          </a:prstGeom>
          <a:solidFill>
            <a:srgbClr val="060E2B"/>
          </a:solidFill>
          <a:ln>
            <a:noFill/>
          </a:ln>
        </p:spPr>
      </p:sp>
      <p:sp>
        <p:nvSpPr>
          <p:cNvPr id="51" name="t76901041568767"/>
          <p:cNvSpPr txBox="1"/>
          <p:nvPr/>
        </p:nvSpPr>
        <p:spPr>
          <a:xfrm>
            <a:off x="7690104" y="1568767"/>
            <a:ext cx="457200" cy="36004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69F0AE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1" name="t72100442005964"/>
          <p:cNvSpPr txBox="1"/>
          <p:nvPr/>
        </p:nvSpPr>
        <p:spPr>
          <a:xfrm>
            <a:off x="7210044" y="2005964"/>
            <a:ext cx="14173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9F0AE"/>
                </a:solidFill>
                <a:latin typeface="Calibri" pitchFamily="34" charset="0"/>
              </a:rPr>
              <a:t>RECOVER</a:t>
            </a:r>
          </a:p>
        </p:txBody>
      </p:sp>
      <p:sp>
        <p:nvSpPr>
          <p:cNvPr id="51" name="t72374762417444"/>
          <p:cNvSpPr txBox="1"/>
          <p:nvPr/>
        </p:nvSpPr>
        <p:spPr>
          <a:xfrm>
            <a:off x="7237476" y="2417444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Recovery Plan</a:t>
            </a:r>
          </a:p>
        </p:txBody>
      </p:sp>
      <p:sp>
        <p:nvSpPr>
          <p:cNvPr id="51" name="t72374762710623"/>
          <p:cNvSpPr txBox="1"/>
          <p:nvPr/>
        </p:nvSpPr>
        <p:spPr>
          <a:xfrm>
            <a:off x="7237476" y="2710623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Improvements</a:t>
            </a:r>
          </a:p>
        </p:txBody>
      </p:sp>
      <p:sp>
        <p:nvSpPr>
          <p:cNvPr id="51" name="t72374763003802"/>
          <p:cNvSpPr txBox="1"/>
          <p:nvPr/>
        </p:nvSpPr>
        <p:spPr>
          <a:xfrm>
            <a:off x="7237476" y="3003802"/>
            <a:ext cx="1399032" cy="2828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80" b="0" kern="0" dirty="0">
                <a:solidFill>
                  <a:srgbClr val="C8D8E8"/>
                </a:solidFill>
                <a:latin typeface="Calibri" pitchFamily="34" charset="0"/>
              </a:rPr>
              <a:t>Communications</a:t>
            </a:r>
          </a:p>
        </p:txBody>
      </p:sp>
      <p:sp>
        <p:nvSpPr>
          <p:cNvPr id="50" name="r3657604114800"/>
          <p:cNvSpPr/>
          <p:nvPr/>
        </p:nvSpPr>
        <p:spPr>
          <a:xfrm>
            <a:off x="365760" y="4114800"/>
            <a:ext cx="8412480" cy="298323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3657604114800"/>
          <p:cNvSpPr/>
          <p:nvPr/>
        </p:nvSpPr>
        <p:spPr>
          <a:xfrm>
            <a:off x="365760" y="4114800"/>
            <a:ext cx="54864" cy="298323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486404125087"/>
          <p:cNvSpPr txBox="1"/>
          <p:nvPr/>
        </p:nvSpPr>
        <p:spPr>
          <a:xfrm>
            <a:off x="548640" y="4125087"/>
            <a:ext cx="8046720" cy="27774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Source: NIST Cybersecurity Framework v2.0  ·  Applied to SME threat identification, protection, and recovery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/>
      <p:sp>
        <p:nvSpPr>
          <p:cNvPr id="50" name="r0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0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0" name="r0452628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0452628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18288030861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334327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D4FF"/>
                </a:solidFill>
                <a:latin typeface="Calibri" pitchFamily="34" charset="0"/>
              </a:rPr>
              <a:t>Risk Assessment Process — Flowchart</a:t>
            </a:r>
          </a:p>
        </p:txBody>
      </p:sp>
      <p:sp>
        <p:nvSpPr>
          <p:cNvPr id="51" name="t457200951547"/>
          <p:cNvSpPr txBox="1"/>
          <p:nvPr/>
        </p:nvSpPr>
        <p:spPr>
          <a:xfrm>
            <a:off x="457200" y="951547"/>
            <a:ext cx="80467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Step-by-step framework for evaluating and managing SME cybersecurity risks</a:t>
            </a:r>
          </a:p>
        </p:txBody>
      </p:sp>
      <p:sp>
        <p:nvSpPr>
          <p:cNvPr id="51" name="t3657604603432"/>
          <p:cNvSpPr txBox="1"/>
          <p:nvPr/>
        </p:nvSpPr>
        <p:spPr>
          <a:xfrm>
            <a:off x="365760" y="4603432"/>
            <a:ext cx="5486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  <p:sp>
        <p:nvSpPr>
          <p:cNvPr id="52" name="c22860001350168"/>
          <p:cNvSpPr/>
          <p:nvPr/>
        </p:nvSpPr>
        <p:spPr>
          <a:xfrm>
            <a:off x="2041684" y="1105852"/>
            <a:ext cx="488632" cy="48863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6400801105852"/>
          <p:cNvSpPr txBox="1"/>
          <p:nvPr/>
        </p:nvSpPr>
        <p:spPr>
          <a:xfrm>
            <a:off x="640080" y="1105852"/>
            <a:ext cx="329184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kern="0" dirty="0">
                <a:solidFill>
                  <a:srgbClr val="060E2B"/>
                </a:solidFill>
                <a:latin typeface="Calibri" pitchFamily="34" charset="0"/>
              </a:rPr>
              <a:t>START</a:t>
            </a:r>
          </a:p>
        </p:txBody>
      </p:sp>
      <p:cxnSp>
        <p:nvCxnSpPr>
          <p:cNvPr id="60" name="arr22860001594484"/>
          <p:cNvCxnSpPr/>
          <p:nvPr/>
        </p:nvCxnSpPr>
        <p:spPr>
          <a:xfrm>
            <a:off x="2286000" y="1594484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50" name="r6400801697354"/>
          <p:cNvSpPr/>
          <p:nvPr/>
        </p:nvSpPr>
        <p:spPr>
          <a:xfrm>
            <a:off x="640080" y="1697354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1F6E"/>
          </a:solidFill>
          <a:ln>
            <a:noFill/>
          </a:ln>
        </p:spPr>
      </p:sp>
      <p:sp>
        <p:nvSpPr>
          <p:cNvPr id="51" name="t7315201697354"/>
          <p:cNvSpPr txBox="1"/>
          <p:nvPr/>
        </p:nvSpPr>
        <p:spPr>
          <a:xfrm>
            <a:off x="731520" y="1697354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00D4FF"/>
                </a:solidFill>
                <a:latin typeface="Calibri" pitchFamily="34" charset="0"/>
              </a:rPr>
              <a:t>1. Identify Assets &amp; Threats</a:t>
            </a:r>
          </a:p>
        </p:txBody>
      </p:sp>
      <p:cxnSp>
        <p:nvCxnSpPr>
          <p:cNvPr id="60" name="arr22860002185986"/>
          <p:cNvCxnSpPr/>
          <p:nvPr/>
        </p:nvCxnSpPr>
        <p:spPr>
          <a:xfrm>
            <a:off x="2286000" y="2185986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50" name="r6400802288856"/>
          <p:cNvSpPr/>
          <p:nvPr/>
        </p:nvSpPr>
        <p:spPr>
          <a:xfrm>
            <a:off x="640080" y="2288856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2D80"/>
          </a:solidFill>
          <a:ln>
            <a:noFill/>
          </a:ln>
        </p:spPr>
      </p:sp>
      <p:sp>
        <p:nvSpPr>
          <p:cNvPr id="51" name="t7315202288856"/>
          <p:cNvSpPr txBox="1"/>
          <p:nvPr/>
        </p:nvSpPr>
        <p:spPr>
          <a:xfrm>
            <a:off x="731520" y="2288856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4FC3F7"/>
                </a:solidFill>
                <a:latin typeface="Calibri" pitchFamily="34" charset="0"/>
              </a:rPr>
              <a:t>2. Assess Likelihood (1–5)</a:t>
            </a:r>
          </a:p>
        </p:txBody>
      </p:sp>
      <p:cxnSp>
        <p:nvCxnSpPr>
          <p:cNvPr id="60" name="arr22860002777488"/>
          <p:cNvCxnSpPr/>
          <p:nvPr/>
        </p:nvCxnSpPr>
        <p:spPr>
          <a:xfrm>
            <a:off x="2286000" y="2777488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50" name="r6400802880358"/>
          <p:cNvSpPr/>
          <p:nvPr/>
        </p:nvSpPr>
        <p:spPr>
          <a:xfrm>
            <a:off x="640080" y="2880358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3D99"/>
          </a:solidFill>
          <a:ln>
            <a:noFill/>
          </a:ln>
        </p:spPr>
      </p:sp>
      <p:sp>
        <p:nvSpPr>
          <p:cNvPr id="51" name="t7315202880358"/>
          <p:cNvSpPr txBox="1"/>
          <p:nvPr/>
        </p:nvSpPr>
        <p:spPr>
          <a:xfrm>
            <a:off x="731520" y="2880358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80DEEA"/>
                </a:solidFill>
                <a:latin typeface="Calibri" pitchFamily="34" charset="0"/>
              </a:rPr>
              <a:t>3. Assess Impact (1–5)</a:t>
            </a:r>
          </a:p>
        </p:txBody>
      </p:sp>
      <p:cxnSp>
        <p:nvCxnSpPr>
          <p:cNvPr id="60" name="arr22860003368990"/>
          <p:cNvCxnSpPr/>
          <p:nvPr/>
        </p:nvCxnSpPr>
        <p:spPr>
          <a:xfrm>
            <a:off x="2286000" y="3368990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50" name="r6400803471860"/>
          <p:cNvSpPr/>
          <p:nvPr/>
        </p:nvSpPr>
        <p:spPr>
          <a:xfrm>
            <a:off x="640080" y="3471860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4D80"/>
          </a:solidFill>
          <a:ln>
            <a:noFill/>
          </a:ln>
        </p:spPr>
      </p:sp>
      <p:sp>
        <p:nvSpPr>
          <p:cNvPr id="51" name="t7315203471860"/>
          <p:cNvSpPr txBox="1"/>
          <p:nvPr/>
        </p:nvSpPr>
        <p:spPr>
          <a:xfrm>
            <a:off x="731520" y="3471860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80CBC4"/>
                </a:solidFill>
                <a:latin typeface="Calibri" pitchFamily="34" charset="0"/>
              </a:rPr>
              <a:t>4. Calculate Risk Score
Likelihood × Impact</a:t>
            </a:r>
          </a:p>
        </p:txBody>
      </p:sp>
      <p:cxnSp>
        <p:nvCxnSpPr>
          <p:cNvPr id="60" name="arr39319203716176"/>
          <p:cNvCxnSpPr/>
          <p:nvPr/>
        </p:nvCxnSpPr>
        <p:spPr>
          <a:xfrm>
            <a:off x="3931920" y="3716176"/>
            <a:ext cx="1188720" cy="1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70" name="diamond"/>
          <p:cNvSpPr/>
          <p:nvPr/>
        </p:nvSpPr>
        <p:spPr>
          <a:xfrm>
            <a:off x="5120640" y="1105852"/>
            <a:ext cx="3291840" cy="488632"/>
          </a:xfrm>
          <a:prstGeom prst="diamond">
            <a:avLst/>
          </a:prstGeom>
          <a:solidFill>
            <a:srgbClr val="3D0000"/>
          </a:solidFill>
          <a:ln w="19050">
            <a:solidFill>
              <a:srgbClr val="FF6B6B"/>
            </a:solidFill>
          </a:ln>
        </p:spPr>
      </p:sp>
      <p:sp>
        <p:nvSpPr>
          <p:cNvPr id="51" name="t51206401105852"/>
          <p:cNvSpPr txBox="1"/>
          <p:nvPr/>
        </p:nvSpPr>
        <p:spPr>
          <a:xfrm>
            <a:off x="5120640" y="1105852"/>
            <a:ext cx="329184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kern="0" dirty="0">
                <a:solidFill>
                  <a:srgbClr val="FF6B6B"/>
                </a:solidFill>
                <a:latin typeface="Calibri" pitchFamily="34" charset="0"/>
              </a:rPr>
              <a:t>RISK ≥ 16?</a:t>
            </a:r>
          </a:p>
        </p:txBody>
      </p:sp>
      <p:sp>
        <p:nvSpPr>
          <p:cNvPr id="51" name="t65836801594484"/>
          <p:cNvSpPr txBox="1"/>
          <p:nvPr/>
        </p:nvSpPr>
        <p:spPr>
          <a:xfrm>
            <a:off x="6583680" y="1594484"/>
            <a:ext cx="365760" cy="15430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kern="0" dirty="0">
                <a:solidFill>
                  <a:srgbClr val="FF6B6B"/>
                </a:solidFill>
                <a:latin typeface="Calibri" pitchFamily="34" charset="0"/>
              </a:rPr>
              <a:t>YES</a:t>
            </a:r>
          </a:p>
        </p:txBody>
      </p:sp>
      <p:cxnSp>
        <p:nvCxnSpPr>
          <p:cNvPr id="60" name="arr67665601594484"/>
          <p:cNvCxnSpPr/>
          <p:nvPr/>
        </p:nvCxnSpPr>
        <p:spPr>
          <a:xfrm>
            <a:off x="6766560" y="1594484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50" name="r51206401697354"/>
          <p:cNvSpPr/>
          <p:nvPr/>
        </p:nvSpPr>
        <p:spPr>
          <a:xfrm>
            <a:off x="5120640" y="1697354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3D30"/>
          </a:solidFill>
          <a:ln>
            <a:noFill/>
          </a:ln>
        </p:spPr>
      </p:sp>
      <p:sp>
        <p:nvSpPr>
          <p:cNvPr id="51" name="t52120801697354"/>
          <p:cNvSpPr txBox="1"/>
          <p:nvPr/>
        </p:nvSpPr>
        <p:spPr>
          <a:xfrm>
            <a:off x="5212080" y="1697354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69F0AE"/>
                </a:solidFill>
                <a:latin typeface="Calibri" pitchFamily="34" charset="0"/>
              </a:rPr>
              <a:t>5. Prioritize
&amp; Mitigate</a:t>
            </a:r>
          </a:p>
        </p:txBody>
      </p:sp>
      <p:cxnSp>
        <p:nvCxnSpPr>
          <p:cNvPr id="60" name="arr67665602185986"/>
          <p:cNvCxnSpPr/>
          <p:nvPr/>
        </p:nvCxnSpPr>
        <p:spPr>
          <a:xfrm>
            <a:off x="6766560" y="2185986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50" name="r51206402288856"/>
          <p:cNvSpPr/>
          <p:nvPr/>
        </p:nvSpPr>
        <p:spPr>
          <a:xfrm>
            <a:off x="5120640" y="2288856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2D40"/>
          </a:solidFill>
          <a:ln>
            <a:noFill/>
          </a:ln>
        </p:spPr>
      </p:sp>
      <p:sp>
        <p:nvSpPr>
          <p:cNvPr id="51" name="t52120802288856"/>
          <p:cNvSpPr txBox="1"/>
          <p:nvPr/>
        </p:nvSpPr>
        <p:spPr>
          <a:xfrm>
            <a:off x="5212080" y="2288856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4FC3F7"/>
                </a:solidFill>
                <a:latin typeface="Calibri" pitchFamily="34" charset="0"/>
              </a:rPr>
              <a:t>6. Implement Controls</a:t>
            </a:r>
          </a:p>
        </p:txBody>
      </p:sp>
      <p:cxnSp>
        <p:nvCxnSpPr>
          <p:cNvPr id="60" name="arr67665602777488"/>
          <p:cNvCxnSpPr/>
          <p:nvPr/>
        </p:nvCxnSpPr>
        <p:spPr>
          <a:xfrm>
            <a:off x="6766560" y="2777488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50" name="r51206402880358"/>
          <p:cNvSpPr/>
          <p:nvPr/>
        </p:nvSpPr>
        <p:spPr>
          <a:xfrm>
            <a:off x="5120640" y="2880358"/>
            <a:ext cx="3291840" cy="488632"/>
          </a:xfrm>
          <a:prstGeom prst="roundRect">
            <a:avLst>
              <a:gd name="adj" fmla="val 8000"/>
            </a:avLst>
          </a:prstGeom>
          <a:solidFill>
            <a:srgbClr val="001F4D"/>
          </a:solidFill>
          <a:ln>
            <a:noFill/>
          </a:ln>
        </p:spPr>
      </p:sp>
      <p:sp>
        <p:nvSpPr>
          <p:cNvPr id="51" name="t52120802880358"/>
          <p:cNvSpPr txBox="1"/>
          <p:nvPr/>
        </p:nvSpPr>
        <p:spPr>
          <a:xfrm>
            <a:off x="5212080" y="2880358"/>
            <a:ext cx="320040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kern="0" dirty="0">
                <a:solidFill>
                  <a:srgbClr val="00D4FF"/>
                </a:solidFill>
                <a:latin typeface="Calibri" pitchFamily="34" charset="0"/>
              </a:rPr>
              <a:t>7. Monitor &amp; Review</a:t>
            </a:r>
          </a:p>
        </p:txBody>
      </p:sp>
      <p:cxnSp>
        <p:nvCxnSpPr>
          <p:cNvPr id="60" name="arr67665603368990"/>
          <p:cNvCxnSpPr/>
          <p:nvPr/>
        </p:nvCxnSpPr>
        <p:spPr>
          <a:xfrm>
            <a:off x="6766560" y="3368990"/>
            <a:ext cx="1" cy="102870"/>
          </a:xfrm>
          <a:prstGeom prst="straightConnector1">
            <a:avLst/>
          </a:prstGeom>
          <a:ln w="19050">
            <a:solidFill>
              <a:srgbClr val="00D4FF"/>
            </a:solidFill>
            <a:tailEnd type="triangle" w="med" len="med"/>
          </a:ln>
        </p:spPr>
      </p:cxnSp>
      <p:sp>
        <p:nvSpPr>
          <p:cNvPr id="52" name="c67665603716176"/>
          <p:cNvSpPr/>
          <p:nvPr/>
        </p:nvSpPr>
        <p:spPr>
          <a:xfrm>
            <a:off x="6522244" y="3471860"/>
            <a:ext cx="488632" cy="48863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1" name="t51206403471860"/>
          <p:cNvSpPr txBox="1"/>
          <p:nvPr/>
        </p:nvSpPr>
        <p:spPr>
          <a:xfrm>
            <a:off x="5120640" y="3471860"/>
            <a:ext cx="329184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kern="0" dirty="0">
                <a:solidFill>
                  <a:srgbClr val="060E2B"/>
                </a:solidFill>
                <a:latin typeface="Calibri" pitchFamily="34" charset="0"/>
              </a:rPr>
              <a:t>END</a:t>
            </a:r>
          </a:p>
        </p:txBody>
      </p:sp>
      <p:sp>
        <p:nvSpPr>
          <p:cNvPr id="51" name="t84582001105852"/>
          <p:cNvSpPr txBox="1"/>
          <p:nvPr/>
        </p:nvSpPr>
        <p:spPr>
          <a:xfrm>
            <a:off x="8458200" y="1105852"/>
            <a:ext cx="640080" cy="488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0" kern="0" dirty="0">
                <a:solidFill>
                  <a:srgbClr val="69F0AE"/>
                </a:solidFill>
                <a:latin typeface="Calibri" pitchFamily="34" charset="0"/>
              </a:rPr>
              <a:t>NO →
Loop back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/>
      <p:sp>
        <p:nvSpPr>
          <p:cNvPr id="50" name="r0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0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0" name="r0452628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0452628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18288030861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334327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D4FF"/>
                </a:solidFill>
                <a:latin typeface="Calibri" pitchFamily="34" charset="0"/>
              </a:rPr>
              <a:t>SME Threat Landscape — Network Architecture</a:t>
            </a:r>
          </a:p>
        </p:txBody>
      </p:sp>
      <p:sp>
        <p:nvSpPr>
          <p:cNvPr id="51" name="t457200951547"/>
          <p:cNvSpPr txBox="1"/>
          <p:nvPr/>
        </p:nvSpPr>
        <p:spPr>
          <a:xfrm>
            <a:off x="457200" y="951547"/>
            <a:ext cx="80467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How cyber threats enter and propagate through a typical small business network</a:t>
            </a:r>
          </a:p>
        </p:txBody>
      </p:sp>
      <p:sp>
        <p:nvSpPr>
          <p:cNvPr id="51" name="t3657604603432"/>
          <p:cNvSpPr txBox="1"/>
          <p:nvPr/>
        </p:nvSpPr>
        <p:spPr>
          <a:xfrm>
            <a:off x="365760" y="4603432"/>
            <a:ext cx="5486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  <p:sp>
        <p:nvSpPr>
          <p:cNvPr id="50" name="r2743201157287"/>
          <p:cNvSpPr/>
          <p:nvPr/>
        </p:nvSpPr>
        <p:spPr>
          <a:xfrm>
            <a:off x="274320" y="1157287"/>
            <a:ext cx="1600200" cy="2931794"/>
          </a:xfrm>
          <a:prstGeom prst="rect">
            <a:avLst/>
          </a:prstGeom>
          <a:solidFill>
            <a:srgbClr val="3D0000">
              <a:alpha val="90000"/>
            </a:srgbClr>
          </a:solidFill>
          <a:ln>
            <a:noFill/>
          </a:ln>
        </p:spPr>
      </p:sp>
      <p:sp>
        <p:nvSpPr>
          <p:cNvPr id="50" name="r2743201157287"/>
          <p:cNvSpPr/>
          <p:nvPr/>
        </p:nvSpPr>
        <p:spPr>
          <a:xfrm>
            <a:off x="274320" y="1157287"/>
            <a:ext cx="1600200" cy="246888"/>
          </a:xfrm>
          <a:prstGeom prst="rect">
            <a:avLst/>
          </a:prstGeom>
          <a:solidFill>
            <a:srgbClr val="FF1744">
              <a:alpha val="80000"/>
            </a:srgbClr>
          </a:solidFill>
          <a:ln>
            <a:noFill/>
          </a:ln>
        </p:spPr>
      </p:sp>
      <p:sp>
        <p:nvSpPr>
          <p:cNvPr id="51" name="t2743201157287"/>
          <p:cNvSpPr txBox="1"/>
          <p:nvPr/>
        </p:nvSpPr>
        <p:spPr>
          <a:xfrm>
            <a:off x="27432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0000"/>
                </a:solidFill>
                <a:latin typeface="Calibri" pitchFamily="34" charset="0"/>
              </a:rPr>
              <a:t>ATTACKER</a:t>
            </a:r>
          </a:p>
        </p:txBody>
      </p:sp>
      <p:sp>
        <p:nvSpPr>
          <p:cNvPr id="51" name="t2743201352740"/>
          <p:cNvSpPr txBox="1"/>
          <p:nvPr/>
        </p:nvSpPr>
        <p:spPr>
          <a:xfrm>
            <a:off x="274320" y="1352740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0000"/>
                </a:solidFill>
                <a:latin typeface="Calibri" pitchFamily="34" charset="0"/>
              </a:rPr>
              <a:t>ZONE</a:t>
            </a:r>
          </a:p>
        </p:txBody>
      </p:sp>
      <p:sp>
        <p:nvSpPr>
          <p:cNvPr id="50" name="r20116801157287"/>
          <p:cNvSpPr/>
          <p:nvPr/>
        </p:nvSpPr>
        <p:spPr>
          <a:xfrm>
            <a:off x="2011680" y="1157287"/>
            <a:ext cx="1600200" cy="2931794"/>
          </a:xfrm>
          <a:prstGeom prst="rect">
            <a:avLst/>
          </a:prstGeom>
          <a:solidFill>
            <a:srgbClr val="1A1A2E">
              <a:alpha val="90000"/>
            </a:srgbClr>
          </a:solidFill>
          <a:ln>
            <a:noFill/>
          </a:ln>
        </p:spPr>
      </p:sp>
      <p:sp>
        <p:nvSpPr>
          <p:cNvPr id="50" name="r20116801157287"/>
          <p:cNvSpPr/>
          <p:nvPr/>
        </p:nvSpPr>
        <p:spPr>
          <a:xfrm>
            <a:off x="2011680" y="1157287"/>
            <a:ext cx="1600200" cy="246888"/>
          </a:xfrm>
          <a:prstGeom prst="rect">
            <a:avLst/>
          </a:prstGeom>
          <a:solidFill>
            <a:srgbClr val="40C4FF">
              <a:alpha val="80000"/>
            </a:srgbClr>
          </a:solidFill>
          <a:ln>
            <a:noFill/>
          </a:ln>
        </p:spPr>
      </p:sp>
      <p:sp>
        <p:nvSpPr>
          <p:cNvPr id="51" name="t20116801157287"/>
          <p:cNvSpPr txBox="1"/>
          <p:nvPr/>
        </p:nvSpPr>
        <p:spPr>
          <a:xfrm>
            <a:off x="201168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0000"/>
                </a:solidFill>
                <a:latin typeface="Calibri" pitchFamily="34" charset="0"/>
              </a:rPr>
              <a:t>INTERNET</a:t>
            </a:r>
          </a:p>
        </p:txBody>
      </p:sp>
      <p:sp>
        <p:nvSpPr>
          <p:cNvPr id="50" name="r37490401157287"/>
          <p:cNvSpPr/>
          <p:nvPr/>
        </p:nvSpPr>
        <p:spPr>
          <a:xfrm>
            <a:off x="3749040" y="1157287"/>
            <a:ext cx="1600200" cy="2931794"/>
          </a:xfrm>
          <a:prstGeom prst="rect">
            <a:avLst/>
          </a:prstGeom>
          <a:solidFill>
            <a:srgbClr val="002D40">
              <a:alpha val="90000"/>
            </a:srgbClr>
          </a:solidFill>
          <a:ln>
            <a:noFill/>
          </a:ln>
        </p:spPr>
      </p:sp>
      <p:sp>
        <p:nvSpPr>
          <p:cNvPr id="50" name="r37490401157287"/>
          <p:cNvSpPr/>
          <p:nvPr/>
        </p:nvSpPr>
        <p:spPr>
          <a:xfrm>
            <a:off x="3749040" y="1157287"/>
            <a:ext cx="1600200" cy="246888"/>
          </a:xfrm>
          <a:prstGeom prst="rect">
            <a:avLst/>
          </a:prstGeom>
          <a:solidFill>
            <a:srgbClr val="00E5FF">
              <a:alpha val="80000"/>
            </a:srgbClr>
          </a:solidFill>
          <a:ln>
            <a:noFill/>
          </a:ln>
        </p:spPr>
      </p:sp>
      <p:sp>
        <p:nvSpPr>
          <p:cNvPr id="51" name="t37490401157287"/>
          <p:cNvSpPr txBox="1"/>
          <p:nvPr/>
        </p:nvSpPr>
        <p:spPr>
          <a:xfrm>
            <a:off x="374904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0000"/>
                </a:solidFill>
                <a:latin typeface="Calibri" pitchFamily="34" charset="0"/>
              </a:rPr>
              <a:t>FIREWALL /</a:t>
            </a:r>
          </a:p>
        </p:txBody>
      </p:sp>
      <p:sp>
        <p:nvSpPr>
          <p:cNvPr id="51" name="t37490401352740"/>
          <p:cNvSpPr txBox="1"/>
          <p:nvPr/>
        </p:nvSpPr>
        <p:spPr>
          <a:xfrm>
            <a:off x="3749040" y="1352740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0000"/>
                </a:solidFill>
                <a:latin typeface="Calibri" pitchFamily="34" charset="0"/>
              </a:rPr>
              <a:t>DMZ</a:t>
            </a:r>
          </a:p>
        </p:txBody>
      </p:sp>
      <p:sp>
        <p:nvSpPr>
          <p:cNvPr id="50" name="r54864001157287"/>
          <p:cNvSpPr/>
          <p:nvPr/>
        </p:nvSpPr>
        <p:spPr>
          <a:xfrm>
            <a:off x="5486400" y="1157287"/>
            <a:ext cx="1600200" cy="2931794"/>
          </a:xfrm>
          <a:prstGeom prst="rect">
            <a:avLst/>
          </a:prstGeom>
          <a:solidFill>
            <a:srgbClr val="001F4D">
              <a:alpha val="90000"/>
            </a:srgbClr>
          </a:solidFill>
          <a:ln>
            <a:noFill/>
          </a:ln>
        </p:spPr>
      </p:sp>
      <p:sp>
        <p:nvSpPr>
          <p:cNvPr id="50" name="r54864001157287"/>
          <p:cNvSpPr/>
          <p:nvPr/>
        </p:nvSpPr>
        <p:spPr>
          <a:xfrm>
            <a:off x="5486400" y="1157287"/>
            <a:ext cx="1600200" cy="246888"/>
          </a:xfrm>
          <a:prstGeom prst="rect">
            <a:avLst/>
          </a:prstGeom>
          <a:solidFill>
            <a:srgbClr val="448AFF">
              <a:alpha val="80000"/>
            </a:srgbClr>
          </a:solidFill>
          <a:ln>
            <a:noFill/>
          </a:ln>
        </p:spPr>
      </p:sp>
      <p:sp>
        <p:nvSpPr>
          <p:cNvPr id="51" name="t54864001157287"/>
          <p:cNvSpPr txBox="1"/>
          <p:nvPr/>
        </p:nvSpPr>
        <p:spPr>
          <a:xfrm>
            <a:off x="548640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0000"/>
                </a:solidFill>
                <a:latin typeface="Calibri" pitchFamily="34" charset="0"/>
              </a:rPr>
              <a:t>SME INTERNAL</a:t>
            </a:r>
          </a:p>
        </p:txBody>
      </p:sp>
      <p:sp>
        <p:nvSpPr>
          <p:cNvPr id="51" name="t54864001352740"/>
          <p:cNvSpPr txBox="1"/>
          <p:nvPr/>
        </p:nvSpPr>
        <p:spPr>
          <a:xfrm>
            <a:off x="5486400" y="1352740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0000"/>
                </a:solidFill>
                <a:latin typeface="Calibri" pitchFamily="34" charset="0"/>
              </a:rPr>
              <a:t>NETWORK</a:t>
            </a:r>
          </a:p>
        </p:txBody>
      </p:sp>
      <p:sp>
        <p:nvSpPr>
          <p:cNvPr id="50" name="r72237601157287"/>
          <p:cNvSpPr/>
          <p:nvPr/>
        </p:nvSpPr>
        <p:spPr>
          <a:xfrm>
            <a:off x="7223760" y="1157287"/>
            <a:ext cx="1600200" cy="2931794"/>
          </a:xfrm>
          <a:prstGeom prst="rect">
            <a:avLst/>
          </a:prstGeom>
          <a:solidFill>
            <a:srgbClr val="003D20">
              <a:alpha val="90000"/>
            </a:srgbClr>
          </a:solidFill>
          <a:ln>
            <a:noFill/>
          </a:ln>
        </p:spPr>
      </p:sp>
      <p:sp>
        <p:nvSpPr>
          <p:cNvPr id="50" name="r72237601157287"/>
          <p:cNvSpPr/>
          <p:nvPr/>
        </p:nvSpPr>
        <p:spPr>
          <a:xfrm>
            <a:off x="7223760" y="1157287"/>
            <a:ext cx="1600200" cy="246888"/>
          </a:xfrm>
          <a:prstGeom prst="rect">
            <a:avLst/>
          </a:prstGeom>
          <a:solidFill>
            <a:srgbClr val="69FF47">
              <a:alpha val="80000"/>
            </a:srgbClr>
          </a:solidFill>
          <a:ln>
            <a:noFill/>
          </a:ln>
        </p:spPr>
      </p:sp>
      <p:sp>
        <p:nvSpPr>
          <p:cNvPr id="51" name="t72237601157287"/>
          <p:cNvSpPr txBox="1"/>
          <p:nvPr/>
        </p:nvSpPr>
        <p:spPr>
          <a:xfrm>
            <a:off x="7223760" y="1157287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0000"/>
                </a:solidFill>
                <a:latin typeface="Calibri" pitchFamily="34" charset="0"/>
              </a:rPr>
              <a:t>ASSETS &amp;</a:t>
            </a:r>
          </a:p>
        </p:txBody>
      </p:sp>
      <p:sp>
        <p:nvSpPr>
          <p:cNvPr id="51" name="t72237601352740"/>
          <p:cNvSpPr txBox="1"/>
          <p:nvPr/>
        </p:nvSpPr>
        <p:spPr>
          <a:xfrm>
            <a:off x="7223760" y="1352740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0000"/>
                </a:solidFill>
                <a:latin typeface="Calibri" pitchFamily="34" charset="0"/>
              </a:rPr>
              <a:t>DATA</a:t>
            </a:r>
          </a:p>
        </p:txBody>
      </p:sp>
      <p:sp>
        <p:nvSpPr>
          <p:cNvPr id="52" name="c9144001825942"/>
          <p:cNvSpPr/>
          <p:nvPr/>
        </p:nvSpPr>
        <p:spPr>
          <a:xfrm>
            <a:off x="48006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</p:spPr>
      </p:sp>
      <p:sp>
        <p:nvSpPr>
          <p:cNvPr id="51" name="t3200401620202"/>
          <p:cNvSpPr txBox="1"/>
          <p:nvPr/>
        </p:nvSpPr>
        <p:spPr>
          <a:xfrm>
            <a:off x="480060" y="1776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Hacker</a:t>
            </a:r>
          </a:p>
        </p:txBody>
      </p:sp>
      <p:sp>
        <p:nvSpPr>
          <p:cNvPr id="52" name="c9144002623184"/>
          <p:cNvSpPr/>
          <p:nvPr/>
        </p:nvSpPr>
        <p:spPr>
          <a:xfrm>
            <a:off x="48006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</p:spPr>
      </p:sp>
      <p:sp>
        <p:nvSpPr>
          <p:cNvPr id="51" name="t3200402417444"/>
          <p:cNvSpPr txBox="1"/>
          <p:nvPr/>
        </p:nvSpPr>
        <p:spPr>
          <a:xfrm>
            <a:off x="480060" y="247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Phishing</a:t>
            </a:r>
          </a:p>
        </p:txBody>
      </p:sp>
      <p:sp>
        <p:nvSpPr>
          <p:cNvPr id="51" name="t3200402582036"/>
          <p:cNvSpPr txBox="1"/>
          <p:nvPr/>
        </p:nvSpPr>
        <p:spPr>
          <a:xfrm>
            <a:off x="480060" y="267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Email</a:t>
            </a:r>
          </a:p>
        </p:txBody>
      </p:sp>
      <p:sp>
        <p:nvSpPr>
          <p:cNvPr id="52" name="c9144003420426"/>
          <p:cNvSpPr/>
          <p:nvPr/>
        </p:nvSpPr>
        <p:spPr>
          <a:xfrm>
            <a:off x="48006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</p:spPr>
      </p:sp>
      <p:sp>
        <p:nvSpPr>
          <p:cNvPr id="51" name="t3200403214686"/>
          <p:cNvSpPr txBox="1"/>
          <p:nvPr/>
        </p:nvSpPr>
        <p:spPr>
          <a:xfrm>
            <a:off x="480060" y="327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Ransomware</a:t>
            </a:r>
          </a:p>
        </p:txBody>
      </p:sp>
      <p:sp>
        <p:nvSpPr>
          <p:cNvPr id="51" name="t3200403379278"/>
          <p:cNvSpPr txBox="1"/>
          <p:nvPr/>
        </p:nvSpPr>
        <p:spPr>
          <a:xfrm>
            <a:off x="480060" y="347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FF9999"/>
                </a:solidFill>
                <a:latin typeface="Calibri" pitchFamily="34" charset="0"/>
              </a:rPr>
              <a:t>Group</a:t>
            </a:r>
          </a:p>
        </p:txBody>
      </p:sp>
      <p:sp>
        <p:nvSpPr>
          <p:cNvPr id="52" name="c26517601825942"/>
          <p:cNvSpPr/>
          <p:nvPr/>
        </p:nvSpPr>
        <p:spPr>
          <a:xfrm>
            <a:off x="221742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</p:sp>
      <p:sp>
        <p:nvSpPr>
          <p:cNvPr id="51" name="t20574001620202"/>
          <p:cNvSpPr txBox="1"/>
          <p:nvPr/>
        </p:nvSpPr>
        <p:spPr>
          <a:xfrm>
            <a:off x="2217420" y="168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Malicious</a:t>
            </a:r>
          </a:p>
        </p:txBody>
      </p:sp>
      <p:sp>
        <p:nvSpPr>
          <p:cNvPr id="51" name="t20574001784794"/>
          <p:cNvSpPr txBox="1"/>
          <p:nvPr/>
        </p:nvSpPr>
        <p:spPr>
          <a:xfrm>
            <a:off x="2217420" y="188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URL</a:t>
            </a:r>
          </a:p>
        </p:txBody>
      </p:sp>
      <p:sp>
        <p:nvSpPr>
          <p:cNvPr id="52" name="c26517602623184"/>
          <p:cNvSpPr/>
          <p:nvPr/>
        </p:nvSpPr>
        <p:spPr>
          <a:xfrm>
            <a:off x="221742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</p:sp>
      <p:sp>
        <p:nvSpPr>
          <p:cNvPr id="51" name="t20574002417444"/>
          <p:cNvSpPr txBox="1"/>
          <p:nvPr/>
        </p:nvSpPr>
        <p:spPr>
          <a:xfrm>
            <a:off x="2217420" y="247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Spoofed</a:t>
            </a:r>
          </a:p>
        </p:txBody>
      </p:sp>
      <p:sp>
        <p:nvSpPr>
          <p:cNvPr id="51" name="t20574002582036"/>
          <p:cNvSpPr txBox="1"/>
          <p:nvPr/>
        </p:nvSpPr>
        <p:spPr>
          <a:xfrm>
            <a:off x="2217420" y="267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Domain</a:t>
            </a:r>
          </a:p>
        </p:txBody>
      </p:sp>
      <p:sp>
        <p:nvSpPr>
          <p:cNvPr id="52" name="c26517603420426"/>
          <p:cNvSpPr/>
          <p:nvPr/>
        </p:nvSpPr>
        <p:spPr>
          <a:xfrm>
            <a:off x="221742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</p:sp>
      <p:sp>
        <p:nvSpPr>
          <p:cNvPr id="51" name="t20574003214686"/>
          <p:cNvSpPr txBox="1"/>
          <p:nvPr/>
        </p:nvSpPr>
        <p:spPr>
          <a:xfrm>
            <a:off x="2217420" y="327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Social</a:t>
            </a:r>
          </a:p>
        </p:txBody>
      </p:sp>
      <p:sp>
        <p:nvSpPr>
          <p:cNvPr id="51" name="t20574003379278"/>
          <p:cNvSpPr txBox="1"/>
          <p:nvPr/>
        </p:nvSpPr>
        <p:spPr>
          <a:xfrm>
            <a:off x="2217420" y="347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7EC8E3"/>
                </a:solidFill>
                <a:latin typeface="Calibri" pitchFamily="34" charset="0"/>
              </a:rPr>
              <a:t>Engineering</a:t>
            </a:r>
          </a:p>
        </p:txBody>
      </p:sp>
      <p:sp>
        <p:nvSpPr>
          <p:cNvPr id="50" name="r38862001671637"/>
          <p:cNvSpPr/>
          <p:nvPr/>
        </p:nvSpPr>
        <p:spPr>
          <a:xfrm>
            <a:off x="388620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60"/>
          </a:solidFill>
          <a:ln>
            <a:noFill/>
          </a:ln>
        </p:spPr>
      </p:sp>
      <p:sp>
        <p:nvSpPr>
          <p:cNvPr id="51" name="t38862001671637"/>
          <p:cNvSpPr txBox="1"/>
          <p:nvPr/>
        </p:nvSpPr>
        <p:spPr>
          <a:xfrm>
            <a:off x="3886200" y="167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IDS/IPS</a:t>
            </a:r>
          </a:p>
        </p:txBody>
      </p:sp>
      <p:sp>
        <p:nvSpPr>
          <p:cNvPr id="50" name="r38862002468879"/>
          <p:cNvSpPr/>
          <p:nvPr/>
        </p:nvSpPr>
        <p:spPr>
          <a:xfrm>
            <a:off x="388620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60"/>
          </a:solidFill>
          <a:ln>
            <a:noFill/>
          </a:ln>
        </p:spPr>
      </p:sp>
      <p:sp>
        <p:nvSpPr>
          <p:cNvPr id="51" name="t38862002468879"/>
          <p:cNvSpPr txBox="1"/>
          <p:nvPr/>
        </p:nvSpPr>
        <p:spPr>
          <a:xfrm>
            <a:off x="3886200" y="246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Email</a:t>
            </a:r>
          </a:p>
        </p:txBody>
      </p:sp>
      <p:sp>
        <p:nvSpPr>
          <p:cNvPr id="51" name="t38862002633471"/>
          <p:cNvSpPr txBox="1"/>
          <p:nvPr/>
        </p:nvSpPr>
        <p:spPr>
          <a:xfrm>
            <a:off x="3886200" y="263347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Filter</a:t>
            </a:r>
          </a:p>
        </p:txBody>
      </p:sp>
      <p:sp>
        <p:nvSpPr>
          <p:cNvPr id="50" name="r38862003266121"/>
          <p:cNvSpPr/>
          <p:nvPr/>
        </p:nvSpPr>
        <p:spPr>
          <a:xfrm>
            <a:off x="388620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60"/>
          </a:solidFill>
          <a:ln>
            <a:noFill/>
          </a:ln>
        </p:spPr>
      </p:sp>
      <p:sp>
        <p:nvSpPr>
          <p:cNvPr id="51" name="t38862003266121"/>
          <p:cNvSpPr txBox="1"/>
          <p:nvPr/>
        </p:nvSpPr>
        <p:spPr>
          <a:xfrm>
            <a:off x="3886200" y="326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VPN</a:t>
            </a:r>
          </a:p>
        </p:txBody>
      </p:sp>
      <p:sp>
        <p:nvSpPr>
          <p:cNvPr id="51" name="t38862003430713"/>
          <p:cNvSpPr txBox="1"/>
          <p:nvPr/>
        </p:nvSpPr>
        <p:spPr>
          <a:xfrm>
            <a:off x="3886200" y="3430713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00D4FF"/>
                </a:solidFill>
                <a:latin typeface="Calibri" pitchFamily="34" charset="0"/>
              </a:rPr>
              <a:t>Gateway</a:t>
            </a:r>
          </a:p>
        </p:txBody>
      </p:sp>
      <p:sp>
        <p:nvSpPr>
          <p:cNvPr id="50" name="r56235601671637"/>
          <p:cNvSpPr/>
          <p:nvPr/>
        </p:nvSpPr>
        <p:spPr>
          <a:xfrm>
            <a:off x="562356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2D60"/>
          </a:solidFill>
          <a:ln>
            <a:noFill/>
          </a:ln>
        </p:spPr>
      </p:sp>
      <p:sp>
        <p:nvSpPr>
          <p:cNvPr id="51" name="t56235601671637"/>
          <p:cNvSpPr txBox="1"/>
          <p:nvPr/>
        </p:nvSpPr>
        <p:spPr>
          <a:xfrm>
            <a:off x="5623560" y="167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Employee</a:t>
            </a:r>
          </a:p>
        </p:txBody>
      </p:sp>
      <p:sp>
        <p:nvSpPr>
          <p:cNvPr id="51" name="t56235601836229"/>
          <p:cNvSpPr txBox="1"/>
          <p:nvPr/>
        </p:nvSpPr>
        <p:spPr>
          <a:xfrm>
            <a:off x="5623560" y="183622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Workstations</a:t>
            </a:r>
          </a:p>
        </p:txBody>
      </p:sp>
      <p:sp>
        <p:nvSpPr>
          <p:cNvPr id="50" name="r56235602468879"/>
          <p:cNvSpPr/>
          <p:nvPr/>
        </p:nvSpPr>
        <p:spPr>
          <a:xfrm>
            <a:off x="562356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2D60"/>
          </a:solidFill>
          <a:ln>
            <a:noFill/>
          </a:ln>
        </p:spPr>
      </p:sp>
      <p:sp>
        <p:nvSpPr>
          <p:cNvPr id="51" name="t56235602468879"/>
          <p:cNvSpPr txBox="1"/>
          <p:nvPr/>
        </p:nvSpPr>
        <p:spPr>
          <a:xfrm>
            <a:off x="5623560" y="246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File</a:t>
            </a:r>
          </a:p>
        </p:txBody>
      </p:sp>
      <p:sp>
        <p:nvSpPr>
          <p:cNvPr id="51" name="t56235602633471"/>
          <p:cNvSpPr txBox="1"/>
          <p:nvPr/>
        </p:nvSpPr>
        <p:spPr>
          <a:xfrm>
            <a:off x="5623560" y="263347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Servers</a:t>
            </a:r>
          </a:p>
        </p:txBody>
      </p:sp>
      <p:sp>
        <p:nvSpPr>
          <p:cNvPr id="50" name="r56235603266121"/>
          <p:cNvSpPr/>
          <p:nvPr/>
        </p:nvSpPr>
        <p:spPr>
          <a:xfrm>
            <a:off x="562356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2D60"/>
          </a:solidFill>
          <a:ln>
            <a:noFill/>
          </a:ln>
        </p:spPr>
      </p:sp>
      <p:sp>
        <p:nvSpPr>
          <p:cNvPr id="51" name="t56235603266121"/>
          <p:cNvSpPr txBox="1"/>
          <p:nvPr/>
        </p:nvSpPr>
        <p:spPr>
          <a:xfrm>
            <a:off x="5623560" y="326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Business</a:t>
            </a:r>
          </a:p>
        </p:txBody>
      </p:sp>
      <p:sp>
        <p:nvSpPr>
          <p:cNvPr id="51" name="t56235603430713"/>
          <p:cNvSpPr txBox="1"/>
          <p:nvPr/>
        </p:nvSpPr>
        <p:spPr>
          <a:xfrm>
            <a:off x="5623560" y="3430713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80DEEA"/>
                </a:solidFill>
                <a:latin typeface="Calibri" pitchFamily="34" charset="0"/>
              </a:rPr>
              <a:t>Applications</a:t>
            </a:r>
          </a:p>
        </p:txBody>
      </p:sp>
      <p:sp>
        <p:nvSpPr>
          <p:cNvPr id="50" name="r73609201671637"/>
          <p:cNvSpPr/>
          <p:nvPr/>
        </p:nvSpPr>
        <p:spPr>
          <a:xfrm>
            <a:off x="7360920" y="1671637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28"/>
          </a:solidFill>
          <a:ln>
            <a:noFill/>
          </a:ln>
        </p:spPr>
      </p:sp>
      <p:sp>
        <p:nvSpPr>
          <p:cNvPr id="51" name="t73609201671637"/>
          <p:cNvSpPr txBox="1"/>
          <p:nvPr/>
        </p:nvSpPr>
        <p:spPr>
          <a:xfrm>
            <a:off x="7360920" y="1671637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Customer</a:t>
            </a:r>
          </a:p>
        </p:txBody>
      </p:sp>
      <p:sp>
        <p:nvSpPr>
          <p:cNvPr id="51" name="t73609201836229"/>
          <p:cNvSpPr txBox="1"/>
          <p:nvPr/>
        </p:nvSpPr>
        <p:spPr>
          <a:xfrm>
            <a:off x="7360920" y="183622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Data</a:t>
            </a:r>
          </a:p>
        </p:txBody>
      </p:sp>
      <p:sp>
        <p:nvSpPr>
          <p:cNvPr id="50" name="r73609202468879"/>
          <p:cNvSpPr/>
          <p:nvPr/>
        </p:nvSpPr>
        <p:spPr>
          <a:xfrm>
            <a:off x="7360920" y="2468879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28"/>
          </a:solidFill>
          <a:ln>
            <a:noFill/>
          </a:ln>
        </p:spPr>
      </p:sp>
      <p:sp>
        <p:nvSpPr>
          <p:cNvPr id="51" name="t73609202468879"/>
          <p:cNvSpPr txBox="1"/>
          <p:nvPr/>
        </p:nvSpPr>
        <p:spPr>
          <a:xfrm>
            <a:off x="7360920" y="2468879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Financial</a:t>
            </a:r>
          </a:p>
        </p:txBody>
      </p:sp>
      <p:sp>
        <p:nvSpPr>
          <p:cNvPr id="51" name="t73609202633471"/>
          <p:cNvSpPr txBox="1"/>
          <p:nvPr/>
        </p:nvSpPr>
        <p:spPr>
          <a:xfrm>
            <a:off x="7360920" y="263347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Records</a:t>
            </a:r>
          </a:p>
        </p:txBody>
      </p:sp>
      <p:sp>
        <p:nvSpPr>
          <p:cNvPr id="50" name="r73609203266121"/>
          <p:cNvSpPr/>
          <p:nvPr/>
        </p:nvSpPr>
        <p:spPr>
          <a:xfrm>
            <a:off x="7360920" y="3266121"/>
            <a:ext cx="1188720" cy="420000"/>
          </a:xfrm>
          <a:prstGeom prst="roundRect">
            <a:avLst>
              <a:gd name="adj" fmla="val 8000"/>
            </a:avLst>
          </a:prstGeom>
          <a:solidFill>
            <a:srgbClr val="003D28"/>
          </a:solidFill>
          <a:ln>
            <a:noFill/>
          </a:ln>
        </p:spPr>
      </p:sp>
      <p:sp>
        <p:nvSpPr>
          <p:cNvPr id="51" name="t73609203266121"/>
          <p:cNvSpPr txBox="1"/>
          <p:nvPr/>
        </p:nvSpPr>
        <p:spPr>
          <a:xfrm>
            <a:off x="7360920" y="3266121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IP &amp;</a:t>
            </a:r>
          </a:p>
        </p:txBody>
      </p:sp>
      <p:sp>
        <p:nvSpPr>
          <p:cNvPr id="51" name="t73609203430713"/>
          <p:cNvSpPr txBox="1"/>
          <p:nvPr/>
        </p:nvSpPr>
        <p:spPr>
          <a:xfrm>
            <a:off x="7360920" y="3430713"/>
            <a:ext cx="1188720" cy="2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0" kern="0" dirty="0">
                <a:solidFill>
                  <a:srgbClr val="69F0AE"/>
                </a:solidFill>
                <a:latin typeface="Calibri" pitchFamily="34" charset="0"/>
              </a:rPr>
              <a:t>Credentials</a:t>
            </a:r>
          </a:p>
        </p:txBody>
      </p:sp>
      <p:cxnSp>
        <p:nvCxnSpPr>
          <p:cNvPr id="60" name="arr18928082623184"/>
          <p:cNvCxnSpPr/>
          <p:nvPr/>
        </p:nvCxnSpPr>
        <p:spPr>
          <a:xfrm>
            <a:off x="1892808" y="2623184"/>
            <a:ext cx="100584" cy="1"/>
          </a:xfrm>
          <a:prstGeom prst="straightConnector1">
            <a:avLst/>
          </a:prstGeom>
          <a:ln w="22860">
            <a:solidFill>
              <a:srgbClr val="FF6B6B"/>
            </a:solidFill>
            <a:tailEnd type="triangle" w="med" len="med"/>
          </a:ln>
        </p:spPr>
      </p:cxnSp>
      <p:cxnSp>
        <p:nvCxnSpPr>
          <p:cNvPr id="60" name="arr36301682623184"/>
          <p:cNvCxnSpPr/>
          <p:nvPr/>
        </p:nvCxnSpPr>
        <p:spPr>
          <a:xfrm>
            <a:off x="3630168" y="2623184"/>
            <a:ext cx="100584" cy="1"/>
          </a:xfrm>
          <a:prstGeom prst="straightConnector1">
            <a:avLst/>
          </a:prstGeom>
          <a:ln w="22860">
            <a:solidFill>
              <a:srgbClr val="FF6B6B"/>
            </a:solidFill>
            <a:tailEnd type="triangle" w="med" len="med"/>
          </a:ln>
        </p:spPr>
      </p:cxnSp>
      <p:cxnSp>
        <p:nvCxnSpPr>
          <p:cNvPr id="60" name="arr53675282623184"/>
          <p:cNvCxnSpPr/>
          <p:nvPr/>
        </p:nvCxnSpPr>
        <p:spPr>
          <a:xfrm>
            <a:off x="5367528" y="2623184"/>
            <a:ext cx="100584" cy="1"/>
          </a:xfrm>
          <a:prstGeom prst="straightConnector1">
            <a:avLst/>
          </a:prstGeom>
          <a:ln w="22860">
            <a:solidFill>
              <a:srgbClr val="FF6B6B"/>
            </a:solidFill>
            <a:tailEnd type="triangle" w="med" len="med"/>
          </a:ln>
        </p:spPr>
      </p:cxnSp>
      <p:cxnSp>
        <p:nvCxnSpPr>
          <p:cNvPr id="60" name="arr71048882623184"/>
          <p:cNvCxnSpPr/>
          <p:nvPr/>
        </p:nvCxnSpPr>
        <p:spPr>
          <a:xfrm>
            <a:off x="7104888" y="2623184"/>
            <a:ext cx="100584" cy="1"/>
          </a:xfrm>
          <a:prstGeom prst="straightConnector1">
            <a:avLst/>
          </a:prstGeom>
          <a:ln w="22860">
            <a:solidFill>
              <a:srgbClr val="FF6B6B"/>
            </a:solidFill>
            <a:tailEnd type="triangl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B"/>
        </a:solidFill>
      </p:bgPr>
    </p:bg>
    <p:spTree>
      <p:nvGrpSpPr>
        <p:cNvPr id="1" name=""/>
        <p:cNvGrpSpPr/>
        <p:nvPr/>
      </p:nvGrpSpPr>
      <p:grpSpPr/>
      <p:sp>
        <p:nvSpPr>
          <p:cNvPr id="50" name="r0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0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</p:sp>
      <p:sp>
        <p:nvSpPr>
          <p:cNvPr id="50" name="r0452628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1040"/>
          </a:solidFill>
          <a:ln>
            <a:noFill/>
          </a:ln>
        </p:spPr>
      </p:sp>
      <p:sp>
        <p:nvSpPr>
          <p:cNvPr id="50" name="r04526280"/>
          <p:cNvSpPr/>
          <p:nvPr/>
        </p:nvSpPr>
        <p:spPr>
          <a:xfrm>
            <a:off x="0" y="4526280"/>
            <a:ext cx="64008" cy="61722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50" name="r182880308610"/>
          <p:cNvSpPr/>
          <p:nvPr/>
        </p:nvSpPr>
        <p:spPr>
          <a:xfrm>
            <a:off x="182880" y="308610"/>
            <a:ext cx="8778240" cy="668655"/>
          </a:xfrm>
          <a:prstGeom prst="rect">
            <a:avLst/>
          </a:prstGeom>
          <a:solidFill>
            <a:srgbClr val="0A1640"/>
          </a:solidFill>
          <a:ln>
            <a:noFill/>
          </a:ln>
        </p:spPr>
      </p:sp>
      <p:sp>
        <p:nvSpPr>
          <p:cNvPr id="51" name="t457200334327"/>
          <p:cNvSpPr txBox="1"/>
          <p:nvPr/>
        </p:nvSpPr>
        <p:spPr>
          <a:xfrm>
            <a:off x="457200" y="334327"/>
            <a:ext cx="804672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D4FF"/>
                </a:solidFill>
                <a:latin typeface="Calibri" pitchFamily="34" charset="0"/>
              </a:rPr>
              <a:t>Risk Heat Map — Threat Severity Matrix</a:t>
            </a:r>
          </a:p>
        </p:txBody>
      </p:sp>
      <p:sp>
        <p:nvSpPr>
          <p:cNvPr id="51" name="t457200951547"/>
          <p:cNvSpPr txBox="1"/>
          <p:nvPr/>
        </p:nvSpPr>
        <p:spPr>
          <a:xfrm>
            <a:off x="457200" y="951547"/>
            <a:ext cx="804672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0" kern="0" dirty="0">
                <a:solidFill>
                  <a:srgbClr val="7EC8E3"/>
                </a:solidFill>
                <a:latin typeface="Calibri" pitchFamily="34" charset="0"/>
              </a:rPr>
              <a:t>Visual ranking of SME cybersecurity threats by Likelihood vs Impact</a:t>
            </a:r>
          </a:p>
        </p:txBody>
      </p:sp>
      <p:sp>
        <p:nvSpPr>
          <p:cNvPr id="51" name="t3657604603432"/>
          <p:cNvSpPr txBox="1"/>
          <p:nvPr/>
        </p:nvSpPr>
        <p:spPr>
          <a:xfrm>
            <a:off x="365760" y="4603432"/>
            <a:ext cx="5486400" cy="30861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0" kern="0" dirty="0">
                <a:solidFill>
                  <a:srgbClr val="7EC8E3"/>
                </a:solidFill>
                <a:latin typeface="Calibri" pitchFamily="34" charset="0"/>
              </a:rPr>
              <a:t>Cybersecurity Risk Assessment Framework  ·  Minor Project I</a:t>
            </a:r>
          </a:p>
        </p:txBody>
      </p:sp>
      <p:sp>
        <p:nvSpPr>
          <p:cNvPr id="50" name="r16459201080135"/>
          <p:cNvSpPr/>
          <p:nvPr/>
        </p:nvSpPr>
        <p:spPr>
          <a:xfrm>
            <a:off x="1645920" y="1080135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50" name="ro16459221080137"/>
          <p:cNvSpPr/>
          <p:nvPr/>
        </p:nvSpPr>
        <p:spPr>
          <a:xfrm>
            <a:off x="1645922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16459201080135"/>
          <p:cNvSpPr txBox="1"/>
          <p:nvPr/>
        </p:nvSpPr>
        <p:spPr>
          <a:xfrm>
            <a:off x="1645920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0" name="r28163521080135"/>
          <p:cNvSpPr/>
          <p:nvPr/>
        </p:nvSpPr>
        <p:spPr>
          <a:xfrm>
            <a:off x="2816352" y="1080135"/>
            <a:ext cx="1170432" cy="627507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50" name="ro28163541080137"/>
          <p:cNvSpPr/>
          <p:nvPr/>
        </p:nvSpPr>
        <p:spPr>
          <a:xfrm>
            <a:off x="2816354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28163521080135"/>
          <p:cNvSpPr txBox="1"/>
          <p:nvPr/>
        </p:nvSpPr>
        <p:spPr>
          <a:xfrm>
            <a:off x="2816352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50" name="r39867841080135"/>
          <p:cNvSpPr/>
          <p:nvPr/>
        </p:nvSpPr>
        <p:spPr>
          <a:xfrm>
            <a:off x="3986784" y="1080135"/>
            <a:ext cx="1170432" cy="627507"/>
          </a:xfrm>
          <a:prstGeom prst="rect">
            <a:avLst/>
          </a:prstGeom>
          <a:solidFill>
            <a:srgbClr val="B85C00"/>
          </a:solidFill>
          <a:ln>
            <a:noFill/>
          </a:ln>
        </p:spPr>
      </p:sp>
      <p:sp>
        <p:nvSpPr>
          <p:cNvPr id="50" name="ro39867861080137"/>
          <p:cNvSpPr/>
          <p:nvPr/>
        </p:nvSpPr>
        <p:spPr>
          <a:xfrm>
            <a:off x="3986786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39867841080135"/>
          <p:cNvSpPr txBox="1"/>
          <p:nvPr/>
        </p:nvSpPr>
        <p:spPr>
          <a:xfrm>
            <a:off x="3986784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15</a:t>
            </a:r>
          </a:p>
        </p:txBody>
      </p:sp>
      <p:sp>
        <p:nvSpPr>
          <p:cNvPr id="50" name="r51572161080135"/>
          <p:cNvSpPr/>
          <p:nvPr/>
        </p:nvSpPr>
        <p:spPr>
          <a:xfrm>
            <a:off x="5157216" y="1080135"/>
            <a:ext cx="1170432" cy="62750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0" name="ro51572181080137"/>
          <p:cNvSpPr/>
          <p:nvPr/>
        </p:nvSpPr>
        <p:spPr>
          <a:xfrm>
            <a:off x="5157218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51572161080135"/>
          <p:cNvSpPr txBox="1"/>
          <p:nvPr/>
        </p:nvSpPr>
        <p:spPr>
          <a:xfrm>
            <a:off x="5157216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20</a:t>
            </a:r>
          </a:p>
        </p:txBody>
      </p:sp>
      <p:sp>
        <p:nvSpPr>
          <p:cNvPr id="50" name="r63276481080135"/>
          <p:cNvSpPr/>
          <p:nvPr/>
        </p:nvSpPr>
        <p:spPr>
          <a:xfrm>
            <a:off x="6327648" y="1080135"/>
            <a:ext cx="1170432" cy="62750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0" name="ro63276501080137"/>
          <p:cNvSpPr/>
          <p:nvPr/>
        </p:nvSpPr>
        <p:spPr>
          <a:xfrm>
            <a:off x="6327650" y="1080137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63276481080135"/>
          <p:cNvSpPr txBox="1"/>
          <p:nvPr/>
        </p:nvSpPr>
        <p:spPr>
          <a:xfrm>
            <a:off x="6327648" y="1080135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25</a:t>
            </a:r>
          </a:p>
        </p:txBody>
      </p:sp>
      <p:sp>
        <p:nvSpPr>
          <p:cNvPr id="50" name="r16459201707642"/>
          <p:cNvSpPr/>
          <p:nvPr/>
        </p:nvSpPr>
        <p:spPr>
          <a:xfrm>
            <a:off x="1645920" y="1707642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0" name="ro16459221707644"/>
          <p:cNvSpPr/>
          <p:nvPr/>
        </p:nvSpPr>
        <p:spPr>
          <a:xfrm>
            <a:off x="1645922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16459201707642"/>
          <p:cNvSpPr txBox="1"/>
          <p:nvPr/>
        </p:nvSpPr>
        <p:spPr>
          <a:xfrm>
            <a:off x="1645920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0" name="r28163521707642"/>
          <p:cNvSpPr/>
          <p:nvPr/>
        </p:nvSpPr>
        <p:spPr>
          <a:xfrm>
            <a:off x="2816352" y="1707642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50" name="ro28163541707644"/>
          <p:cNvSpPr/>
          <p:nvPr/>
        </p:nvSpPr>
        <p:spPr>
          <a:xfrm>
            <a:off x="2816354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28163521707642"/>
          <p:cNvSpPr txBox="1"/>
          <p:nvPr/>
        </p:nvSpPr>
        <p:spPr>
          <a:xfrm>
            <a:off x="2816352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50" name="r39867841707642"/>
          <p:cNvSpPr/>
          <p:nvPr/>
        </p:nvSpPr>
        <p:spPr>
          <a:xfrm>
            <a:off x="3986784" y="1707642"/>
            <a:ext cx="1170432" cy="627507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50" name="ro39867861707644"/>
          <p:cNvSpPr/>
          <p:nvPr/>
        </p:nvSpPr>
        <p:spPr>
          <a:xfrm>
            <a:off x="3986786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39867841707642"/>
          <p:cNvSpPr txBox="1"/>
          <p:nvPr/>
        </p:nvSpPr>
        <p:spPr>
          <a:xfrm>
            <a:off x="3986784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50" name="r51572161707642"/>
          <p:cNvSpPr/>
          <p:nvPr/>
        </p:nvSpPr>
        <p:spPr>
          <a:xfrm>
            <a:off x="5157216" y="1707642"/>
            <a:ext cx="1170432" cy="627507"/>
          </a:xfrm>
          <a:prstGeom prst="rect">
            <a:avLst/>
          </a:prstGeom>
          <a:solidFill>
            <a:srgbClr val="B85C00"/>
          </a:solidFill>
          <a:ln>
            <a:noFill/>
          </a:ln>
        </p:spPr>
      </p:sp>
      <p:sp>
        <p:nvSpPr>
          <p:cNvPr id="50" name="ro51572181707644"/>
          <p:cNvSpPr/>
          <p:nvPr/>
        </p:nvSpPr>
        <p:spPr>
          <a:xfrm>
            <a:off x="5157218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51572161707642"/>
          <p:cNvSpPr txBox="1"/>
          <p:nvPr/>
        </p:nvSpPr>
        <p:spPr>
          <a:xfrm>
            <a:off x="5157216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16</a:t>
            </a:r>
          </a:p>
        </p:txBody>
      </p:sp>
      <p:sp>
        <p:nvSpPr>
          <p:cNvPr id="50" name="r63276481707642"/>
          <p:cNvSpPr/>
          <p:nvPr/>
        </p:nvSpPr>
        <p:spPr>
          <a:xfrm>
            <a:off x="6327648" y="1707642"/>
            <a:ext cx="1170432" cy="62750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0" name="ro63276501707644"/>
          <p:cNvSpPr/>
          <p:nvPr/>
        </p:nvSpPr>
        <p:spPr>
          <a:xfrm>
            <a:off x="6327650" y="1707644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63276481707642"/>
          <p:cNvSpPr txBox="1"/>
          <p:nvPr/>
        </p:nvSpPr>
        <p:spPr>
          <a:xfrm>
            <a:off x="6327648" y="1707642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20</a:t>
            </a:r>
          </a:p>
        </p:txBody>
      </p:sp>
      <p:sp>
        <p:nvSpPr>
          <p:cNvPr id="50" name="r16459202335149"/>
          <p:cNvSpPr/>
          <p:nvPr/>
        </p:nvSpPr>
        <p:spPr>
          <a:xfrm>
            <a:off x="1645920" y="2335149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0" name="ro16459222335151"/>
          <p:cNvSpPr/>
          <p:nvPr/>
        </p:nvSpPr>
        <p:spPr>
          <a:xfrm>
            <a:off x="1645922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16459202335149"/>
          <p:cNvSpPr txBox="1"/>
          <p:nvPr/>
        </p:nvSpPr>
        <p:spPr>
          <a:xfrm>
            <a:off x="1645920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0" name="r28163522335149"/>
          <p:cNvSpPr/>
          <p:nvPr/>
        </p:nvSpPr>
        <p:spPr>
          <a:xfrm>
            <a:off x="2816352" y="2335149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50" name="ro28163542335151"/>
          <p:cNvSpPr/>
          <p:nvPr/>
        </p:nvSpPr>
        <p:spPr>
          <a:xfrm>
            <a:off x="2816354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28163522335149"/>
          <p:cNvSpPr txBox="1"/>
          <p:nvPr/>
        </p:nvSpPr>
        <p:spPr>
          <a:xfrm>
            <a:off x="2816352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50" name="r39867842335149"/>
          <p:cNvSpPr/>
          <p:nvPr/>
        </p:nvSpPr>
        <p:spPr>
          <a:xfrm>
            <a:off x="3986784" y="2335149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50" name="ro39867862335151"/>
          <p:cNvSpPr/>
          <p:nvPr/>
        </p:nvSpPr>
        <p:spPr>
          <a:xfrm>
            <a:off x="3986786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39867842335149"/>
          <p:cNvSpPr txBox="1"/>
          <p:nvPr/>
        </p:nvSpPr>
        <p:spPr>
          <a:xfrm>
            <a:off x="3986784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9</a:t>
            </a:r>
          </a:p>
        </p:txBody>
      </p:sp>
      <p:sp>
        <p:nvSpPr>
          <p:cNvPr id="50" name="r51572162335149"/>
          <p:cNvSpPr/>
          <p:nvPr/>
        </p:nvSpPr>
        <p:spPr>
          <a:xfrm>
            <a:off x="5157216" y="2335149"/>
            <a:ext cx="1170432" cy="627507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50" name="ro51572182335151"/>
          <p:cNvSpPr/>
          <p:nvPr/>
        </p:nvSpPr>
        <p:spPr>
          <a:xfrm>
            <a:off x="5157218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51572162335149"/>
          <p:cNvSpPr txBox="1"/>
          <p:nvPr/>
        </p:nvSpPr>
        <p:spPr>
          <a:xfrm>
            <a:off x="5157216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50" name="r63276482335149"/>
          <p:cNvSpPr/>
          <p:nvPr/>
        </p:nvSpPr>
        <p:spPr>
          <a:xfrm>
            <a:off x="6327648" y="2335149"/>
            <a:ext cx="1170432" cy="627507"/>
          </a:xfrm>
          <a:prstGeom prst="rect">
            <a:avLst/>
          </a:prstGeom>
          <a:solidFill>
            <a:srgbClr val="B85C00"/>
          </a:solidFill>
          <a:ln>
            <a:noFill/>
          </a:ln>
        </p:spPr>
      </p:sp>
      <p:sp>
        <p:nvSpPr>
          <p:cNvPr id="50" name="ro63276502335151"/>
          <p:cNvSpPr/>
          <p:nvPr/>
        </p:nvSpPr>
        <p:spPr>
          <a:xfrm>
            <a:off x="6327650" y="2335151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63276482335149"/>
          <p:cNvSpPr txBox="1"/>
          <p:nvPr/>
        </p:nvSpPr>
        <p:spPr>
          <a:xfrm>
            <a:off x="6327648" y="2335149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15</a:t>
            </a:r>
          </a:p>
        </p:txBody>
      </p:sp>
      <p:sp>
        <p:nvSpPr>
          <p:cNvPr id="50" name="r16459202962656"/>
          <p:cNvSpPr/>
          <p:nvPr/>
        </p:nvSpPr>
        <p:spPr>
          <a:xfrm>
            <a:off x="1645920" y="2962656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0" name="ro16459222962658"/>
          <p:cNvSpPr/>
          <p:nvPr/>
        </p:nvSpPr>
        <p:spPr>
          <a:xfrm>
            <a:off x="1645922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16459202962656"/>
          <p:cNvSpPr txBox="1"/>
          <p:nvPr/>
        </p:nvSpPr>
        <p:spPr>
          <a:xfrm>
            <a:off x="1645920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0" name="r28163522962656"/>
          <p:cNvSpPr/>
          <p:nvPr/>
        </p:nvSpPr>
        <p:spPr>
          <a:xfrm>
            <a:off x="2816352" y="2962656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0" name="ro28163542962658"/>
          <p:cNvSpPr/>
          <p:nvPr/>
        </p:nvSpPr>
        <p:spPr>
          <a:xfrm>
            <a:off x="2816354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28163522962656"/>
          <p:cNvSpPr txBox="1"/>
          <p:nvPr/>
        </p:nvSpPr>
        <p:spPr>
          <a:xfrm>
            <a:off x="2816352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0" name="r39867842962656"/>
          <p:cNvSpPr/>
          <p:nvPr/>
        </p:nvSpPr>
        <p:spPr>
          <a:xfrm>
            <a:off x="3986784" y="2962656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50" name="ro39867862962658"/>
          <p:cNvSpPr/>
          <p:nvPr/>
        </p:nvSpPr>
        <p:spPr>
          <a:xfrm>
            <a:off x="3986786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39867842962656"/>
          <p:cNvSpPr txBox="1"/>
          <p:nvPr/>
        </p:nvSpPr>
        <p:spPr>
          <a:xfrm>
            <a:off x="3986784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50" name="r51572162962656"/>
          <p:cNvSpPr/>
          <p:nvPr/>
        </p:nvSpPr>
        <p:spPr>
          <a:xfrm>
            <a:off x="5157216" y="2962656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50" name="ro51572182962658"/>
          <p:cNvSpPr/>
          <p:nvPr/>
        </p:nvSpPr>
        <p:spPr>
          <a:xfrm>
            <a:off x="5157218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51572162962656"/>
          <p:cNvSpPr txBox="1"/>
          <p:nvPr/>
        </p:nvSpPr>
        <p:spPr>
          <a:xfrm>
            <a:off x="5157216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8</a:t>
            </a:r>
          </a:p>
        </p:txBody>
      </p:sp>
      <p:sp>
        <p:nvSpPr>
          <p:cNvPr id="50" name="r63276482962656"/>
          <p:cNvSpPr/>
          <p:nvPr/>
        </p:nvSpPr>
        <p:spPr>
          <a:xfrm>
            <a:off x="6327648" y="2962656"/>
            <a:ext cx="1170432" cy="627507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50" name="ro63276502962658"/>
          <p:cNvSpPr/>
          <p:nvPr/>
        </p:nvSpPr>
        <p:spPr>
          <a:xfrm>
            <a:off x="6327650" y="2962658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63276482962656"/>
          <p:cNvSpPr txBox="1"/>
          <p:nvPr/>
        </p:nvSpPr>
        <p:spPr>
          <a:xfrm>
            <a:off x="6327648" y="2962656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50" name="r16459203590163"/>
          <p:cNvSpPr/>
          <p:nvPr/>
        </p:nvSpPr>
        <p:spPr>
          <a:xfrm>
            <a:off x="1645920" y="3590163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0" name="ro16459223590165"/>
          <p:cNvSpPr/>
          <p:nvPr/>
        </p:nvSpPr>
        <p:spPr>
          <a:xfrm>
            <a:off x="1645922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16459203590163"/>
          <p:cNvSpPr txBox="1"/>
          <p:nvPr/>
        </p:nvSpPr>
        <p:spPr>
          <a:xfrm>
            <a:off x="1645920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0" name="r28163523590163"/>
          <p:cNvSpPr/>
          <p:nvPr/>
        </p:nvSpPr>
        <p:spPr>
          <a:xfrm>
            <a:off x="2816352" y="3590163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0" name="ro28163543590165"/>
          <p:cNvSpPr/>
          <p:nvPr/>
        </p:nvSpPr>
        <p:spPr>
          <a:xfrm>
            <a:off x="2816354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28163523590163"/>
          <p:cNvSpPr txBox="1"/>
          <p:nvPr/>
        </p:nvSpPr>
        <p:spPr>
          <a:xfrm>
            <a:off x="2816352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0" name="r39867843590163"/>
          <p:cNvSpPr/>
          <p:nvPr/>
        </p:nvSpPr>
        <p:spPr>
          <a:xfrm>
            <a:off x="3986784" y="3590163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0" name="ro39867863590165"/>
          <p:cNvSpPr/>
          <p:nvPr/>
        </p:nvSpPr>
        <p:spPr>
          <a:xfrm>
            <a:off x="3986786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39867843590163"/>
          <p:cNvSpPr txBox="1"/>
          <p:nvPr/>
        </p:nvSpPr>
        <p:spPr>
          <a:xfrm>
            <a:off x="3986784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0" name="r51572163590163"/>
          <p:cNvSpPr/>
          <p:nvPr/>
        </p:nvSpPr>
        <p:spPr>
          <a:xfrm>
            <a:off x="5157216" y="3590163"/>
            <a:ext cx="1170432" cy="627507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0" name="ro51572183590165"/>
          <p:cNvSpPr/>
          <p:nvPr/>
        </p:nvSpPr>
        <p:spPr>
          <a:xfrm>
            <a:off x="5157218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51572163590163"/>
          <p:cNvSpPr txBox="1"/>
          <p:nvPr/>
        </p:nvSpPr>
        <p:spPr>
          <a:xfrm>
            <a:off x="5157216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0" name="r63276483590163"/>
          <p:cNvSpPr/>
          <p:nvPr/>
        </p:nvSpPr>
        <p:spPr>
          <a:xfrm>
            <a:off x="6327648" y="3590163"/>
            <a:ext cx="1170432" cy="627507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50" name="ro63276503590165"/>
          <p:cNvSpPr/>
          <p:nvPr/>
        </p:nvSpPr>
        <p:spPr>
          <a:xfrm>
            <a:off x="6327650" y="3590165"/>
            <a:ext cx="1170428" cy="627503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FFFFFF"/>
            </a:solidFill>
          </a:ln>
        </p:spPr>
      </p:sp>
      <p:sp>
        <p:nvSpPr>
          <p:cNvPr id="51" name="t63276483590163"/>
          <p:cNvSpPr txBox="1"/>
          <p:nvPr/>
        </p:nvSpPr>
        <p:spPr>
          <a:xfrm>
            <a:off x="6327648" y="3590163"/>
            <a:ext cx="1170432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1" name="t16459204269105"/>
          <p:cNvSpPr txBox="1"/>
          <p:nvPr/>
        </p:nvSpPr>
        <p:spPr>
          <a:xfrm>
            <a:off x="1645920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1" name="t28163524269105"/>
          <p:cNvSpPr txBox="1"/>
          <p:nvPr/>
        </p:nvSpPr>
        <p:spPr>
          <a:xfrm>
            <a:off x="2816352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1" name="t39867844269105"/>
          <p:cNvSpPr txBox="1"/>
          <p:nvPr/>
        </p:nvSpPr>
        <p:spPr>
          <a:xfrm>
            <a:off x="3986784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1" name="t51572164269105"/>
          <p:cNvSpPr txBox="1"/>
          <p:nvPr/>
        </p:nvSpPr>
        <p:spPr>
          <a:xfrm>
            <a:off x="5157216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1" name="t63276484269105"/>
          <p:cNvSpPr txBox="1"/>
          <p:nvPr/>
        </p:nvSpPr>
        <p:spPr>
          <a:xfrm>
            <a:off x="6327648" y="4269105"/>
            <a:ext cx="1170432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1" name="t16459204551997"/>
          <p:cNvSpPr txBox="1"/>
          <p:nvPr/>
        </p:nvSpPr>
        <p:spPr>
          <a:xfrm>
            <a:off x="1645920" y="4551997"/>
            <a:ext cx="585216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</a:rPr>
              <a:t>LIKELIHOOD  →</a:t>
            </a:r>
          </a:p>
        </p:txBody>
      </p:sp>
      <p:sp>
        <p:nvSpPr>
          <p:cNvPr id="51" name="t10972801080135"/>
          <p:cNvSpPr txBox="1"/>
          <p:nvPr/>
        </p:nvSpPr>
        <p:spPr>
          <a:xfrm>
            <a:off x="1097280" y="1080135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1" name="t10972801707642"/>
          <p:cNvSpPr txBox="1"/>
          <p:nvPr/>
        </p:nvSpPr>
        <p:spPr>
          <a:xfrm>
            <a:off x="1097280" y="1707642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1" name="t10972802335149"/>
          <p:cNvSpPr txBox="1"/>
          <p:nvPr/>
        </p:nvSpPr>
        <p:spPr>
          <a:xfrm>
            <a:off x="1097280" y="2335149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1" name="t10972802962656"/>
          <p:cNvSpPr txBox="1"/>
          <p:nvPr/>
        </p:nvSpPr>
        <p:spPr>
          <a:xfrm>
            <a:off x="1097280" y="2962656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1" name="t10972803590163"/>
          <p:cNvSpPr txBox="1"/>
          <p:nvPr/>
        </p:nvSpPr>
        <p:spPr>
          <a:xfrm>
            <a:off x="1097280" y="3590163"/>
            <a:ext cx="502920" cy="6275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kern="0" dirty="0">
                <a:solidFill>
                  <a:srgbClr val="7EC8E3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1" name="t5943601080135"/>
          <p:cNvSpPr txBox="1"/>
          <p:nvPr/>
        </p:nvSpPr>
        <p:spPr>
          <a:xfrm>
            <a:off x="594360" y="1080135"/>
            <a:ext cx="548640" cy="313753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Calibri" pitchFamily="34" charset="0"/>
              </a:rPr>
              <a:t>↑
I
M
P
A
C
T</a:t>
            </a:r>
          </a:p>
        </p:txBody>
      </p:sp>
      <p:sp>
        <p:nvSpPr>
          <p:cNvPr id="51" name="t7863840977265"/>
          <p:cNvSpPr txBox="1"/>
          <p:nvPr/>
        </p:nvSpPr>
        <p:spPr>
          <a:xfrm>
            <a:off x="7863840" y="977265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</a:rPr>
              <a:t>RISK LEVEL</a:t>
            </a:r>
          </a:p>
        </p:txBody>
      </p:sp>
      <p:sp>
        <p:nvSpPr>
          <p:cNvPr id="50" name="r78638401183005"/>
          <p:cNvSpPr/>
          <p:nvPr/>
        </p:nvSpPr>
        <p:spPr>
          <a:xfrm>
            <a:off x="7863840" y="1183005"/>
            <a:ext cx="365760" cy="360045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1" name="t83210401183005"/>
          <p:cNvSpPr txBox="1"/>
          <p:nvPr/>
        </p:nvSpPr>
        <p:spPr>
          <a:xfrm>
            <a:off x="8321040" y="1183005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CRITICAL</a:t>
            </a:r>
          </a:p>
        </p:txBody>
      </p:sp>
      <p:sp>
        <p:nvSpPr>
          <p:cNvPr id="51" name="t83210401378458"/>
          <p:cNvSpPr txBox="1"/>
          <p:nvPr/>
        </p:nvSpPr>
        <p:spPr>
          <a:xfrm>
            <a:off x="8321040" y="1378458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20–25</a:t>
            </a:r>
          </a:p>
        </p:txBody>
      </p:sp>
      <p:sp>
        <p:nvSpPr>
          <p:cNvPr id="50" name="r78638401671637"/>
          <p:cNvSpPr/>
          <p:nvPr/>
        </p:nvSpPr>
        <p:spPr>
          <a:xfrm>
            <a:off x="7863840" y="1671637"/>
            <a:ext cx="365760" cy="360045"/>
          </a:xfrm>
          <a:prstGeom prst="rect">
            <a:avLst/>
          </a:prstGeom>
          <a:solidFill>
            <a:srgbClr val="B85C00"/>
          </a:solidFill>
          <a:ln>
            <a:noFill/>
          </a:ln>
        </p:spPr>
      </p:sp>
      <p:sp>
        <p:nvSpPr>
          <p:cNvPr id="51" name="t83210401671637"/>
          <p:cNvSpPr txBox="1"/>
          <p:nvPr/>
        </p:nvSpPr>
        <p:spPr>
          <a:xfrm>
            <a:off x="8321040" y="1671637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HIGH</a:t>
            </a:r>
          </a:p>
        </p:txBody>
      </p:sp>
      <p:sp>
        <p:nvSpPr>
          <p:cNvPr id="51" name="t83210401867090"/>
          <p:cNvSpPr txBox="1"/>
          <p:nvPr/>
        </p:nvSpPr>
        <p:spPr>
          <a:xfrm>
            <a:off x="8321040" y="1867090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15–19</a:t>
            </a:r>
          </a:p>
        </p:txBody>
      </p:sp>
      <p:sp>
        <p:nvSpPr>
          <p:cNvPr id="50" name="r78638402160269"/>
          <p:cNvSpPr/>
          <p:nvPr/>
        </p:nvSpPr>
        <p:spPr>
          <a:xfrm>
            <a:off x="7863840" y="2160269"/>
            <a:ext cx="365760" cy="360045"/>
          </a:xfrm>
          <a:prstGeom prst="rect">
            <a:avLst/>
          </a:prstGeom>
          <a:solidFill>
            <a:srgbClr val="7A6800"/>
          </a:solidFill>
          <a:ln>
            <a:noFill/>
          </a:ln>
        </p:spPr>
      </p:sp>
      <p:sp>
        <p:nvSpPr>
          <p:cNvPr id="51" name="t83210402160269"/>
          <p:cNvSpPr txBox="1"/>
          <p:nvPr/>
        </p:nvSpPr>
        <p:spPr>
          <a:xfrm>
            <a:off x="8321040" y="2160269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MEDIUM</a:t>
            </a:r>
          </a:p>
        </p:txBody>
      </p:sp>
      <p:sp>
        <p:nvSpPr>
          <p:cNvPr id="51" name="t83210402355722"/>
          <p:cNvSpPr txBox="1"/>
          <p:nvPr/>
        </p:nvSpPr>
        <p:spPr>
          <a:xfrm>
            <a:off x="8321040" y="2355722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10–14</a:t>
            </a:r>
          </a:p>
        </p:txBody>
      </p:sp>
      <p:sp>
        <p:nvSpPr>
          <p:cNvPr id="50" name="r78638402648901"/>
          <p:cNvSpPr/>
          <p:nvPr/>
        </p:nvSpPr>
        <p:spPr>
          <a:xfrm>
            <a:off x="7863840" y="2648901"/>
            <a:ext cx="365760" cy="360045"/>
          </a:xfrm>
          <a:prstGeom prst="rect">
            <a:avLst/>
          </a:prstGeom>
          <a:solidFill>
            <a:srgbClr val="1A5C00"/>
          </a:solidFill>
          <a:ln>
            <a:noFill/>
          </a:ln>
        </p:spPr>
      </p:sp>
      <p:sp>
        <p:nvSpPr>
          <p:cNvPr id="51" name="t83210402648901"/>
          <p:cNvSpPr txBox="1"/>
          <p:nvPr/>
        </p:nvSpPr>
        <p:spPr>
          <a:xfrm>
            <a:off x="8321040" y="2648901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LOW-MED</a:t>
            </a:r>
          </a:p>
        </p:txBody>
      </p:sp>
      <p:sp>
        <p:nvSpPr>
          <p:cNvPr id="51" name="t83210402844354"/>
          <p:cNvSpPr txBox="1"/>
          <p:nvPr/>
        </p:nvSpPr>
        <p:spPr>
          <a:xfrm>
            <a:off x="8321040" y="2844354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5–9</a:t>
            </a:r>
          </a:p>
        </p:txBody>
      </p:sp>
      <p:sp>
        <p:nvSpPr>
          <p:cNvPr id="50" name="r78638403137533"/>
          <p:cNvSpPr/>
          <p:nvPr/>
        </p:nvSpPr>
        <p:spPr>
          <a:xfrm>
            <a:off x="7863840" y="3137533"/>
            <a:ext cx="365760" cy="360045"/>
          </a:xfrm>
          <a:prstGeom prst="rect">
            <a:avLst/>
          </a:prstGeom>
          <a:solidFill>
            <a:srgbClr val="0A3D0A"/>
          </a:solidFill>
          <a:ln>
            <a:noFill/>
          </a:ln>
        </p:spPr>
      </p:sp>
      <p:sp>
        <p:nvSpPr>
          <p:cNvPr id="51" name="t83210403137533"/>
          <p:cNvSpPr txBox="1"/>
          <p:nvPr/>
        </p:nvSpPr>
        <p:spPr>
          <a:xfrm>
            <a:off x="8321040" y="3137533"/>
            <a:ext cx="1463040" cy="19545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</a:rPr>
              <a:t>LOW</a:t>
            </a:r>
          </a:p>
        </p:txBody>
      </p:sp>
      <p:sp>
        <p:nvSpPr>
          <p:cNvPr id="51" name="t83210403332986"/>
          <p:cNvSpPr txBox="1"/>
          <p:nvPr/>
        </p:nvSpPr>
        <p:spPr>
          <a:xfrm>
            <a:off x="8321040" y="3332986"/>
            <a:ext cx="1463040" cy="17487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b="0" kern="0" dirty="0">
                <a:solidFill>
                  <a:srgbClr val="8BAED6"/>
                </a:solidFill>
                <a:latin typeface="Calibri" pitchFamily="34" charset="0"/>
              </a:rPr>
              <a:t>Score: 1–4</a:t>
            </a:r>
          </a:p>
        </p:txBody>
      </p:sp>
      <p:sp>
        <p:nvSpPr>
          <p:cNvPr id="52" name="c69128642021395"/>
          <p:cNvSpPr/>
          <p:nvPr/>
        </p:nvSpPr>
        <p:spPr>
          <a:xfrm>
            <a:off x="6768846" y="1877377"/>
            <a:ext cx="288036" cy="288036"/>
          </a:xfrm>
          <a:prstGeom prst="ellipse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51" name="t64556642175700"/>
          <p:cNvSpPr txBox="1"/>
          <p:nvPr/>
        </p:nvSpPr>
        <p:spPr>
          <a:xfrm>
            <a:off x="6455664" y="2175700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0" kern="0" dirty="0">
                <a:solidFill>
                  <a:srgbClr val="FFD700"/>
                </a:solidFill>
                <a:latin typeface="Calibri" pitchFamily="34" charset="0"/>
              </a:rPr>
              <a:t>Phishing</a:t>
            </a:r>
          </a:p>
        </p:txBody>
      </p:sp>
      <p:sp>
        <p:nvSpPr>
          <p:cNvPr id="52" name="c57424321393888"/>
          <p:cNvSpPr/>
          <p:nvPr/>
        </p:nvSpPr>
        <p:spPr>
          <a:xfrm>
            <a:off x="5598414" y="1249870"/>
            <a:ext cx="288036" cy="288036"/>
          </a:xfrm>
          <a:prstGeom prst="ellipse">
            <a:avLst/>
          </a:prstGeom>
          <a:solidFill>
            <a:srgbClr val="FF8C00"/>
          </a:solidFill>
          <a:ln>
            <a:noFill/>
          </a:ln>
        </p:spPr>
      </p:sp>
      <p:sp>
        <p:nvSpPr>
          <p:cNvPr id="51" name="t52852321548193"/>
          <p:cNvSpPr txBox="1"/>
          <p:nvPr/>
        </p:nvSpPr>
        <p:spPr>
          <a:xfrm>
            <a:off x="5285232" y="1548193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0" kern="0" dirty="0">
                <a:solidFill>
                  <a:srgbClr val="FF8C00"/>
                </a:solidFill>
                <a:latin typeface="Calibri" pitchFamily="34" charset="0"/>
              </a:rPr>
              <a:t>Ransomware</a:t>
            </a:r>
          </a:p>
        </p:txBody>
      </p:sp>
      <p:sp>
        <p:nvSpPr>
          <p:cNvPr id="52" name="c69128642021395"/>
          <p:cNvSpPr/>
          <p:nvPr/>
        </p:nvSpPr>
        <p:spPr>
          <a:xfrm>
            <a:off x="6768846" y="1877377"/>
            <a:ext cx="288036" cy="288036"/>
          </a:xfrm>
          <a:prstGeom prst="ellipse">
            <a:avLst/>
          </a:prstGeom>
          <a:solidFill>
            <a:srgbClr val="FF4500"/>
          </a:solidFill>
          <a:ln>
            <a:noFill/>
          </a:ln>
        </p:spPr>
      </p:sp>
      <p:sp>
        <p:nvSpPr>
          <p:cNvPr id="51" name="t64556642175700"/>
          <p:cNvSpPr txBox="1"/>
          <p:nvPr/>
        </p:nvSpPr>
        <p:spPr>
          <a:xfrm>
            <a:off x="6455664" y="2175700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0" kern="0" dirty="0">
                <a:solidFill>
                  <a:srgbClr val="FF4500"/>
                </a:solidFill>
                <a:latin typeface="Calibri" pitchFamily="34" charset="0"/>
              </a:rPr>
              <a:t>Weak Pwd</a:t>
            </a:r>
          </a:p>
        </p:txBody>
      </p:sp>
      <p:sp>
        <p:nvSpPr>
          <p:cNvPr id="52" name="c45720001393888"/>
          <p:cNvSpPr/>
          <p:nvPr/>
        </p:nvSpPr>
        <p:spPr>
          <a:xfrm>
            <a:off x="4427982" y="1249870"/>
            <a:ext cx="288036" cy="288036"/>
          </a:xfrm>
          <a:prstGeom prst="ellipse">
            <a:avLst/>
          </a:prstGeom>
          <a:solidFill>
            <a:srgbClr val="DA70D6"/>
          </a:solidFill>
          <a:ln>
            <a:noFill/>
          </a:ln>
        </p:spPr>
      </p:sp>
      <p:sp>
        <p:nvSpPr>
          <p:cNvPr id="51" name="t41148001548193"/>
          <p:cNvSpPr txBox="1"/>
          <p:nvPr/>
        </p:nvSpPr>
        <p:spPr>
          <a:xfrm>
            <a:off x="4114800" y="1548193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0" kern="0" dirty="0">
                <a:solidFill>
                  <a:srgbClr val="DA70D6"/>
                </a:solidFill>
                <a:latin typeface="Calibri" pitchFamily="34" charset="0"/>
              </a:rPr>
              <a:t>Insider</a:t>
            </a:r>
          </a:p>
        </p:txBody>
      </p:sp>
      <p:sp>
        <p:nvSpPr>
          <p:cNvPr id="52" name="c57424322021395"/>
          <p:cNvSpPr/>
          <p:nvPr/>
        </p:nvSpPr>
        <p:spPr>
          <a:xfrm>
            <a:off x="5598414" y="1877377"/>
            <a:ext cx="288036" cy="288036"/>
          </a:xfrm>
          <a:prstGeom prst="ellipse">
            <a:avLst/>
          </a:prstGeom>
          <a:solidFill>
            <a:srgbClr val="00CED1"/>
          </a:solidFill>
          <a:ln>
            <a:noFill/>
          </a:ln>
        </p:spPr>
      </p:sp>
      <p:sp>
        <p:nvSpPr>
          <p:cNvPr id="51" name="t52852322175700"/>
          <p:cNvSpPr txBox="1"/>
          <p:nvPr/>
        </p:nvSpPr>
        <p:spPr>
          <a:xfrm>
            <a:off x="5285232" y="2175700"/>
            <a:ext cx="9144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0" kern="0" dirty="0">
                <a:solidFill>
                  <a:srgbClr val="00CED1"/>
                </a:solidFill>
                <a:latin typeface="Calibri" pitchFamily="34" charset="0"/>
              </a:rPr>
              <a:t>Unpatched SW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Risk Assessment Framework for SMEs</dc:title>
  <dc:subject>PptxGenJS Presentation</dc:subject>
  <dc:creator>PptxGenJS</dc:creator>
  <cp:lastModifiedBy>PptxGenJS</cp:lastModifiedBy>
  <cp:revision>1</cp:revision>
  <dcterms:created xsi:type="dcterms:W3CDTF">2026-06-07T15:59:46Z</dcterms:created>
  <dcterms:modified xsi:type="dcterms:W3CDTF">2026-06-07T15:59:46Z</dcterms:modified>
</cp:coreProperties>
</file>