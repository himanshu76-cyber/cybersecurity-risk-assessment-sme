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charts/chart1.xml" ContentType="application/vnd.openxmlformats-officedocument.drawingml.chart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8"/>
  </p:notesMasterIdLst>
  <p:sldIdLst>
    <p:sldId id="256" r:id="rId2"/>
    <p:sldId id="273" r:id="rId3"/>
    <p:sldId id="274" r:id="rId4"/>
    <p:sldId id="257" r:id="rId5"/>
    <p:sldId id="258" r:id="rId6"/>
    <p:sldId id="259" r:id="rId7"/>
    <p:sldId id="260" r:id="rId8"/>
    <p:sldId id="280" r:id="rId9"/>
    <p:sldId id="261" r:id="rId10"/>
    <p:sldId id="278" r:id="rId11"/>
    <p:sldId id="281" r:id="rId12"/>
    <p:sldId id="262" r:id="rId13"/>
    <p:sldId id="279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5" r:id="rId25"/>
    <p:sldId id="276" r:id="rId26"/>
    <p:sldId id="277" r:id="rId27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7020" autoAdjust="0"/>
    <p:restoredTop sz="94610"/>
  </p:normalViewPr>
  <p:slideViewPr>
    <p:cSldViewPr snapToGrid="0" snapToObjects="1">
      <p:cViewPr>
        <p:scale>
          <a:sx n="126" d="100"/>
          <a:sy n="126" d="100"/>
        </p:scale>
        <p:origin x="72" y="-235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viewProps" Target="viewProps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en-US"/>
  <c:roundedCorners val="1"/>
  <c:style val="2"/>
  <c:chart>
    <c:title>
      <c:tx>
        <c:rich>
          <a:bodyPr/>
          <a:lstStyle/>
          <a:p>
            <a:pPr>
              <a:defRPr sz="1200" b="0" i="0" u="none" strike="noStrike">
                <a:solidFill>
                  <a:srgbClr val="1A2B5F"/>
                </a:solidFill>
                <a:latin typeface="Arial"/>
              </a:defRPr>
            </a:pPr>
            <a:r>
              <a:rPr sz="1200" b="0" i="0" u="none" strike="noStrike">
                <a:solidFill>
                  <a:srgbClr val="1A2B5F"/>
                </a:solidFill>
                <a:latin typeface="Arial"/>
              </a:rPr>
              <a:t>Threat Risk Scores</a:t>
            </a:r>
          </a:p>
        </c:rich>
      </c:tx>
      <c:overlay val="0"/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Risk Score</c:v>
                </c:pt>
              </c:strCache>
            </c:strRef>
          </c:tx>
          <c:spPr>
            <a:solidFill>
              <a:srgbClr val="C0392B"/>
            </a:solidFill>
            <a:effectLst/>
          </c:spPr>
          <c:invertIfNegative val="0"/>
          <c:dPt>
            <c:idx val="0"/>
            <c:invertIfNegative val="0"/>
            <c:bubble3D val="0"/>
          </c:dPt>
          <c:dPt>
            <c:idx val="1"/>
            <c:invertIfNegative val="0"/>
            <c:bubble3D val="0"/>
          </c:dPt>
          <c:dPt>
            <c:idx val="2"/>
            <c:invertIfNegative val="0"/>
            <c:bubble3D val="0"/>
            <c:spPr>
              <a:solidFill>
                <a:srgbClr val="E67E22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E67E22"/>
              </a:solidFill>
              <a:effectLst/>
            </c:spPr>
          </c:dPt>
          <c:dPt>
            <c:idx val="4"/>
            <c:invertIfNegative val="0"/>
            <c:bubble3D val="0"/>
            <c:spPr>
              <a:solidFill>
                <a:srgbClr val="1E5FA8"/>
              </a:solidFill>
              <a:effectLst/>
            </c:spPr>
          </c:dPt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200" b="0" i="0" u="none" strike="noStrike">
                    <a:solidFill>
                      <a:srgbClr val="1A2B5F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Sheet1!$A$2:$A$6</c:f>
              <c:strCache>
                <c:ptCount val="5"/>
                <c:pt idx="0">
                  <c:v>Ransomware</c:v>
                </c:pt>
                <c:pt idx="1">
                  <c:v>Phishing</c:v>
                </c:pt>
                <c:pt idx="2">
                  <c:v>Weak Pwd</c:v>
                </c:pt>
                <c:pt idx="3">
                  <c:v>Insider Threats</c:v>
                </c:pt>
                <c:pt idx="4">
                  <c:v>Unpatched SW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4.5999999999999996</c:v>
                </c:pt>
                <c:pt idx="1">
                  <c:v>4.4000000000000004</c:v>
                </c:pt>
                <c:pt idx="2">
                  <c:v>4.4000000000000004</c:v>
                </c:pt>
                <c:pt idx="3">
                  <c:v>4.2</c:v>
                </c:pt>
                <c:pt idx="4">
                  <c:v>4</c:v>
                </c:pt>
              </c:numCache>
            </c:numRef>
          </c:val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1527300336"/>
        <c:axId val="1527297072"/>
      </c:barChart>
      <c:catAx>
        <c:axId val="1527300336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1A2B5F"/>
                </a:solidFill>
                <a:latin typeface="Arial"/>
              </a:defRPr>
            </a:pPr>
            <a:endParaRPr lang="en-US"/>
          </a:p>
        </c:txPr>
        <c:crossAx val="1527297072"/>
        <c:crosses val="autoZero"/>
        <c:auto val="1"/>
        <c:lblAlgn val="ctr"/>
        <c:lblOffset val="100"/>
        <c:noMultiLvlLbl val="1"/>
      </c:catAx>
      <c:valAx>
        <c:axId val="1527297072"/>
        <c:scaling>
          <c:orientation val="minMax"/>
        </c:scaling>
        <c:delete val="0"/>
        <c:axPos val="b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4A5568"/>
                </a:solidFill>
                <a:latin typeface="Arial"/>
              </a:defRPr>
            </a:pPr>
            <a:endParaRPr lang="en-US"/>
          </a:p>
        </c:txPr>
        <c:crossAx val="1527300336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80721095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60E2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0" name="rect_00D4FF"/>
          <p:cNvSpPr/>
          <p:nvPr/>
        </p:nvSpPr>
        <p:spPr>
          <a:xfrm>
            <a:off x="0" y="0"/>
            <a:ext cx="64008" cy="5143500"/>
          </a:xfrm>
          <a:prstGeom prst="rect">
            <a:avLst/>
          </a:prstGeom>
          <a:solidFill>
            <a:srgbClr val="00D4FF"/>
          </a:solidFill>
          <a:ln>
            <a:noFill/>
          </a:ln>
        </p:spPr>
      </p:sp>
      <p:sp>
        <p:nvSpPr>
          <p:cNvPr id="2" name="rect_00D4FF"/>
          <p:cNvSpPr/>
          <p:nvPr/>
        </p:nvSpPr>
        <p:spPr>
          <a:xfrm>
            <a:off x="0" y="0"/>
            <a:ext cx="9144000" cy="41148"/>
          </a:xfrm>
          <a:prstGeom prst="rect">
            <a:avLst/>
          </a:prstGeom>
          <a:solidFill>
            <a:srgbClr val="00D4FF">
              <a:alpha val="40000"/>
            </a:srgbClr>
          </a:solidFill>
          <a:ln>
            <a:noFill/>
          </a:ln>
        </p:spPr>
      </p:sp>
      <p:sp>
        <p:nvSpPr>
          <p:cNvPr id="3" name="rect_0A1640"/>
          <p:cNvSpPr/>
          <p:nvPr/>
        </p:nvSpPr>
        <p:spPr>
          <a:xfrm>
            <a:off x="6217920" y="0"/>
            <a:ext cx="2926080" cy="5143500"/>
          </a:xfrm>
          <a:prstGeom prst="rect">
            <a:avLst/>
          </a:prstGeom>
          <a:solidFill>
            <a:srgbClr val="0A1640"/>
          </a:solidFill>
          <a:ln>
            <a:noFill/>
          </a:ln>
        </p:spPr>
      </p:sp>
      <p:sp>
        <p:nvSpPr>
          <p:cNvPr id="902" name="circle_7680960"/>
          <p:cNvSpPr/>
          <p:nvPr/>
        </p:nvSpPr>
        <p:spPr>
          <a:xfrm>
            <a:off x="6035040" y="514350"/>
            <a:ext cx="3291840" cy="3291840"/>
          </a:xfrm>
          <a:prstGeom prst="ellipse">
            <a:avLst/>
          </a:prstGeom>
          <a:solidFill>
            <a:srgbClr val="001F6E">
              <a:alpha val="70000"/>
            </a:srgbClr>
          </a:solidFill>
          <a:ln w="12700">
            <a:solidFill>
              <a:srgbClr val="001F6E">
                <a:alpha val="70000"/>
              </a:srgbClr>
            </a:solidFill>
          </a:ln>
        </p:spPr>
      </p:sp>
      <p:sp>
        <p:nvSpPr>
          <p:cNvPr id="4" name="circle_7680960"/>
          <p:cNvSpPr/>
          <p:nvPr/>
        </p:nvSpPr>
        <p:spPr>
          <a:xfrm>
            <a:off x="6549390" y="1028700"/>
            <a:ext cx="2263140" cy="2263140"/>
          </a:xfrm>
          <a:prstGeom prst="ellipse">
            <a:avLst/>
          </a:prstGeom>
          <a:solidFill>
            <a:srgbClr val="003399">
              <a:alpha val="50000"/>
            </a:srgbClr>
          </a:solidFill>
          <a:ln w="12700">
            <a:solidFill>
              <a:srgbClr val="003399">
                <a:alpha val="50000"/>
              </a:srgbClr>
            </a:solidFill>
          </a:ln>
        </p:spPr>
      </p:sp>
      <p:sp>
        <p:nvSpPr>
          <p:cNvPr id="5" name="circle_7680960"/>
          <p:cNvSpPr/>
          <p:nvPr/>
        </p:nvSpPr>
        <p:spPr>
          <a:xfrm>
            <a:off x="7166610" y="1645920"/>
            <a:ext cx="1028700" cy="1028700"/>
          </a:xfrm>
          <a:prstGeom prst="ellipse">
            <a:avLst/>
          </a:prstGeom>
          <a:solidFill>
            <a:srgbClr val="00D4FF">
              <a:alpha val="30000"/>
            </a:srgbClr>
          </a:solidFill>
          <a:ln w="12700">
            <a:solidFill>
              <a:srgbClr val="00D4FF">
                <a:alpha val="30000"/>
              </a:srgbClr>
            </a:solidFill>
          </a:ln>
        </p:spPr>
      </p:sp>
      <p:sp>
        <p:nvSpPr>
          <p:cNvPr id="6" name="circle_5029200"/>
          <p:cNvSpPr/>
          <p:nvPr/>
        </p:nvSpPr>
        <p:spPr>
          <a:xfrm>
            <a:off x="5011200" y="599220"/>
            <a:ext cx="36000" cy="36000"/>
          </a:xfrm>
          <a:prstGeom prst="ellipse">
            <a:avLst/>
          </a:prstGeom>
          <a:solidFill>
            <a:srgbClr val="00D4FF">
              <a:alpha val="50000"/>
            </a:srgbClr>
          </a:solidFill>
          <a:ln w="12700">
            <a:solidFill>
              <a:srgbClr val="00D4FF">
                <a:alpha val="50000"/>
              </a:srgbClr>
            </a:solidFill>
          </a:ln>
        </p:spPr>
      </p:sp>
      <p:sp>
        <p:nvSpPr>
          <p:cNvPr id="7" name="circle_5669280"/>
          <p:cNvSpPr/>
          <p:nvPr/>
        </p:nvSpPr>
        <p:spPr>
          <a:xfrm>
            <a:off x="5657280" y="4359975"/>
            <a:ext cx="24000" cy="24000"/>
          </a:xfrm>
          <a:prstGeom prst="ellipse">
            <a:avLst/>
          </a:prstGeom>
          <a:solidFill>
            <a:srgbClr val="00D4FF">
              <a:alpha val="40000"/>
            </a:srgbClr>
          </a:solidFill>
          <a:ln w="12700">
            <a:solidFill>
              <a:srgbClr val="00D4FF">
                <a:alpha val="40000"/>
              </a:srgbClr>
            </a:solidFill>
          </a:ln>
        </p:spPr>
      </p:sp>
      <p:sp>
        <p:nvSpPr>
          <p:cNvPr id="8" name="circle_6583680"/>
          <p:cNvSpPr/>
          <p:nvPr/>
        </p:nvSpPr>
        <p:spPr>
          <a:xfrm>
            <a:off x="6573680" y="761525"/>
            <a:ext cx="20000" cy="20000"/>
          </a:xfrm>
          <a:prstGeom prst="ellipse">
            <a:avLst/>
          </a:prstGeom>
          <a:solidFill>
            <a:srgbClr val="FFFFFF">
              <a:alpha val="20000"/>
            </a:srgbClr>
          </a:solidFill>
          <a:ln w="12700">
            <a:solidFill>
              <a:srgbClr val="FFFFFF">
                <a:alpha val="20000"/>
              </a:srgbClr>
            </a:solidFill>
          </a:ln>
        </p:spPr>
      </p:sp>
      <p:sp>
        <p:nvSpPr>
          <p:cNvPr id="9" name="circle_8229600"/>
          <p:cNvSpPr/>
          <p:nvPr/>
        </p:nvSpPr>
        <p:spPr>
          <a:xfrm>
            <a:off x="8209600" y="3991930"/>
            <a:ext cx="40000" cy="40000"/>
          </a:xfrm>
          <a:prstGeom prst="ellipse">
            <a:avLst/>
          </a:prstGeom>
          <a:solidFill>
            <a:srgbClr val="00D4FF">
              <a:alpha val="30000"/>
            </a:srgbClr>
          </a:solidFill>
          <a:ln w="12700">
            <a:solidFill>
              <a:srgbClr val="00D4FF">
                <a:alpha val="30000"/>
              </a:srgbClr>
            </a:solidFill>
          </a:ln>
        </p:spPr>
      </p:sp>
      <p:sp>
        <p:nvSpPr>
          <p:cNvPr id="910" name="shield"/>
          <p:cNvSpPr/>
          <p:nvPr/>
        </p:nvSpPr>
        <p:spPr>
          <a:xfrm>
            <a:off x="6858000" y="822960"/>
            <a:ext cx="1645920" cy="2674620"/>
          </a:xfrm>
          <a:prstGeom prst="line">
            <a:avLst/>
          </a:prstGeom>
          <a:solidFill>
            <a:srgbClr val="00D4FF">
              <a:alpha val="15000"/>
            </a:srgbClr>
          </a:solidFill>
          <a:ln w="38100">
            <a:solidFill>
              <a:srgbClr val="00D4FF">
                <a:alpha val="80000"/>
              </a:srgbClr>
            </a:solidFill>
            <a:prstDash val="solid"/>
          </a:ln>
        </p:spPr>
      </p:sp>
      <p:sp>
        <p:nvSpPr>
          <p:cNvPr id="911" name="shield_inner"/>
          <p:cNvSpPr/>
          <p:nvPr/>
        </p:nvSpPr>
        <p:spPr>
          <a:xfrm>
            <a:off x="7146036" y="1291019"/>
            <a:ext cx="1069848" cy="1738503"/>
          </a:xfrm>
          <a:prstGeom prst="line">
            <a:avLst/>
          </a:prstGeom>
          <a:noFill/>
          <a:ln w="19050">
            <a:solidFill>
              <a:srgbClr val="FFFFFF">
                <a:alpha val="30000"/>
              </a:srgbClr>
            </a:solidFill>
            <a:prstDash val="solid"/>
          </a:ln>
        </p:spPr>
      </p:sp>
      <p:sp>
        <p:nvSpPr>
          <p:cNvPr id="912" name="lockbody"/>
          <p:cNvSpPr/>
          <p:nvPr/>
        </p:nvSpPr>
        <p:spPr>
          <a:xfrm>
            <a:off x="7452360" y="1903095"/>
            <a:ext cx="457200" cy="462915"/>
          </a:xfrm>
          <a:prstGeom prst="roundRect">
            <a:avLst>
              <a:gd name="adj" fmla="val 20000"/>
            </a:avLst>
          </a:prstGeom>
          <a:solidFill>
            <a:srgbClr val="00D4FF">
              <a:alpha val="90000"/>
            </a:srgbClr>
          </a:solidFill>
          <a:ln>
            <a:noFill/>
          </a:ln>
        </p:spPr>
      </p:sp>
      <p:sp>
        <p:nvSpPr>
          <p:cNvPr id="913" name="shackle"/>
          <p:cNvSpPr/>
          <p:nvPr/>
        </p:nvSpPr>
        <p:spPr>
          <a:xfrm>
            <a:off x="7626096" y="1648492"/>
            <a:ext cx="109728" cy="300894"/>
          </a:xfrm>
          <a:prstGeom prst="ellipse">
            <a:avLst/>
          </a:prstGeom>
          <a:noFill/>
          <a:ln w="22860">
            <a:solidFill>
              <a:srgbClr val="00D4FF"/>
            </a:solidFill>
          </a:ln>
        </p:spPr>
      </p:sp>
      <p:sp>
        <p:nvSpPr>
          <p:cNvPr id="10" name="rect_001F6E"/>
          <p:cNvSpPr/>
          <p:nvPr/>
        </p:nvSpPr>
        <p:spPr>
          <a:xfrm>
            <a:off x="502920" y="514350"/>
            <a:ext cx="1645920" cy="370332"/>
          </a:xfrm>
          <a:prstGeom prst="rect">
            <a:avLst/>
          </a:prstGeom>
          <a:solidFill>
            <a:srgbClr val="001F6E"/>
          </a:solidFill>
          <a:ln>
            <a:noFill/>
          </a:ln>
        </p:spPr>
      </p:sp>
      <p:sp>
        <p:nvSpPr>
          <p:cNvPr id="901" name="txt_MINOR PR"/>
          <p:cNvSpPr txBox="1"/>
          <p:nvPr/>
        </p:nvSpPr>
        <p:spPr>
          <a:xfrm>
            <a:off x="594360" y="555498"/>
            <a:ext cx="1554480" cy="282892"/>
          </a:xfrm>
          <a:prstGeom prst="rect">
            <a:avLst/>
          </a:prstGeom>
          <a:noFill/>
          <a:ln>
            <a:noFill/>
          </a:ln>
        </p:spPr>
        <p:txBody>
          <a:bodyPr wrap="square" rtlCol="0" anchor="ctr">
            <a:normAutofit fontScale="77500" lnSpcReduction="20000"/>
          </a:bodyPr>
          <a:lstStyle/>
          <a:p>
            <a:pPr marL="0" indent="0" algn="l">
              <a:buNone/>
            </a:pPr>
            <a:r>
              <a:rPr lang="en-US" sz="900" b="1" kern="0" spc="300" dirty="0">
                <a:solidFill>
                  <a:srgbClr val="00D4FF"/>
                </a:solidFill>
                <a:latin typeface="Calibri" pitchFamily="34" charset="0"/>
              </a:rPr>
              <a:t>MINOR PROJECT — I</a:t>
            </a:r>
          </a:p>
        </p:txBody>
      </p:sp>
      <p:sp>
        <p:nvSpPr>
          <p:cNvPr id="11" name="txt_CYBERSEC"/>
          <p:cNvSpPr txBox="1"/>
          <p:nvPr/>
        </p:nvSpPr>
        <p:spPr>
          <a:xfrm>
            <a:off x="502920" y="1157287"/>
            <a:ext cx="5486400" cy="1028700"/>
          </a:xfrm>
          <a:prstGeom prst="rect">
            <a:avLst/>
          </a:prstGeom>
          <a:noFill/>
          <a:ln>
            <a:noFill/>
          </a:ln>
        </p:spPr>
        <p:txBody>
          <a:bodyPr wrap="square" rtlCol="0" anchor="ctr">
            <a:normAutofit/>
          </a:bodyPr>
          <a:lstStyle/>
          <a:p>
            <a:pPr marL="0" indent="0" algn="l">
              <a:buNone/>
            </a:pPr>
            <a:r>
              <a:rPr lang="en-US" sz="5400" b="1" kern="0" spc="300" dirty="0">
                <a:solidFill>
                  <a:srgbClr val="00D4FF"/>
                </a:solidFill>
                <a:latin typeface="Calibri Light" pitchFamily="34" charset="0"/>
              </a:rPr>
              <a:t>CYBERSECURITY</a:t>
            </a:r>
          </a:p>
        </p:txBody>
      </p:sp>
      <p:sp>
        <p:nvSpPr>
          <p:cNvPr id="12" name="txt_Risk Ass"/>
          <p:cNvSpPr txBox="1"/>
          <p:nvPr/>
        </p:nvSpPr>
        <p:spPr>
          <a:xfrm>
            <a:off x="502920" y="2288857"/>
            <a:ext cx="5486400" cy="617220"/>
          </a:xfrm>
          <a:prstGeom prst="rect">
            <a:avLst/>
          </a:prstGeom>
          <a:noFill/>
          <a:ln>
            <a:noFill/>
          </a:ln>
        </p:spPr>
        <p:txBody>
          <a:bodyPr wrap="square" rtlCol="0" anchor="ctr">
            <a:normAutofit/>
          </a:bodyPr>
          <a:lstStyle/>
          <a:p>
            <a:pPr marL="0" indent="0" algn="l">
              <a:buNone/>
            </a:pPr>
            <a:r>
              <a:rPr lang="en-US" sz="2800" b="0" kern="0" spc="100" dirty="0">
                <a:solidFill>
                  <a:srgbClr val="FFFFFF"/>
                </a:solidFill>
                <a:latin typeface="Calibri" pitchFamily="34" charset="0"/>
              </a:rPr>
              <a:t>Risk Assessment Framework</a:t>
            </a:r>
          </a:p>
        </p:txBody>
      </p:sp>
      <p:sp>
        <p:nvSpPr>
          <p:cNvPr id="13" name="txt_for Smal"/>
          <p:cNvSpPr txBox="1"/>
          <p:nvPr/>
        </p:nvSpPr>
        <p:spPr>
          <a:xfrm>
            <a:off x="502920" y="2906077"/>
            <a:ext cx="5486400" cy="462915"/>
          </a:xfrm>
          <a:prstGeom prst="rect">
            <a:avLst/>
          </a:prstGeom>
          <a:noFill/>
          <a:ln>
            <a:noFill/>
          </a:ln>
        </p:spPr>
        <p:txBody>
          <a:bodyPr wrap="square" rtlCol="0" anchor="ctr">
            <a:normAutofit/>
          </a:bodyPr>
          <a:lstStyle/>
          <a:p>
            <a:pPr marL="0" indent="0" algn="l">
              <a:buNone/>
            </a:pPr>
            <a:r>
              <a:rPr lang="en-US" sz="2000" b="0" kern="0" dirty="0">
                <a:solidFill>
                  <a:srgbClr val="7EC8E3"/>
                </a:solidFill>
                <a:latin typeface="Calibri" pitchFamily="34" charset="0"/>
              </a:rPr>
              <a:t>for Small Businesses</a:t>
            </a:r>
          </a:p>
        </p:txBody>
      </p:sp>
      <p:sp>
        <p:nvSpPr>
          <p:cNvPr id="14" name="rect_00D4FF"/>
          <p:cNvSpPr/>
          <p:nvPr/>
        </p:nvSpPr>
        <p:spPr>
          <a:xfrm>
            <a:off x="502920" y="3523297"/>
            <a:ext cx="3474720" cy="25717"/>
          </a:xfrm>
          <a:prstGeom prst="rect">
            <a:avLst/>
          </a:prstGeom>
          <a:solidFill>
            <a:srgbClr val="00D4FF"/>
          </a:solidFill>
          <a:ln>
            <a:noFill/>
          </a:ln>
        </p:spPr>
      </p:sp>
      <p:sp>
        <p:nvSpPr>
          <p:cNvPr id="15" name="txt_Presente"/>
          <p:cNvSpPr txBox="1"/>
          <p:nvPr/>
        </p:nvSpPr>
        <p:spPr>
          <a:xfrm>
            <a:off x="502920" y="3677602"/>
            <a:ext cx="5486400" cy="360045"/>
          </a:xfrm>
          <a:prstGeom prst="rect">
            <a:avLst/>
          </a:prstGeom>
          <a:noFill/>
          <a:ln>
            <a:noFill/>
          </a:ln>
        </p:spPr>
        <p:txBody>
          <a:bodyPr wrap="square" rtlCol="0" anchor="ctr">
            <a:normAutofit/>
          </a:bodyPr>
          <a:lstStyle/>
          <a:p>
            <a:pPr marL="0" indent="0" algn="l">
              <a:buNone/>
            </a:pPr>
            <a:r>
              <a:rPr lang="en-US" sz="1200" b="1" kern="0" dirty="0">
                <a:solidFill>
                  <a:srgbClr val="FFFFFF"/>
                </a:solidFill>
                <a:latin typeface="Calibri" pitchFamily="34" charset="0"/>
              </a:rPr>
              <a:t>Presented by: Himanshu Soni</a:t>
            </a:r>
          </a:p>
        </p:txBody>
      </p:sp>
      <p:sp>
        <p:nvSpPr>
          <p:cNvPr id="16" name="rect_001040"/>
          <p:cNvSpPr/>
          <p:nvPr/>
        </p:nvSpPr>
        <p:spPr>
          <a:xfrm>
            <a:off x="0" y="4526280"/>
            <a:ext cx="9144000" cy="617220"/>
          </a:xfrm>
          <a:prstGeom prst="rect">
            <a:avLst/>
          </a:prstGeom>
          <a:solidFill>
            <a:srgbClr val="001040"/>
          </a:solidFill>
          <a:ln>
            <a:noFill/>
          </a:ln>
        </p:spPr>
      </p:sp>
      <p:sp>
        <p:nvSpPr>
          <p:cNvPr id="17" name="rect_00D4FF"/>
          <p:cNvSpPr/>
          <p:nvPr/>
        </p:nvSpPr>
        <p:spPr>
          <a:xfrm>
            <a:off x="0" y="4526280"/>
            <a:ext cx="64008" cy="617220"/>
          </a:xfrm>
          <a:prstGeom prst="rect">
            <a:avLst/>
          </a:prstGeom>
          <a:solidFill>
            <a:srgbClr val="00D4FF"/>
          </a:solidFill>
          <a:ln>
            <a:noFill/>
          </a:ln>
        </p:spPr>
      </p:sp>
      <p:sp>
        <p:nvSpPr>
          <p:cNvPr id="18" name="txt_Cybersec"/>
          <p:cNvSpPr txBox="1"/>
          <p:nvPr/>
        </p:nvSpPr>
        <p:spPr>
          <a:xfrm>
            <a:off x="502920" y="4603432"/>
            <a:ext cx="4572000" cy="308610"/>
          </a:xfrm>
          <a:prstGeom prst="rect">
            <a:avLst/>
          </a:prstGeom>
          <a:noFill/>
          <a:ln>
            <a:noFill/>
          </a:ln>
        </p:spPr>
        <p:txBody>
          <a:bodyPr wrap="square" rtlCol="0" anchor="ctr">
            <a:normAutofit/>
          </a:bodyPr>
          <a:lstStyle/>
          <a:p>
            <a:pPr marL="0" indent="0" algn="l">
              <a:buNone/>
            </a:pPr>
            <a:r>
              <a:rPr lang="en-US" sz="900" b="0" kern="0" dirty="0">
                <a:solidFill>
                  <a:srgbClr val="7EC8E3"/>
                </a:solidFill>
                <a:latin typeface="Calibri" pitchFamily="34" charset="0"/>
              </a:rPr>
              <a:t>Cybersecurity  ·  Risk Management  </a:t>
            </a:r>
            <a:r>
              <a:rPr lang="en-US" sz="900" b="0" kern="0">
                <a:solidFill>
                  <a:srgbClr val="7EC8E3"/>
                </a:solidFill>
                <a:latin typeface="Calibri" pitchFamily="34" charset="0"/>
              </a:rPr>
              <a:t>·  </a:t>
            </a:r>
            <a:r>
              <a:rPr lang="en-US" sz="900" b="0" kern="0" smtClean="0">
                <a:solidFill>
                  <a:srgbClr val="7EC8E3"/>
                </a:solidFill>
                <a:latin typeface="Calibri" pitchFamily="34" charset="0"/>
              </a:rPr>
              <a:t>2026</a:t>
            </a:r>
            <a:endParaRPr lang="en-US" sz="900" b="0" kern="0" dirty="0">
              <a:solidFill>
                <a:srgbClr val="7EC8E3"/>
              </a:solidFill>
              <a:latin typeface="Calibri" pitchFamily="34" charset="0"/>
            </a:endParaRPr>
          </a:p>
        </p:txBody>
      </p:sp>
      <p:sp>
        <p:nvSpPr>
          <p:cNvPr id="19" name="txt_CONFIDEN"/>
          <p:cNvSpPr txBox="1"/>
          <p:nvPr/>
        </p:nvSpPr>
        <p:spPr>
          <a:xfrm>
            <a:off x="5486400" y="4603432"/>
            <a:ext cx="3200400" cy="308610"/>
          </a:xfrm>
          <a:prstGeom prst="rect">
            <a:avLst/>
          </a:prstGeom>
          <a:noFill/>
          <a:ln>
            <a:noFill/>
          </a:ln>
        </p:spPr>
        <p:txBody>
          <a:bodyPr wrap="square" rtlCol="0" anchor="ctr">
            <a:normAutofit/>
          </a:bodyPr>
          <a:lstStyle/>
          <a:p>
            <a:pPr marL="0" indent="0" algn="r">
              <a:buNone/>
            </a:pPr>
            <a:r>
              <a:rPr lang="en-US" sz="900" b="1" kern="0" spc="400" dirty="0">
                <a:solidFill>
                  <a:srgbClr val="00D4FF"/>
                </a:solidFill>
                <a:latin typeface="Calibri" pitchFamily="34" charset="0"/>
              </a:rPr>
              <a:t>CONFIDENTIAL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60E2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r0"/>
          <p:cNvSpPr/>
          <p:nvPr/>
        </p:nvSpPr>
        <p:spPr>
          <a:xfrm>
            <a:off x="0" y="0"/>
            <a:ext cx="64008" cy="5143500"/>
          </a:xfrm>
          <a:prstGeom prst="rect">
            <a:avLst/>
          </a:prstGeom>
          <a:solidFill>
            <a:srgbClr val="00D4FF"/>
          </a:solidFill>
          <a:ln>
            <a:noFill/>
          </a:ln>
        </p:spPr>
      </p:sp>
      <p:sp>
        <p:nvSpPr>
          <p:cNvPr id="2" name="r0"/>
          <p:cNvSpPr/>
          <p:nvPr/>
        </p:nvSpPr>
        <p:spPr>
          <a:xfrm>
            <a:off x="0" y="0"/>
            <a:ext cx="9144000" cy="41148"/>
          </a:xfrm>
          <a:prstGeom prst="rect">
            <a:avLst/>
          </a:prstGeom>
          <a:solidFill>
            <a:srgbClr val="00D4FF">
              <a:alpha val="40000"/>
            </a:srgbClr>
          </a:solidFill>
          <a:ln>
            <a:noFill/>
          </a:ln>
        </p:spPr>
      </p:sp>
      <p:sp>
        <p:nvSpPr>
          <p:cNvPr id="3" name="r0"/>
          <p:cNvSpPr/>
          <p:nvPr/>
        </p:nvSpPr>
        <p:spPr>
          <a:xfrm>
            <a:off x="0" y="4526280"/>
            <a:ext cx="9144000" cy="617220"/>
          </a:xfrm>
          <a:prstGeom prst="rect">
            <a:avLst/>
          </a:prstGeom>
          <a:solidFill>
            <a:srgbClr val="001040"/>
          </a:solidFill>
          <a:ln>
            <a:noFill/>
          </a:ln>
        </p:spPr>
      </p:sp>
      <p:sp>
        <p:nvSpPr>
          <p:cNvPr id="4" name="r0"/>
          <p:cNvSpPr/>
          <p:nvPr/>
        </p:nvSpPr>
        <p:spPr>
          <a:xfrm>
            <a:off x="0" y="4526280"/>
            <a:ext cx="64008" cy="617220"/>
          </a:xfrm>
          <a:prstGeom prst="rect">
            <a:avLst/>
          </a:prstGeom>
          <a:solidFill>
            <a:srgbClr val="00D4FF"/>
          </a:solidFill>
          <a:ln>
            <a:noFill/>
          </a:ln>
        </p:spPr>
      </p:sp>
      <p:sp>
        <p:nvSpPr>
          <p:cNvPr id="5" name="r182880"/>
          <p:cNvSpPr/>
          <p:nvPr/>
        </p:nvSpPr>
        <p:spPr>
          <a:xfrm>
            <a:off x="182880" y="308610"/>
            <a:ext cx="8778240" cy="668655"/>
          </a:xfrm>
          <a:prstGeom prst="rect">
            <a:avLst/>
          </a:prstGeom>
          <a:solidFill>
            <a:srgbClr val="0A1640"/>
          </a:solidFill>
          <a:ln>
            <a:noFill/>
          </a:ln>
        </p:spPr>
      </p:sp>
      <p:sp>
        <p:nvSpPr>
          <p:cNvPr id="51" name="t457200"/>
          <p:cNvSpPr txBox="1"/>
          <p:nvPr/>
        </p:nvSpPr>
        <p:spPr>
          <a:xfrm>
            <a:off x="457200" y="334327"/>
            <a:ext cx="8046720" cy="617220"/>
          </a:xfrm>
          <a:prstGeom prst="rect">
            <a:avLst/>
          </a:prstGeom>
          <a:noFill/>
          <a:ln>
            <a:noFill/>
          </a:ln>
        </p:spPr>
        <p:txBody>
          <a:bodyPr wrap="square" rtlCol="0" anchor="ctr">
            <a:normAutofit/>
          </a:bodyPr>
          <a:lstStyle/>
          <a:p>
            <a:pPr marL="0" indent="0" algn="l">
              <a:buNone/>
            </a:pPr>
            <a:r>
              <a:rPr lang="en-US" sz="2200" b="1" kern="0" spc="200" dirty="0">
                <a:solidFill>
                  <a:srgbClr val="00D4FF"/>
                </a:solidFill>
                <a:latin typeface="Calibri" pitchFamily="34" charset="0"/>
              </a:rPr>
              <a:t>Table of Contents</a:t>
            </a:r>
          </a:p>
        </p:txBody>
      </p:sp>
      <p:sp>
        <p:nvSpPr>
          <p:cNvPr id="6" name="r365760"/>
          <p:cNvSpPr/>
          <p:nvPr/>
        </p:nvSpPr>
        <p:spPr>
          <a:xfrm>
            <a:off x="365760" y="1388745"/>
            <a:ext cx="4114800" cy="874395"/>
          </a:xfrm>
          <a:prstGeom prst="rect">
            <a:avLst/>
          </a:prstGeom>
          <a:solidFill>
            <a:srgbClr val="0A1640"/>
          </a:solidFill>
          <a:ln>
            <a:noFill/>
          </a:ln>
        </p:spPr>
      </p:sp>
      <p:sp>
        <p:nvSpPr>
          <p:cNvPr id="7" name="r365760"/>
          <p:cNvSpPr/>
          <p:nvPr/>
        </p:nvSpPr>
        <p:spPr>
          <a:xfrm>
            <a:off x="365760" y="1388745"/>
            <a:ext cx="64008" cy="874395"/>
          </a:xfrm>
          <a:prstGeom prst="rect">
            <a:avLst/>
          </a:prstGeom>
          <a:solidFill>
            <a:srgbClr val="00D4FF"/>
          </a:solidFill>
          <a:ln>
            <a:noFill/>
          </a:ln>
        </p:spPr>
      </p:sp>
      <p:sp>
        <p:nvSpPr>
          <p:cNvPr id="8" name="t502920"/>
          <p:cNvSpPr txBox="1"/>
          <p:nvPr/>
        </p:nvSpPr>
        <p:spPr>
          <a:xfrm>
            <a:off x="502920" y="1465897"/>
            <a:ext cx="548640" cy="360045"/>
          </a:xfrm>
          <a:prstGeom prst="rect">
            <a:avLst/>
          </a:prstGeom>
          <a:noFill/>
          <a:ln>
            <a:noFill/>
          </a:ln>
        </p:spPr>
        <p:txBody>
          <a:bodyPr wrap="square" rtlCol="0" anchor="ctr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2000" b="1" kern="0" dirty="0">
                <a:solidFill>
                  <a:srgbClr val="00D4FF"/>
                </a:solidFill>
                <a:latin typeface="Calibri" pitchFamily="34" charset="0"/>
              </a:rPr>
              <a:t>01</a:t>
            </a:r>
          </a:p>
        </p:txBody>
      </p:sp>
      <p:sp>
        <p:nvSpPr>
          <p:cNvPr id="9" name="t1051560"/>
          <p:cNvSpPr txBox="1"/>
          <p:nvPr/>
        </p:nvSpPr>
        <p:spPr>
          <a:xfrm>
            <a:off x="1051560" y="1440180"/>
            <a:ext cx="3291840" cy="437197"/>
          </a:xfrm>
          <a:prstGeom prst="rect">
            <a:avLst/>
          </a:prstGeom>
          <a:noFill/>
          <a:ln>
            <a:noFill/>
          </a:ln>
        </p:spPr>
        <p:txBody>
          <a:bodyPr wrap="square" rtlCol="0" anchor="ctr">
            <a:normAutofit/>
          </a:bodyPr>
          <a:lstStyle/>
          <a:p>
            <a:pPr marL="0" indent="0" algn="l">
              <a:buNone/>
            </a:pPr>
            <a:r>
              <a:rPr lang="en-US" sz="1300" b="1" kern="0" dirty="0">
                <a:solidFill>
                  <a:srgbClr val="FFFFFF"/>
                </a:solidFill>
                <a:latin typeface="Calibri" pitchFamily="34" charset="0"/>
              </a:rPr>
              <a:t>Introduction &amp; Background</a:t>
            </a:r>
          </a:p>
        </p:txBody>
      </p:sp>
      <p:sp>
        <p:nvSpPr>
          <p:cNvPr id="10" name="t1051560"/>
          <p:cNvSpPr txBox="1"/>
          <p:nvPr/>
        </p:nvSpPr>
        <p:spPr>
          <a:xfrm>
            <a:off x="1051560" y="1851660"/>
            <a:ext cx="3291840" cy="360045"/>
          </a:xfrm>
          <a:prstGeom prst="rect">
            <a:avLst/>
          </a:prstGeom>
          <a:noFill/>
          <a:ln>
            <a:noFill/>
          </a:ln>
        </p:spPr>
        <p:txBody>
          <a:bodyPr wrap="square" rtlCol="0" anchor="ctr">
            <a:normAutofit/>
          </a:bodyPr>
          <a:lstStyle/>
          <a:p>
            <a:pPr marL="0" indent="0" algn="l">
              <a:buNone/>
            </a:pPr>
            <a:r>
              <a:rPr lang="en-US" sz="900" b="0" kern="0" dirty="0">
                <a:solidFill>
                  <a:srgbClr val="7EC8E3"/>
                </a:solidFill>
                <a:latin typeface="Calibri" pitchFamily="34" charset="0"/>
              </a:rPr>
              <a:t>What is Cybersecurity · What are SMEs</a:t>
            </a:r>
          </a:p>
        </p:txBody>
      </p:sp>
      <p:sp>
        <p:nvSpPr>
          <p:cNvPr id="11" name="r365760"/>
          <p:cNvSpPr/>
          <p:nvPr/>
        </p:nvSpPr>
        <p:spPr>
          <a:xfrm>
            <a:off x="365760" y="2417445"/>
            <a:ext cx="4114800" cy="874395"/>
          </a:xfrm>
          <a:prstGeom prst="rect">
            <a:avLst/>
          </a:prstGeom>
          <a:solidFill>
            <a:srgbClr val="0A1640"/>
          </a:solidFill>
          <a:ln>
            <a:noFill/>
          </a:ln>
        </p:spPr>
      </p:sp>
      <p:sp>
        <p:nvSpPr>
          <p:cNvPr id="12" name="r365760"/>
          <p:cNvSpPr/>
          <p:nvPr/>
        </p:nvSpPr>
        <p:spPr>
          <a:xfrm>
            <a:off x="365760" y="2417445"/>
            <a:ext cx="64008" cy="874395"/>
          </a:xfrm>
          <a:prstGeom prst="rect">
            <a:avLst/>
          </a:prstGeom>
          <a:solidFill>
            <a:srgbClr val="00D4FF"/>
          </a:solidFill>
          <a:ln>
            <a:noFill/>
          </a:ln>
        </p:spPr>
      </p:sp>
      <p:sp>
        <p:nvSpPr>
          <p:cNvPr id="13" name="t502920"/>
          <p:cNvSpPr txBox="1"/>
          <p:nvPr/>
        </p:nvSpPr>
        <p:spPr>
          <a:xfrm>
            <a:off x="502920" y="2494597"/>
            <a:ext cx="548640" cy="360045"/>
          </a:xfrm>
          <a:prstGeom prst="rect">
            <a:avLst/>
          </a:prstGeom>
          <a:noFill/>
          <a:ln>
            <a:noFill/>
          </a:ln>
        </p:spPr>
        <p:txBody>
          <a:bodyPr wrap="square" rtlCol="0" anchor="ctr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2000" b="1" kern="0" dirty="0">
                <a:solidFill>
                  <a:srgbClr val="00D4FF"/>
                </a:solidFill>
                <a:latin typeface="Calibri" pitchFamily="34" charset="0"/>
              </a:rPr>
              <a:t>02</a:t>
            </a:r>
          </a:p>
        </p:txBody>
      </p:sp>
      <p:sp>
        <p:nvSpPr>
          <p:cNvPr id="14" name="t1051560"/>
          <p:cNvSpPr txBox="1"/>
          <p:nvPr/>
        </p:nvSpPr>
        <p:spPr>
          <a:xfrm>
            <a:off x="1051560" y="2468880"/>
            <a:ext cx="3291840" cy="437197"/>
          </a:xfrm>
          <a:prstGeom prst="rect">
            <a:avLst/>
          </a:prstGeom>
          <a:noFill/>
          <a:ln>
            <a:noFill/>
          </a:ln>
        </p:spPr>
        <p:txBody>
          <a:bodyPr wrap="square" rtlCol="0" anchor="ctr">
            <a:normAutofit/>
          </a:bodyPr>
          <a:lstStyle/>
          <a:p>
            <a:pPr marL="0" indent="0" algn="l">
              <a:buNone/>
            </a:pPr>
            <a:r>
              <a:rPr lang="en-US" sz="1300" b="1" kern="0" dirty="0">
                <a:solidFill>
                  <a:srgbClr val="FFFFFF"/>
                </a:solidFill>
                <a:latin typeface="Calibri" pitchFamily="34" charset="0"/>
              </a:rPr>
              <a:t>Cybersecurity Risks</a:t>
            </a:r>
          </a:p>
        </p:txBody>
      </p:sp>
      <p:sp>
        <p:nvSpPr>
          <p:cNvPr id="15" name="t1051560"/>
          <p:cNvSpPr txBox="1"/>
          <p:nvPr/>
        </p:nvSpPr>
        <p:spPr>
          <a:xfrm>
            <a:off x="1051560" y="2880360"/>
            <a:ext cx="3291840" cy="360045"/>
          </a:xfrm>
          <a:prstGeom prst="rect">
            <a:avLst/>
          </a:prstGeom>
          <a:noFill/>
          <a:ln>
            <a:noFill/>
          </a:ln>
        </p:spPr>
        <p:txBody>
          <a:bodyPr wrap="square" rtlCol="0" anchor="ctr">
            <a:normAutofit/>
          </a:bodyPr>
          <a:lstStyle/>
          <a:p>
            <a:pPr marL="0" indent="0" algn="l">
              <a:buNone/>
            </a:pPr>
            <a:r>
              <a:rPr lang="en-US" sz="900" b="0" kern="0" dirty="0">
                <a:solidFill>
                  <a:srgbClr val="7EC8E3"/>
                </a:solidFill>
                <a:latin typeface="Calibri" pitchFamily="34" charset="0"/>
              </a:rPr>
              <a:t>Top 5 Threats · Impact on SMEs</a:t>
            </a:r>
          </a:p>
        </p:txBody>
      </p:sp>
      <p:sp>
        <p:nvSpPr>
          <p:cNvPr id="16" name="r365760"/>
          <p:cNvSpPr/>
          <p:nvPr/>
        </p:nvSpPr>
        <p:spPr>
          <a:xfrm>
            <a:off x="365760" y="3446145"/>
            <a:ext cx="4114800" cy="874395"/>
          </a:xfrm>
          <a:prstGeom prst="rect">
            <a:avLst/>
          </a:prstGeom>
          <a:solidFill>
            <a:srgbClr val="0A1640"/>
          </a:solidFill>
          <a:ln>
            <a:noFill/>
          </a:ln>
        </p:spPr>
      </p:sp>
      <p:sp>
        <p:nvSpPr>
          <p:cNvPr id="17" name="r365760"/>
          <p:cNvSpPr/>
          <p:nvPr/>
        </p:nvSpPr>
        <p:spPr>
          <a:xfrm>
            <a:off x="365760" y="3446145"/>
            <a:ext cx="64008" cy="874395"/>
          </a:xfrm>
          <a:prstGeom prst="rect">
            <a:avLst/>
          </a:prstGeom>
          <a:solidFill>
            <a:srgbClr val="00D4FF"/>
          </a:solidFill>
          <a:ln>
            <a:noFill/>
          </a:ln>
        </p:spPr>
      </p:sp>
      <p:sp>
        <p:nvSpPr>
          <p:cNvPr id="18" name="t502920"/>
          <p:cNvSpPr txBox="1"/>
          <p:nvPr/>
        </p:nvSpPr>
        <p:spPr>
          <a:xfrm>
            <a:off x="502920" y="3523297"/>
            <a:ext cx="548640" cy="360045"/>
          </a:xfrm>
          <a:prstGeom prst="rect">
            <a:avLst/>
          </a:prstGeom>
          <a:noFill/>
          <a:ln>
            <a:noFill/>
          </a:ln>
        </p:spPr>
        <p:txBody>
          <a:bodyPr wrap="square" rtlCol="0" anchor="ctr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2000" b="1" kern="0" dirty="0">
                <a:solidFill>
                  <a:srgbClr val="00D4FF"/>
                </a:solidFill>
                <a:latin typeface="Calibri" pitchFamily="34" charset="0"/>
              </a:rPr>
              <a:t>03</a:t>
            </a:r>
          </a:p>
        </p:txBody>
      </p:sp>
      <p:sp>
        <p:nvSpPr>
          <p:cNvPr id="19" name="t1051560"/>
          <p:cNvSpPr txBox="1"/>
          <p:nvPr/>
        </p:nvSpPr>
        <p:spPr>
          <a:xfrm>
            <a:off x="1051560" y="3497580"/>
            <a:ext cx="3291840" cy="437197"/>
          </a:xfrm>
          <a:prstGeom prst="rect">
            <a:avLst/>
          </a:prstGeom>
          <a:noFill/>
          <a:ln>
            <a:noFill/>
          </a:ln>
        </p:spPr>
        <p:txBody>
          <a:bodyPr wrap="square" rtlCol="0" anchor="ctr">
            <a:normAutofit/>
          </a:bodyPr>
          <a:lstStyle/>
          <a:p>
            <a:pPr marL="0" indent="0" algn="l">
              <a:buNone/>
            </a:pPr>
            <a:r>
              <a:rPr lang="en-US" sz="1300" b="1" kern="0" dirty="0">
                <a:solidFill>
                  <a:srgbClr val="FFFFFF"/>
                </a:solidFill>
                <a:latin typeface="Calibri" pitchFamily="34" charset="0"/>
              </a:rPr>
              <a:t>Risk Assessment Framework</a:t>
            </a:r>
          </a:p>
        </p:txBody>
      </p:sp>
      <p:sp>
        <p:nvSpPr>
          <p:cNvPr id="20" name="t1051560"/>
          <p:cNvSpPr txBox="1"/>
          <p:nvPr/>
        </p:nvSpPr>
        <p:spPr>
          <a:xfrm>
            <a:off x="1051560" y="3909060"/>
            <a:ext cx="3291840" cy="360045"/>
          </a:xfrm>
          <a:prstGeom prst="rect">
            <a:avLst/>
          </a:prstGeom>
          <a:noFill/>
          <a:ln>
            <a:noFill/>
          </a:ln>
        </p:spPr>
        <p:txBody>
          <a:bodyPr wrap="square" rtlCol="0" anchor="ctr">
            <a:normAutofit/>
          </a:bodyPr>
          <a:lstStyle/>
          <a:p>
            <a:pPr marL="0" indent="0" algn="l">
              <a:buNone/>
            </a:pPr>
            <a:r>
              <a:rPr lang="en-US" sz="900" b="0" kern="0" dirty="0">
                <a:solidFill>
                  <a:srgbClr val="7EC8E3"/>
                </a:solidFill>
                <a:latin typeface="Calibri" pitchFamily="34" charset="0"/>
              </a:rPr>
              <a:t>Model · Process · Evaluation Metric</a:t>
            </a:r>
          </a:p>
        </p:txBody>
      </p:sp>
      <p:sp>
        <p:nvSpPr>
          <p:cNvPr id="21" name="r4937760"/>
          <p:cNvSpPr/>
          <p:nvPr/>
        </p:nvSpPr>
        <p:spPr>
          <a:xfrm>
            <a:off x="4937760" y="1388745"/>
            <a:ext cx="4114800" cy="874395"/>
          </a:xfrm>
          <a:prstGeom prst="rect">
            <a:avLst/>
          </a:prstGeom>
          <a:solidFill>
            <a:srgbClr val="0A1640"/>
          </a:solidFill>
          <a:ln>
            <a:noFill/>
          </a:ln>
        </p:spPr>
      </p:sp>
      <p:sp>
        <p:nvSpPr>
          <p:cNvPr id="22" name="r4937760"/>
          <p:cNvSpPr/>
          <p:nvPr/>
        </p:nvSpPr>
        <p:spPr>
          <a:xfrm>
            <a:off x="4937760" y="1388745"/>
            <a:ext cx="64008" cy="874395"/>
          </a:xfrm>
          <a:prstGeom prst="rect">
            <a:avLst/>
          </a:prstGeom>
          <a:solidFill>
            <a:srgbClr val="00D4FF"/>
          </a:solidFill>
          <a:ln>
            <a:noFill/>
          </a:ln>
        </p:spPr>
      </p:sp>
      <p:sp>
        <p:nvSpPr>
          <p:cNvPr id="23" name="t5074920"/>
          <p:cNvSpPr txBox="1"/>
          <p:nvPr/>
        </p:nvSpPr>
        <p:spPr>
          <a:xfrm>
            <a:off x="5074920" y="1465897"/>
            <a:ext cx="548640" cy="360045"/>
          </a:xfrm>
          <a:prstGeom prst="rect">
            <a:avLst/>
          </a:prstGeom>
          <a:noFill/>
          <a:ln>
            <a:noFill/>
          </a:ln>
        </p:spPr>
        <p:txBody>
          <a:bodyPr wrap="square" rtlCol="0" anchor="ctr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2000" b="1" kern="0" dirty="0">
                <a:solidFill>
                  <a:srgbClr val="00D4FF"/>
                </a:solidFill>
                <a:latin typeface="Calibri" pitchFamily="34" charset="0"/>
              </a:rPr>
              <a:t>04</a:t>
            </a:r>
          </a:p>
        </p:txBody>
      </p:sp>
      <p:sp>
        <p:nvSpPr>
          <p:cNvPr id="24" name="t5623560"/>
          <p:cNvSpPr txBox="1"/>
          <p:nvPr/>
        </p:nvSpPr>
        <p:spPr>
          <a:xfrm>
            <a:off x="5623560" y="1440180"/>
            <a:ext cx="3291840" cy="437197"/>
          </a:xfrm>
          <a:prstGeom prst="rect">
            <a:avLst/>
          </a:prstGeom>
          <a:noFill/>
          <a:ln>
            <a:noFill/>
          </a:ln>
        </p:spPr>
        <p:txBody>
          <a:bodyPr wrap="square" rtlCol="0" anchor="ctr">
            <a:normAutofit/>
          </a:bodyPr>
          <a:lstStyle/>
          <a:p>
            <a:pPr marL="0" indent="0" algn="l">
              <a:buNone/>
            </a:pPr>
            <a:r>
              <a:rPr lang="en-US" sz="1300" b="1" kern="0" dirty="0">
                <a:solidFill>
                  <a:srgbClr val="FFFFFF"/>
                </a:solidFill>
                <a:latin typeface="Calibri" pitchFamily="34" charset="0"/>
              </a:rPr>
              <a:t>Mitigation Strategies</a:t>
            </a:r>
          </a:p>
        </p:txBody>
      </p:sp>
      <p:sp>
        <p:nvSpPr>
          <p:cNvPr id="25" name="t5623560"/>
          <p:cNvSpPr txBox="1"/>
          <p:nvPr/>
        </p:nvSpPr>
        <p:spPr>
          <a:xfrm>
            <a:off x="5623560" y="1851660"/>
            <a:ext cx="3291840" cy="360045"/>
          </a:xfrm>
          <a:prstGeom prst="rect">
            <a:avLst/>
          </a:prstGeom>
          <a:noFill/>
          <a:ln>
            <a:noFill/>
          </a:ln>
        </p:spPr>
        <p:txBody>
          <a:bodyPr wrap="square" rtlCol="0" anchor="ctr">
            <a:normAutofit/>
          </a:bodyPr>
          <a:lstStyle/>
          <a:p>
            <a:pPr marL="0" indent="0" algn="l">
              <a:buNone/>
            </a:pPr>
            <a:r>
              <a:rPr lang="en-US" sz="900" b="0" kern="0" dirty="0">
                <a:solidFill>
                  <a:srgbClr val="7EC8E3"/>
                </a:solidFill>
                <a:latin typeface="Calibri" pitchFamily="34" charset="0"/>
              </a:rPr>
              <a:t>Controls · Best Practices</a:t>
            </a:r>
          </a:p>
        </p:txBody>
      </p:sp>
      <p:sp>
        <p:nvSpPr>
          <p:cNvPr id="26" name="r4937760"/>
          <p:cNvSpPr/>
          <p:nvPr/>
        </p:nvSpPr>
        <p:spPr>
          <a:xfrm>
            <a:off x="4937760" y="2417445"/>
            <a:ext cx="4114800" cy="874395"/>
          </a:xfrm>
          <a:prstGeom prst="rect">
            <a:avLst/>
          </a:prstGeom>
          <a:solidFill>
            <a:srgbClr val="0A1640"/>
          </a:solidFill>
          <a:ln>
            <a:noFill/>
          </a:ln>
        </p:spPr>
      </p:sp>
      <p:sp>
        <p:nvSpPr>
          <p:cNvPr id="27" name="r4937760"/>
          <p:cNvSpPr/>
          <p:nvPr/>
        </p:nvSpPr>
        <p:spPr>
          <a:xfrm>
            <a:off x="4937760" y="2417445"/>
            <a:ext cx="64008" cy="874395"/>
          </a:xfrm>
          <a:prstGeom prst="rect">
            <a:avLst/>
          </a:prstGeom>
          <a:solidFill>
            <a:srgbClr val="00D4FF"/>
          </a:solidFill>
          <a:ln>
            <a:noFill/>
          </a:ln>
        </p:spPr>
      </p:sp>
      <p:sp>
        <p:nvSpPr>
          <p:cNvPr id="28" name="t5074920"/>
          <p:cNvSpPr txBox="1"/>
          <p:nvPr/>
        </p:nvSpPr>
        <p:spPr>
          <a:xfrm>
            <a:off x="5074920" y="2494597"/>
            <a:ext cx="548640" cy="360045"/>
          </a:xfrm>
          <a:prstGeom prst="rect">
            <a:avLst/>
          </a:prstGeom>
          <a:noFill/>
          <a:ln>
            <a:noFill/>
          </a:ln>
        </p:spPr>
        <p:txBody>
          <a:bodyPr wrap="square" rtlCol="0" anchor="ctr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2000" b="1" kern="0" dirty="0">
                <a:solidFill>
                  <a:srgbClr val="00D4FF"/>
                </a:solidFill>
                <a:latin typeface="Calibri" pitchFamily="34" charset="0"/>
              </a:rPr>
              <a:t>05</a:t>
            </a:r>
          </a:p>
        </p:txBody>
      </p:sp>
      <p:sp>
        <p:nvSpPr>
          <p:cNvPr id="29" name="t5623560"/>
          <p:cNvSpPr txBox="1"/>
          <p:nvPr/>
        </p:nvSpPr>
        <p:spPr>
          <a:xfrm>
            <a:off x="5623560" y="2468880"/>
            <a:ext cx="3291840" cy="437197"/>
          </a:xfrm>
          <a:prstGeom prst="rect">
            <a:avLst/>
          </a:prstGeom>
          <a:noFill/>
          <a:ln>
            <a:noFill/>
          </a:ln>
        </p:spPr>
        <p:txBody>
          <a:bodyPr wrap="square" rtlCol="0" anchor="ctr">
            <a:normAutofit/>
          </a:bodyPr>
          <a:lstStyle/>
          <a:p>
            <a:pPr marL="0" indent="0" algn="l">
              <a:buNone/>
            </a:pPr>
            <a:r>
              <a:rPr lang="en-US" sz="1300" b="1" kern="0" dirty="0">
                <a:solidFill>
                  <a:srgbClr val="FFFFFF"/>
                </a:solidFill>
                <a:latin typeface="Calibri" pitchFamily="34" charset="0"/>
              </a:rPr>
              <a:t>Case Studies &amp; Validation</a:t>
            </a:r>
          </a:p>
        </p:txBody>
      </p:sp>
      <p:sp>
        <p:nvSpPr>
          <p:cNvPr id="30" name="t5623560"/>
          <p:cNvSpPr txBox="1"/>
          <p:nvPr/>
        </p:nvSpPr>
        <p:spPr>
          <a:xfrm>
            <a:off x="5623560" y="2880360"/>
            <a:ext cx="3291840" cy="360045"/>
          </a:xfrm>
          <a:prstGeom prst="rect">
            <a:avLst/>
          </a:prstGeom>
          <a:noFill/>
          <a:ln>
            <a:noFill/>
          </a:ln>
        </p:spPr>
        <p:txBody>
          <a:bodyPr wrap="square" rtlCol="0" anchor="ctr">
            <a:normAutofit/>
          </a:bodyPr>
          <a:lstStyle/>
          <a:p>
            <a:pPr marL="0" indent="0" algn="l">
              <a:buNone/>
            </a:pPr>
            <a:r>
              <a:rPr lang="en-US" sz="900" b="0" kern="0" dirty="0">
                <a:solidFill>
                  <a:srgbClr val="7EC8E3"/>
                </a:solidFill>
                <a:latin typeface="Calibri" pitchFamily="34" charset="0"/>
              </a:rPr>
              <a:t>3 Real-World SME Case Studies</a:t>
            </a:r>
          </a:p>
        </p:txBody>
      </p:sp>
      <p:sp>
        <p:nvSpPr>
          <p:cNvPr id="31" name="r4937760"/>
          <p:cNvSpPr/>
          <p:nvPr/>
        </p:nvSpPr>
        <p:spPr>
          <a:xfrm>
            <a:off x="4937760" y="3446145"/>
            <a:ext cx="4114800" cy="874395"/>
          </a:xfrm>
          <a:prstGeom prst="rect">
            <a:avLst/>
          </a:prstGeom>
          <a:solidFill>
            <a:srgbClr val="0A1640"/>
          </a:solidFill>
          <a:ln>
            <a:noFill/>
          </a:ln>
        </p:spPr>
      </p:sp>
      <p:sp>
        <p:nvSpPr>
          <p:cNvPr id="32" name="r4937760"/>
          <p:cNvSpPr/>
          <p:nvPr/>
        </p:nvSpPr>
        <p:spPr>
          <a:xfrm>
            <a:off x="4937760" y="3446145"/>
            <a:ext cx="64008" cy="874395"/>
          </a:xfrm>
          <a:prstGeom prst="rect">
            <a:avLst/>
          </a:prstGeom>
          <a:solidFill>
            <a:srgbClr val="00D4FF"/>
          </a:solidFill>
          <a:ln>
            <a:noFill/>
          </a:ln>
        </p:spPr>
      </p:sp>
      <p:sp>
        <p:nvSpPr>
          <p:cNvPr id="33" name="t5074920"/>
          <p:cNvSpPr txBox="1"/>
          <p:nvPr/>
        </p:nvSpPr>
        <p:spPr>
          <a:xfrm>
            <a:off x="5074920" y="3523297"/>
            <a:ext cx="548640" cy="360045"/>
          </a:xfrm>
          <a:prstGeom prst="rect">
            <a:avLst/>
          </a:prstGeom>
          <a:noFill/>
          <a:ln>
            <a:noFill/>
          </a:ln>
        </p:spPr>
        <p:txBody>
          <a:bodyPr wrap="square" rtlCol="0" anchor="ctr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2000" b="1" kern="0" dirty="0">
                <a:solidFill>
                  <a:srgbClr val="00D4FF"/>
                </a:solidFill>
                <a:latin typeface="Calibri" pitchFamily="34" charset="0"/>
              </a:rPr>
              <a:t>06</a:t>
            </a:r>
          </a:p>
        </p:txBody>
      </p:sp>
      <p:sp>
        <p:nvSpPr>
          <p:cNvPr id="34" name="t5623560"/>
          <p:cNvSpPr txBox="1"/>
          <p:nvPr/>
        </p:nvSpPr>
        <p:spPr>
          <a:xfrm>
            <a:off x="5623560" y="3497580"/>
            <a:ext cx="3291840" cy="437197"/>
          </a:xfrm>
          <a:prstGeom prst="rect">
            <a:avLst/>
          </a:prstGeom>
          <a:noFill/>
          <a:ln>
            <a:noFill/>
          </a:ln>
        </p:spPr>
        <p:txBody>
          <a:bodyPr wrap="square" rtlCol="0" anchor="ctr">
            <a:normAutofit/>
          </a:bodyPr>
          <a:lstStyle/>
          <a:p>
            <a:pPr marL="0" indent="0" algn="l">
              <a:buNone/>
            </a:pPr>
            <a:r>
              <a:rPr lang="en-US" sz="1300" b="1" kern="0" dirty="0">
                <a:solidFill>
                  <a:srgbClr val="FFFFFF"/>
                </a:solidFill>
                <a:latin typeface="Calibri" pitchFamily="34" charset="0"/>
              </a:rPr>
              <a:t>Findings &amp; Conclusion</a:t>
            </a:r>
          </a:p>
        </p:txBody>
      </p:sp>
      <p:sp>
        <p:nvSpPr>
          <p:cNvPr id="35" name="t5623560"/>
          <p:cNvSpPr txBox="1"/>
          <p:nvPr/>
        </p:nvSpPr>
        <p:spPr>
          <a:xfrm>
            <a:off x="5623560" y="3909060"/>
            <a:ext cx="3291840" cy="360045"/>
          </a:xfrm>
          <a:prstGeom prst="rect">
            <a:avLst/>
          </a:prstGeom>
          <a:noFill/>
          <a:ln>
            <a:noFill/>
          </a:ln>
        </p:spPr>
        <p:txBody>
          <a:bodyPr wrap="square" rtlCol="0" anchor="ctr">
            <a:normAutofit/>
          </a:bodyPr>
          <a:lstStyle/>
          <a:p>
            <a:pPr marL="0" indent="0" algn="l">
              <a:buNone/>
            </a:pPr>
            <a:r>
              <a:rPr lang="en-US" sz="900" b="0" kern="0" dirty="0">
                <a:solidFill>
                  <a:srgbClr val="7EC8E3"/>
                </a:solidFill>
                <a:latin typeface="Calibri" pitchFamily="34" charset="0"/>
              </a:rPr>
              <a:t>Key Findings · Recommendations</a:t>
            </a:r>
          </a:p>
        </p:txBody>
      </p:sp>
      <p:sp>
        <p:nvSpPr>
          <p:cNvPr id="36" name="t365760"/>
          <p:cNvSpPr txBox="1"/>
          <p:nvPr/>
        </p:nvSpPr>
        <p:spPr>
          <a:xfrm>
            <a:off x="365760" y="4603432"/>
            <a:ext cx="5029200" cy="308610"/>
          </a:xfrm>
          <a:prstGeom prst="rect">
            <a:avLst/>
          </a:prstGeom>
          <a:noFill/>
          <a:ln>
            <a:noFill/>
          </a:ln>
        </p:spPr>
        <p:txBody>
          <a:bodyPr wrap="square" rtlCol="0" anchor="ctr">
            <a:normAutofit/>
          </a:bodyPr>
          <a:lstStyle/>
          <a:p>
            <a:pPr marL="0" indent="0" algn="l">
              <a:buNone/>
            </a:pPr>
            <a:r>
              <a:rPr lang="en-US" sz="900" b="0" kern="0" dirty="0">
                <a:solidFill>
                  <a:srgbClr val="7EC8E3"/>
                </a:solidFill>
                <a:latin typeface="Calibri" pitchFamily="34" charset="0"/>
              </a:rPr>
              <a:t>Cybersecurity Risk Assessment Framework  ·  Minor Project I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60E2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r0"/>
          <p:cNvSpPr/>
          <p:nvPr/>
        </p:nvSpPr>
        <p:spPr>
          <a:xfrm>
            <a:off x="0" y="0"/>
            <a:ext cx="64008" cy="5143500"/>
          </a:xfrm>
          <a:prstGeom prst="rect">
            <a:avLst/>
          </a:prstGeom>
          <a:solidFill>
            <a:srgbClr val="00D4FF"/>
          </a:solidFill>
          <a:ln>
            <a:noFill/>
          </a:ln>
        </p:spPr>
      </p:sp>
      <p:sp>
        <p:nvSpPr>
          <p:cNvPr id="2" name="r0"/>
          <p:cNvSpPr/>
          <p:nvPr/>
        </p:nvSpPr>
        <p:spPr>
          <a:xfrm>
            <a:off x="0" y="0"/>
            <a:ext cx="9144000" cy="41148"/>
          </a:xfrm>
          <a:prstGeom prst="rect">
            <a:avLst/>
          </a:prstGeom>
          <a:solidFill>
            <a:srgbClr val="00D4FF">
              <a:alpha val="40000"/>
            </a:srgbClr>
          </a:solidFill>
          <a:ln>
            <a:noFill/>
          </a:ln>
        </p:spPr>
      </p:sp>
      <p:sp>
        <p:nvSpPr>
          <p:cNvPr id="3" name="r0"/>
          <p:cNvSpPr/>
          <p:nvPr/>
        </p:nvSpPr>
        <p:spPr>
          <a:xfrm>
            <a:off x="0" y="4526280"/>
            <a:ext cx="9144000" cy="617220"/>
          </a:xfrm>
          <a:prstGeom prst="rect">
            <a:avLst/>
          </a:prstGeom>
          <a:solidFill>
            <a:srgbClr val="001040"/>
          </a:solidFill>
          <a:ln>
            <a:noFill/>
          </a:ln>
        </p:spPr>
      </p:sp>
      <p:sp>
        <p:nvSpPr>
          <p:cNvPr id="4" name="r0"/>
          <p:cNvSpPr/>
          <p:nvPr/>
        </p:nvSpPr>
        <p:spPr>
          <a:xfrm>
            <a:off x="0" y="4526280"/>
            <a:ext cx="64008" cy="617220"/>
          </a:xfrm>
          <a:prstGeom prst="rect">
            <a:avLst/>
          </a:prstGeom>
          <a:solidFill>
            <a:srgbClr val="00D4FF"/>
          </a:solidFill>
          <a:ln>
            <a:noFill/>
          </a:ln>
        </p:spPr>
      </p:sp>
      <p:sp>
        <p:nvSpPr>
          <p:cNvPr id="5" name="r182880"/>
          <p:cNvSpPr/>
          <p:nvPr/>
        </p:nvSpPr>
        <p:spPr>
          <a:xfrm>
            <a:off x="182880" y="308610"/>
            <a:ext cx="8778240" cy="668655"/>
          </a:xfrm>
          <a:prstGeom prst="rect">
            <a:avLst/>
          </a:prstGeom>
          <a:solidFill>
            <a:srgbClr val="0A1640"/>
          </a:solidFill>
          <a:ln>
            <a:noFill/>
          </a:ln>
        </p:spPr>
      </p:sp>
      <p:sp>
        <p:nvSpPr>
          <p:cNvPr id="51" name="t457200"/>
          <p:cNvSpPr txBox="1"/>
          <p:nvPr/>
        </p:nvSpPr>
        <p:spPr>
          <a:xfrm>
            <a:off x="457200" y="334327"/>
            <a:ext cx="8046720" cy="617220"/>
          </a:xfrm>
          <a:prstGeom prst="rect">
            <a:avLst/>
          </a:prstGeom>
          <a:noFill/>
          <a:ln>
            <a:noFill/>
          </a:ln>
        </p:spPr>
        <p:txBody>
          <a:bodyPr wrap="square" rtlCol="0" anchor="ctr">
            <a:normAutofit/>
          </a:bodyPr>
          <a:lstStyle/>
          <a:p>
            <a:pPr marL="0" indent="0" algn="l">
              <a:buNone/>
            </a:pPr>
            <a:r>
              <a:rPr lang="en-US" sz="2200" b="1" kern="0" spc="200" dirty="0">
                <a:solidFill>
                  <a:srgbClr val="00D4FF"/>
                </a:solidFill>
                <a:latin typeface="Calibri" pitchFamily="34" charset="0"/>
              </a:rPr>
              <a:t>Objectives of the Study</a:t>
            </a:r>
          </a:p>
        </p:txBody>
      </p:sp>
      <p:sp>
        <p:nvSpPr>
          <p:cNvPr id="6" name="t457200"/>
          <p:cNvSpPr txBox="1"/>
          <p:nvPr/>
        </p:nvSpPr>
        <p:spPr>
          <a:xfrm>
            <a:off x="457200" y="951547"/>
            <a:ext cx="8046720" cy="360045"/>
          </a:xfrm>
          <a:prstGeom prst="rect">
            <a:avLst/>
          </a:prstGeom>
          <a:noFill/>
          <a:ln>
            <a:noFill/>
          </a:ln>
        </p:spPr>
        <p:txBody>
          <a:bodyPr wrap="square" rtlCol="0" anchor="ctr">
            <a:normAutofit/>
          </a:bodyPr>
          <a:lstStyle/>
          <a:p>
            <a:pPr marL="0" indent="0" algn="l">
              <a:buNone/>
            </a:pPr>
            <a:r>
              <a:rPr lang="en-US" sz="1100" b="0" kern="0" dirty="0">
                <a:solidFill>
                  <a:srgbClr val="7EC8E3"/>
                </a:solidFill>
                <a:latin typeface="Calibri" pitchFamily="34" charset="0"/>
              </a:rPr>
              <a:t>What this project aims to identify, develop, and validate</a:t>
            </a:r>
          </a:p>
        </p:txBody>
      </p:sp>
      <p:sp>
        <p:nvSpPr>
          <p:cNvPr id="7" name="r365760"/>
          <p:cNvSpPr/>
          <p:nvPr/>
        </p:nvSpPr>
        <p:spPr>
          <a:xfrm>
            <a:off x="365760" y="1311592"/>
            <a:ext cx="8412480" cy="720090"/>
          </a:xfrm>
          <a:prstGeom prst="rect">
            <a:avLst/>
          </a:prstGeom>
          <a:solidFill>
            <a:srgbClr val="0A1640"/>
          </a:solidFill>
          <a:ln>
            <a:noFill/>
          </a:ln>
        </p:spPr>
      </p:sp>
      <p:sp>
        <p:nvSpPr>
          <p:cNvPr id="8" name="r365760"/>
          <p:cNvSpPr/>
          <p:nvPr/>
        </p:nvSpPr>
        <p:spPr>
          <a:xfrm>
            <a:off x="365760" y="1311592"/>
            <a:ext cx="64008" cy="720090"/>
          </a:xfrm>
          <a:prstGeom prst="rect">
            <a:avLst/>
          </a:prstGeom>
          <a:solidFill>
            <a:srgbClr val="00D4FF"/>
          </a:solidFill>
          <a:ln>
            <a:noFill/>
          </a:ln>
        </p:spPr>
      </p:sp>
      <p:sp>
        <p:nvSpPr>
          <p:cNvPr id="9" name="r502920"/>
          <p:cNvSpPr/>
          <p:nvPr/>
        </p:nvSpPr>
        <p:spPr>
          <a:xfrm>
            <a:off x="502920" y="1491614"/>
            <a:ext cx="320040" cy="334327"/>
          </a:xfrm>
          <a:prstGeom prst="rect">
            <a:avLst/>
          </a:prstGeom>
          <a:solidFill>
            <a:srgbClr val="001F6E"/>
          </a:solidFill>
          <a:ln>
            <a:noFill/>
          </a:ln>
        </p:spPr>
      </p:sp>
      <p:sp>
        <p:nvSpPr>
          <p:cNvPr id="10" name="t512064"/>
          <p:cNvSpPr txBox="1"/>
          <p:nvPr/>
        </p:nvSpPr>
        <p:spPr>
          <a:xfrm>
            <a:off x="512064" y="1501901"/>
            <a:ext cx="301752" cy="308610"/>
          </a:xfrm>
          <a:prstGeom prst="rect">
            <a:avLst/>
          </a:prstGeom>
          <a:noFill/>
          <a:ln>
            <a:noFill/>
          </a:ln>
        </p:spPr>
        <p:txBody>
          <a:bodyPr wrap="square" rtlCol="0" anchor="ctr">
            <a:normAutofit fontScale="92500" lnSpcReduction="20000"/>
          </a:bodyPr>
          <a:lstStyle/>
          <a:p>
            <a:pPr marL="0" indent="0" algn="ctr">
              <a:buNone/>
            </a:pPr>
            <a:r>
              <a:rPr lang="en-US" sz="1800" b="1" kern="0" dirty="0">
                <a:solidFill>
                  <a:srgbClr val="00D4FF"/>
                </a:solidFill>
                <a:latin typeface="Calibri" pitchFamily="34" charset="0"/>
              </a:rPr>
              <a:t>1</a:t>
            </a:r>
          </a:p>
        </p:txBody>
      </p:sp>
      <p:sp>
        <p:nvSpPr>
          <p:cNvPr id="11" name="t960120"/>
          <p:cNvSpPr txBox="1"/>
          <p:nvPr/>
        </p:nvSpPr>
        <p:spPr>
          <a:xfrm>
            <a:off x="960120" y="1388744"/>
            <a:ext cx="7680960" cy="282892"/>
          </a:xfrm>
          <a:prstGeom prst="rect">
            <a:avLst/>
          </a:prstGeom>
          <a:noFill/>
          <a:ln>
            <a:noFill/>
          </a:ln>
        </p:spPr>
        <p:txBody>
          <a:bodyPr wrap="square" rtlCol="0" anchor="ctr">
            <a:normAutofit lnSpcReduction="10000"/>
          </a:bodyPr>
          <a:lstStyle/>
          <a:p>
            <a:pPr marL="0" indent="0" algn="l">
              <a:buNone/>
            </a:pPr>
            <a:r>
              <a:rPr lang="en-US" sz="1300" b="1" kern="0" dirty="0">
                <a:solidFill>
                  <a:srgbClr val="FFFFFF"/>
                </a:solidFill>
                <a:latin typeface="Calibri" pitchFamily="34" charset="0"/>
              </a:rPr>
              <a:t>Identify Cybersecurity Risks in SMEs</a:t>
            </a:r>
          </a:p>
        </p:txBody>
      </p:sp>
      <p:sp>
        <p:nvSpPr>
          <p:cNvPr id="12" name="t960120"/>
          <p:cNvSpPr txBox="1"/>
          <p:nvPr/>
        </p:nvSpPr>
        <p:spPr>
          <a:xfrm>
            <a:off x="960120" y="1661350"/>
            <a:ext cx="7680960" cy="349758"/>
          </a:xfrm>
          <a:prstGeom prst="rect">
            <a:avLst/>
          </a:prstGeom>
          <a:noFill/>
          <a:ln>
            <a:noFill/>
          </a:ln>
        </p:spPr>
        <p:txBody>
          <a:bodyPr wrap="square" rtlCol="0" anchor="ctr">
            <a:normAutofit lnSpcReduction="10000"/>
          </a:bodyPr>
          <a:lstStyle/>
          <a:p>
            <a:pPr marL="0" indent="0" algn="l">
              <a:buNone/>
            </a:pPr>
            <a:r>
              <a:rPr lang="en-US" sz="900" b="0" kern="0" dirty="0">
                <a:solidFill>
                  <a:srgbClr val="A0C4D8"/>
                </a:solidFill>
                <a:latin typeface="Calibri" pitchFamily="34" charset="0"/>
              </a:rPr>
              <a:t>Analyse the most prevalent and damaging cyber threats faced by small businesses — including phishing, ransomware, insider threats, weak passwords, and unpatched software.</a:t>
            </a:r>
          </a:p>
        </p:txBody>
      </p:sp>
      <p:sp>
        <p:nvSpPr>
          <p:cNvPr id="13" name="r365760"/>
          <p:cNvSpPr/>
          <p:nvPr/>
        </p:nvSpPr>
        <p:spPr>
          <a:xfrm>
            <a:off x="365760" y="2108834"/>
            <a:ext cx="8412480" cy="720090"/>
          </a:xfrm>
          <a:prstGeom prst="rect">
            <a:avLst/>
          </a:prstGeom>
          <a:solidFill>
            <a:srgbClr val="0A1640"/>
          </a:solidFill>
          <a:ln>
            <a:noFill/>
          </a:ln>
        </p:spPr>
      </p:sp>
      <p:sp>
        <p:nvSpPr>
          <p:cNvPr id="14" name="r365760"/>
          <p:cNvSpPr/>
          <p:nvPr/>
        </p:nvSpPr>
        <p:spPr>
          <a:xfrm>
            <a:off x="365760" y="2108834"/>
            <a:ext cx="64008" cy="720090"/>
          </a:xfrm>
          <a:prstGeom prst="rect">
            <a:avLst/>
          </a:prstGeom>
          <a:solidFill>
            <a:srgbClr val="00D4FF"/>
          </a:solidFill>
          <a:ln>
            <a:noFill/>
          </a:ln>
        </p:spPr>
      </p:sp>
      <p:sp>
        <p:nvSpPr>
          <p:cNvPr id="15" name="r502920"/>
          <p:cNvSpPr/>
          <p:nvPr/>
        </p:nvSpPr>
        <p:spPr>
          <a:xfrm>
            <a:off x="502920" y="2288856"/>
            <a:ext cx="320040" cy="334327"/>
          </a:xfrm>
          <a:prstGeom prst="rect">
            <a:avLst/>
          </a:prstGeom>
          <a:solidFill>
            <a:srgbClr val="001F6E"/>
          </a:solidFill>
          <a:ln>
            <a:noFill/>
          </a:ln>
        </p:spPr>
      </p:sp>
      <p:sp>
        <p:nvSpPr>
          <p:cNvPr id="16" name="t512064"/>
          <p:cNvSpPr txBox="1"/>
          <p:nvPr/>
        </p:nvSpPr>
        <p:spPr>
          <a:xfrm>
            <a:off x="512064" y="2299143"/>
            <a:ext cx="301752" cy="308610"/>
          </a:xfrm>
          <a:prstGeom prst="rect">
            <a:avLst/>
          </a:prstGeom>
          <a:noFill/>
          <a:ln>
            <a:noFill/>
          </a:ln>
        </p:spPr>
        <p:txBody>
          <a:bodyPr wrap="square" rtlCol="0" anchor="ctr">
            <a:normAutofit fontScale="92500" lnSpcReduction="20000"/>
          </a:bodyPr>
          <a:lstStyle/>
          <a:p>
            <a:pPr marL="0" indent="0" algn="ctr">
              <a:buNone/>
            </a:pPr>
            <a:r>
              <a:rPr lang="en-US" sz="1800" b="1" kern="0" dirty="0">
                <a:solidFill>
                  <a:srgbClr val="00D4FF"/>
                </a:solidFill>
                <a:latin typeface="Calibri" pitchFamily="34" charset="0"/>
              </a:rPr>
              <a:t>2</a:t>
            </a:r>
          </a:p>
        </p:txBody>
      </p:sp>
      <p:sp>
        <p:nvSpPr>
          <p:cNvPr id="17" name="t960120"/>
          <p:cNvSpPr txBox="1"/>
          <p:nvPr/>
        </p:nvSpPr>
        <p:spPr>
          <a:xfrm>
            <a:off x="960120" y="2185986"/>
            <a:ext cx="7680960" cy="282892"/>
          </a:xfrm>
          <a:prstGeom prst="rect">
            <a:avLst/>
          </a:prstGeom>
          <a:noFill/>
          <a:ln>
            <a:noFill/>
          </a:ln>
        </p:spPr>
        <p:txBody>
          <a:bodyPr wrap="square" rtlCol="0" anchor="ctr">
            <a:normAutofit lnSpcReduction="10000"/>
          </a:bodyPr>
          <a:lstStyle/>
          <a:p>
            <a:pPr marL="0" indent="0" algn="l">
              <a:buNone/>
            </a:pPr>
            <a:r>
              <a:rPr lang="en-US" sz="1300" b="1" kern="0" dirty="0">
                <a:solidFill>
                  <a:srgbClr val="FFFFFF"/>
                </a:solidFill>
                <a:latin typeface="Calibri" pitchFamily="34" charset="0"/>
              </a:rPr>
              <a:t>Develop a Risk Assessment Framework</a:t>
            </a:r>
          </a:p>
        </p:txBody>
      </p:sp>
      <p:sp>
        <p:nvSpPr>
          <p:cNvPr id="18" name="t960120"/>
          <p:cNvSpPr txBox="1"/>
          <p:nvPr/>
        </p:nvSpPr>
        <p:spPr>
          <a:xfrm>
            <a:off x="960120" y="2458592"/>
            <a:ext cx="7680960" cy="349758"/>
          </a:xfrm>
          <a:prstGeom prst="rect">
            <a:avLst/>
          </a:prstGeom>
          <a:noFill/>
          <a:ln>
            <a:noFill/>
          </a:ln>
        </p:spPr>
        <p:txBody>
          <a:bodyPr wrap="square" rtlCol="0" anchor="ctr">
            <a:normAutofit/>
          </a:bodyPr>
          <a:lstStyle/>
          <a:p>
            <a:pPr marL="0" indent="0" algn="l">
              <a:buNone/>
            </a:pPr>
            <a:r>
              <a:rPr lang="en-US" sz="900" b="0" kern="0" dirty="0">
                <a:solidFill>
                  <a:srgbClr val="A0C4D8"/>
                </a:solidFill>
                <a:latin typeface="Calibri" pitchFamily="34" charset="0"/>
              </a:rPr>
              <a:t>Build a structured, quantitative model (Risk Score = Likelihood × Impact) that SMEs can use to prioritise threats based on severity and probability.</a:t>
            </a:r>
          </a:p>
        </p:txBody>
      </p:sp>
      <p:sp>
        <p:nvSpPr>
          <p:cNvPr id="19" name="r365760"/>
          <p:cNvSpPr/>
          <p:nvPr/>
        </p:nvSpPr>
        <p:spPr>
          <a:xfrm>
            <a:off x="365760" y="2906076"/>
            <a:ext cx="8412480" cy="720090"/>
          </a:xfrm>
          <a:prstGeom prst="rect">
            <a:avLst/>
          </a:prstGeom>
          <a:solidFill>
            <a:srgbClr val="0A1640"/>
          </a:solidFill>
          <a:ln>
            <a:noFill/>
          </a:ln>
        </p:spPr>
      </p:sp>
      <p:sp>
        <p:nvSpPr>
          <p:cNvPr id="20" name="r365760"/>
          <p:cNvSpPr/>
          <p:nvPr/>
        </p:nvSpPr>
        <p:spPr>
          <a:xfrm>
            <a:off x="365760" y="2906076"/>
            <a:ext cx="64008" cy="720090"/>
          </a:xfrm>
          <a:prstGeom prst="rect">
            <a:avLst/>
          </a:prstGeom>
          <a:solidFill>
            <a:srgbClr val="00D4FF"/>
          </a:solidFill>
          <a:ln>
            <a:noFill/>
          </a:ln>
        </p:spPr>
      </p:sp>
      <p:sp>
        <p:nvSpPr>
          <p:cNvPr id="21" name="r502920"/>
          <p:cNvSpPr/>
          <p:nvPr/>
        </p:nvSpPr>
        <p:spPr>
          <a:xfrm>
            <a:off x="502920" y="3086098"/>
            <a:ext cx="320040" cy="334327"/>
          </a:xfrm>
          <a:prstGeom prst="rect">
            <a:avLst/>
          </a:prstGeom>
          <a:solidFill>
            <a:srgbClr val="001F6E"/>
          </a:solidFill>
          <a:ln>
            <a:noFill/>
          </a:ln>
        </p:spPr>
      </p:sp>
      <p:sp>
        <p:nvSpPr>
          <p:cNvPr id="22" name="t512064"/>
          <p:cNvSpPr txBox="1"/>
          <p:nvPr/>
        </p:nvSpPr>
        <p:spPr>
          <a:xfrm>
            <a:off x="512064" y="3096385"/>
            <a:ext cx="301752" cy="308610"/>
          </a:xfrm>
          <a:prstGeom prst="rect">
            <a:avLst/>
          </a:prstGeom>
          <a:noFill/>
          <a:ln>
            <a:noFill/>
          </a:ln>
        </p:spPr>
        <p:txBody>
          <a:bodyPr wrap="square" rtlCol="0" anchor="ctr">
            <a:normAutofit fontScale="92500" lnSpcReduction="20000"/>
          </a:bodyPr>
          <a:lstStyle/>
          <a:p>
            <a:pPr marL="0" indent="0" algn="ctr">
              <a:buNone/>
            </a:pPr>
            <a:r>
              <a:rPr lang="en-US" sz="1800" b="1" kern="0" dirty="0">
                <a:solidFill>
                  <a:srgbClr val="00D4FF"/>
                </a:solidFill>
                <a:latin typeface="Calibri" pitchFamily="34" charset="0"/>
              </a:rPr>
              <a:t>3</a:t>
            </a:r>
          </a:p>
        </p:txBody>
      </p:sp>
      <p:sp>
        <p:nvSpPr>
          <p:cNvPr id="23" name="t960120"/>
          <p:cNvSpPr txBox="1"/>
          <p:nvPr/>
        </p:nvSpPr>
        <p:spPr>
          <a:xfrm>
            <a:off x="960120" y="2983228"/>
            <a:ext cx="7680960" cy="282892"/>
          </a:xfrm>
          <a:prstGeom prst="rect">
            <a:avLst/>
          </a:prstGeom>
          <a:noFill/>
          <a:ln>
            <a:noFill/>
          </a:ln>
        </p:spPr>
        <p:txBody>
          <a:bodyPr wrap="square" rtlCol="0" anchor="ctr">
            <a:normAutofit lnSpcReduction="10000"/>
          </a:bodyPr>
          <a:lstStyle/>
          <a:p>
            <a:pPr marL="0" indent="0" algn="l">
              <a:buNone/>
            </a:pPr>
            <a:r>
              <a:rPr lang="en-US" sz="1300" b="1" kern="0" dirty="0">
                <a:solidFill>
                  <a:srgbClr val="FFFFFF"/>
                </a:solidFill>
                <a:latin typeface="Calibri" pitchFamily="34" charset="0"/>
              </a:rPr>
              <a:t>Propose Mitigation Strategies</a:t>
            </a:r>
          </a:p>
        </p:txBody>
      </p:sp>
      <p:sp>
        <p:nvSpPr>
          <p:cNvPr id="24" name="t960120"/>
          <p:cNvSpPr txBox="1"/>
          <p:nvPr/>
        </p:nvSpPr>
        <p:spPr>
          <a:xfrm>
            <a:off x="960120" y="3255834"/>
            <a:ext cx="7680960" cy="349758"/>
          </a:xfrm>
          <a:prstGeom prst="rect">
            <a:avLst/>
          </a:prstGeom>
          <a:noFill/>
          <a:ln>
            <a:noFill/>
          </a:ln>
        </p:spPr>
        <p:txBody>
          <a:bodyPr wrap="square" rtlCol="0" anchor="ctr">
            <a:normAutofit lnSpcReduction="10000"/>
          </a:bodyPr>
          <a:lstStyle/>
          <a:p>
            <a:pPr marL="0" indent="0" algn="l">
              <a:buNone/>
            </a:pPr>
            <a:r>
              <a:rPr lang="en-US" sz="900" b="0" kern="0" dirty="0">
                <a:solidFill>
                  <a:srgbClr val="A0C4D8"/>
                </a:solidFill>
                <a:latin typeface="Calibri" pitchFamily="34" charset="0"/>
              </a:rPr>
              <a:t>Recommend practical, cost-effective security controls such as MFA, RBAC, employee training, data backups, and patch management aligned with the NIST Cybersecurity Framework.</a:t>
            </a:r>
          </a:p>
        </p:txBody>
      </p:sp>
      <p:sp>
        <p:nvSpPr>
          <p:cNvPr id="25" name="r365760"/>
          <p:cNvSpPr/>
          <p:nvPr/>
        </p:nvSpPr>
        <p:spPr>
          <a:xfrm>
            <a:off x="365760" y="3703318"/>
            <a:ext cx="8412480" cy="720090"/>
          </a:xfrm>
          <a:prstGeom prst="rect">
            <a:avLst/>
          </a:prstGeom>
          <a:solidFill>
            <a:srgbClr val="0A1640"/>
          </a:solidFill>
          <a:ln>
            <a:noFill/>
          </a:ln>
        </p:spPr>
      </p:sp>
      <p:sp>
        <p:nvSpPr>
          <p:cNvPr id="26" name="r365760"/>
          <p:cNvSpPr/>
          <p:nvPr/>
        </p:nvSpPr>
        <p:spPr>
          <a:xfrm>
            <a:off x="365760" y="3703318"/>
            <a:ext cx="64008" cy="720090"/>
          </a:xfrm>
          <a:prstGeom prst="rect">
            <a:avLst/>
          </a:prstGeom>
          <a:solidFill>
            <a:srgbClr val="00D4FF"/>
          </a:solidFill>
          <a:ln>
            <a:noFill/>
          </a:ln>
        </p:spPr>
      </p:sp>
      <p:sp>
        <p:nvSpPr>
          <p:cNvPr id="27" name="r502920"/>
          <p:cNvSpPr/>
          <p:nvPr/>
        </p:nvSpPr>
        <p:spPr>
          <a:xfrm>
            <a:off x="502920" y="3883340"/>
            <a:ext cx="320040" cy="334327"/>
          </a:xfrm>
          <a:prstGeom prst="rect">
            <a:avLst/>
          </a:prstGeom>
          <a:solidFill>
            <a:srgbClr val="001F6E"/>
          </a:solidFill>
          <a:ln>
            <a:noFill/>
          </a:ln>
        </p:spPr>
      </p:sp>
      <p:sp>
        <p:nvSpPr>
          <p:cNvPr id="28" name="t512064"/>
          <p:cNvSpPr txBox="1"/>
          <p:nvPr/>
        </p:nvSpPr>
        <p:spPr>
          <a:xfrm>
            <a:off x="512064" y="3893627"/>
            <a:ext cx="301752" cy="308610"/>
          </a:xfrm>
          <a:prstGeom prst="rect">
            <a:avLst/>
          </a:prstGeom>
          <a:noFill/>
          <a:ln>
            <a:noFill/>
          </a:ln>
        </p:spPr>
        <p:txBody>
          <a:bodyPr wrap="square" rtlCol="0" anchor="ctr">
            <a:normAutofit fontScale="92500" lnSpcReduction="20000"/>
          </a:bodyPr>
          <a:lstStyle/>
          <a:p>
            <a:pPr marL="0" indent="0" algn="ctr">
              <a:buNone/>
            </a:pPr>
            <a:r>
              <a:rPr lang="en-US" sz="1800" b="1" kern="0" dirty="0">
                <a:solidFill>
                  <a:srgbClr val="00D4FF"/>
                </a:solidFill>
                <a:latin typeface="Calibri" pitchFamily="34" charset="0"/>
              </a:rPr>
              <a:t>4</a:t>
            </a:r>
          </a:p>
        </p:txBody>
      </p:sp>
      <p:sp>
        <p:nvSpPr>
          <p:cNvPr id="29" name="t960120"/>
          <p:cNvSpPr txBox="1"/>
          <p:nvPr/>
        </p:nvSpPr>
        <p:spPr>
          <a:xfrm>
            <a:off x="960120" y="3780470"/>
            <a:ext cx="7680960" cy="282892"/>
          </a:xfrm>
          <a:prstGeom prst="rect">
            <a:avLst/>
          </a:prstGeom>
          <a:noFill/>
          <a:ln>
            <a:noFill/>
          </a:ln>
        </p:spPr>
        <p:txBody>
          <a:bodyPr wrap="square" rtlCol="0" anchor="ctr">
            <a:normAutofit lnSpcReduction="10000"/>
          </a:bodyPr>
          <a:lstStyle/>
          <a:p>
            <a:pPr marL="0" indent="0" algn="l">
              <a:buNone/>
            </a:pPr>
            <a:r>
              <a:rPr lang="en-US" sz="1300" b="1" kern="0" dirty="0">
                <a:solidFill>
                  <a:srgbClr val="FFFFFF"/>
                </a:solidFill>
                <a:latin typeface="Calibri" pitchFamily="34" charset="0"/>
              </a:rPr>
              <a:t>Validate Through Real-World Case Studies</a:t>
            </a:r>
          </a:p>
        </p:txBody>
      </p:sp>
      <p:sp>
        <p:nvSpPr>
          <p:cNvPr id="30" name="t960120"/>
          <p:cNvSpPr txBox="1"/>
          <p:nvPr/>
        </p:nvSpPr>
        <p:spPr>
          <a:xfrm>
            <a:off x="960120" y="4053076"/>
            <a:ext cx="7680960" cy="349758"/>
          </a:xfrm>
          <a:prstGeom prst="rect">
            <a:avLst/>
          </a:prstGeom>
          <a:noFill/>
          <a:ln>
            <a:noFill/>
          </a:ln>
        </p:spPr>
        <p:txBody>
          <a:bodyPr wrap="square" rtlCol="0" anchor="ctr">
            <a:normAutofit lnSpcReduction="10000"/>
          </a:bodyPr>
          <a:lstStyle/>
          <a:p>
            <a:pPr marL="0" indent="0" algn="l">
              <a:buNone/>
            </a:pPr>
            <a:r>
              <a:rPr lang="en-US" sz="900" b="0" kern="0" dirty="0">
                <a:solidFill>
                  <a:srgbClr val="A0C4D8"/>
                </a:solidFill>
                <a:latin typeface="Calibri" pitchFamily="34" charset="0"/>
              </a:rPr>
              <a:t>Test the framework against three SME scenarios (retail, healthcare, IT services) to demonstrate its effectiveness in identifying high-priority risks and guiding remediation.</a:t>
            </a:r>
          </a:p>
        </p:txBody>
      </p:sp>
      <p:sp>
        <p:nvSpPr>
          <p:cNvPr id="31" name="t365760"/>
          <p:cNvSpPr txBox="1"/>
          <p:nvPr/>
        </p:nvSpPr>
        <p:spPr>
          <a:xfrm>
            <a:off x="365760" y="4603432"/>
            <a:ext cx="5029200" cy="308610"/>
          </a:xfrm>
          <a:prstGeom prst="rect">
            <a:avLst/>
          </a:prstGeom>
          <a:noFill/>
          <a:ln>
            <a:noFill/>
          </a:ln>
        </p:spPr>
        <p:txBody>
          <a:bodyPr wrap="square" rtlCol="0" anchor="ctr">
            <a:normAutofit/>
          </a:bodyPr>
          <a:lstStyle/>
          <a:p>
            <a:pPr marL="0" indent="0" algn="l">
              <a:buNone/>
            </a:pPr>
            <a:r>
              <a:rPr lang="en-US" sz="900" b="0" kern="0" dirty="0">
                <a:solidFill>
                  <a:srgbClr val="7EC8E3"/>
                </a:solidFill>
                <a:latin typeface="Calibri" pitchFamily="34" charset="0"/>
              </a:rPr>
              <a:t>Cybersecurity Risk Assessment Framework  ·  Minor Project I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6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1A2B5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What is Cybersecurity?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457200" y="822960"/>
            <a:ext cx="1097280" cy="36576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65760" y="960120"/>
            <a:ext cx="4114800" cy="1280160"/>
          </a:xfrm>
          <a:prstGeom prst="rect">
            <a:avLst/>
          </a:prstGeom>
          <a:solidFill>
            <a:srgbClr val="1A2B5F"/>
          </a:solidFill>
          <a:ln w="12700">
            <a:solidFill>
              <a:srgbClr val="1A2B5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02920" y="1005840"/>
            <a:ext cx="384048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Cybersecurity is the practice of protecting computers, networks, systems, and data from unauthorized access, cyber attacks, damage, or theft.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4754880" y="960120"/>
            <a:ext cx="4114800" cy="3840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50" dirty="0">
                <a:solidFill>
                  <a:srgbClr val="1A2B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Protects computers and digital devices</a:t>
            </a:r>
            <a:endParaRPr lang="en-US" sz="12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50" dirty="0">
                <a:solidFill>
                  <a:srgbClr val="1A2B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Secures networks and internet connections</a:t>
            </a:r>
            <a:endParaRPr lang="en-US" sz="12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50" dirty="0">
                <a:solidFill>
                  <a:srgbClr val="1A2B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Prevents hacking and cyber attacks</a:t>
            </a:r>
            <a:endParaRPr lang="en-US" sz="12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50" dirty="0">
                <a:solidFill>
                  <a:srgbClr val="1A2B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Protects sensitive data and information</a:t>
            </a:r>
            <a:endParaRPr lang="en-US" sz="12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50" dirty="0">
                <a:solidFill>
                  <a:srgbClr val="1A2B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Ensures privacy and confidentiality</a:t>
            </a:r>
            <a:endParaRPr lang="en-US" sz="12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50" dirty="0">
                <a:solidFill>
                  <a:srgbClr val="1A2B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Maintains data integrity and availability</a:t>
            </a:r>
            <a:endParaRPr lang="en-US" sz="12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50" dirty="0">
                <a:solidFill>
                  <a:srgbClr val="1A2B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Helps businesses and individuals stay safe online</a:t>
            </a:r>
            <a:endParaRPr lang="en-US" sz="12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50" dirty="0">
                <a:solidFill>
                  <a:srgbClr val="1A2B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Reduces risks from malware, viruses, and phishing</a:t>
            </a:r>
            <a:endParaRPr lang="en-US" sz="12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4F6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1A2B5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What are SMEs?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457200" y="822960"/>
            <a:ext cx="1097280" cy="36576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65760" y="960120"/>
            <a:ext cx="4114800" cy="1097280"/>
          </a:xfrm>
          <a:prstGeom prst="rect">
            <a:avLst/>
          </a:prstGeom>
          <a:solidFill>
            <a:srgbClr val="1E5FA8"/>
          </a:solidFill>
          <a:ln w="12700">
            <a:solidFill>
              <a:srgbClr val="1E5FA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02920" y="1005840"/>
            <a:ext cx="384048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SMEs — Small and Medium Enterprises — are businesses that operate on a smaller scale than large corporations in terms of employees, revenue, and size.</a:t>
            </a:r>
            <a:endParaRPr lang="en-US" sz="1250" dirty="0"/>
          </a:p>
        </p:txBody>
      </p:sp>
      <p:sp>
        <p:nvSpPr>
          <p:cNvPr id="6" name="Text 4"/>
          <p:cNvSpPr/>
          <p:nvPr/>
        </p:nvSpPr>
        <p:spPr>
          <a:xfrm>
            <a:off x="4754880" y="96012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50" dirty="0">
                <a:solidFill>
                  <a:srgbClr val="1A2B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Small and medium-sized businesses</a:t>
            </a:r>
            <a:endParaRPr lang="en-US" sz="12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50" dirty="0">
                <a:solidFill>
                  <a:srgbClr val="1A2B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Important contributors to the economy</a:t>
            </a:r>
            <a:endParaRPr lang="en-US" sz="12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50" dirty="0">
                <a:solidFill>
                  <a:srgbClr val="1A2B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 employment opportunities</a:t>
            </a:r>
            <a:endParaRPr lang="en-US" sz="12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50" dirty="0">
                <a:solidFill>
                  <a:srgbClr val="1A2B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Require efficient resource management</a:t>
            </a:r>
            <a:endParaRPr lang="en-US" sz="12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50" dirty="0">
                <a:solidFill>
                  <a:srgbClr val="1A2B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Often adopt digital technologies for growth</a:t>
            </a:r>
            <a:endParaRPr lang="en-US" sz="12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50" dirty="0">
                <a:solidFill>
                  <a:srgbClr val="1A2B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Need cybersecurity to protect business data</a:t>
            </a:r>
            <a:endParaRPr lang="en-US" sz="12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50" dirty="0">
                <a:solidFill>
                  <a:srgbClr val="1A2B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Face risks from cyber attacks and data breaches</a:t>
            </a:r>
            <a:endParaRPr lang="en-US" sz="12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50" dirty="0">
                <a:solidFill>
                  <a:srgbClr val="1A2B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Support innovation and local economic development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365760" y="4206240"/>
            <a:ext cx="8412480" cy="685800"/>
          </a:xfrm>
          <a:prstGeom prst="rect">
            <a:avLst/>
          </a:prstGeom>
          <a:solidFill>
            <a:srgbClr val="E8ECF2"/>
          </a:solidFill>
          <a:ln w="12700">
            <a:solidFill>
              <a:srgbClr val="E8ECF2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" y="4251960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i="1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Examples: Local retail stores  ·  Small manufacturing units  ·  Startups  ·  Consulting firms  ·  Medium-sized service companies</a:t>
            </a:r>
            <a:endParaRPr lang="en-US" sz="11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6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1A2B5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Top 5 Cybersecurity Risks in SMEs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457200" y="822960"/>
            <a:ext cx="1097280" cy="36576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914400" y="1097280"/>
            <a:ext cx="2468880" cy="1463040"/>
          </a:xfrm>
          <a:prstGeom prst="rect">
            <a:avLst/>
          </a:prstGeom>
          <a:solidFill>
            <a:srgbClr val="FFFFFF"/>
          </a:solidFill>
          <a:ln w="12700">
            <a:solidFill>
              <a:srgbClr val="C0392B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914400" y="1097280"/>
            <a:ext cx="457200" cy="1463040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14400" y="1143000"/>
            <a:ext cx="457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01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417320" y="1188720"/>
            <a:ext cx="1874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C0392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Phishing Attacks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1417320" y="1508760"/>
            <a:ext cx="187452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Fake emails, messages, or websites used to steal sensitive information and login credentials.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4297680" y="1097280"/>
            <a:ext cx="2468880" cy="1463040"/>
          </a:xfrm>
          <a:prstGeom prst="rect">
            <a:avLst/>
          </a:prstGeom>
          <a:solidFill>
            <a:srgbClr val="FFFFFF"/>
          </a:solidFill>
          <a:ln w="12700">
            <a:solidFill>
              <a:srgbClr val="C0392B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297680" y="1097280"/>
            <a:ext cx="457200" cy="1463040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297680" y="1143000"/>
            <a:ext cx="457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02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4800600" y="1188720"/>
            <a:ext cx="1874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C0392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Ransomware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4800600" y="1508760"/>
            <a:ext cx="187452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Malicious software that encrypts files and demands payment for restoring access.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182880" y="2788920"/>
            <a:ext cx="2468880" cy="1463040"/>
          </a:xfrm>
          <a:prstGeom prst="rect">
            <a:avLst/>
          </a:prstGeom>
          <a:solidFill>
            <a:srgbClr val="FFFFFF"/>
          </a:solidFill>
          <a:ln w="12700">
            <a:solidFill>
              <a:srgbClr val="E67E22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182880" y="2788920"/>
            <a:ext cx="457200" cy="1463040"/>
          </a:xfrm>
          <a:prstGeom prst="rect">
            <a:avLst/>
          </a:prstGeom>
          <a:solidFill>
            <a:srgbClr val="E67E22"/>
          </a:solidFill>
          <a:ln w="12700">
            <a:solidFill>
              <a:srgbClr val="E67E22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82880" y="2834640"/>
            <a:ext cx="457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03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685800" y="2880360"/>
            <a:ext cx="1874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E67E2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Insider Threats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685800" y="3200400"/>
            <a:ext cx="187452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Employees or partners may intentionally or accidentally expose sensitive data.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3108960" y="2788920"/>
            <a:ext cx="2468880" cy="1463040"/>
          </a:xfrm>
          <a:prstGeom prst="rect">
            <a:avLst/>
          </a:prstGeom>
          <a:solidFill>
            <a:srgbClr val="FFFFFF"/>
          </a:solidFill>
          <a:ln w="12700">
            <a:solidFill>
              <a:srgbClr val="E67E22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3108960" y="2788920"/>
            <a:ext cx="457200" cy="1463040"/>
          </a:xfrm>
          <a:prstGeom prst="rect">
            <a:avLst/>
          </a:prstGeom>
          <a:solidFill>
            <a:srgbClr val="E67E22"/>
          </a:solidFill>
          <a:ln w="12700">
            <a:solidFill>
              <a:srgbClr val="E67E22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108960" y="2834640"/>
            <a:ext cx="457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04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3611880" y="2880360"/>
            <a:ext cx="1874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E67E2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Weak Passwords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3611880" y="3200400"/>
            <a:ext cx="187452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Poor password practices make it easier for attackers to gain unauthorized access.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6035040" y="2788920"/>
            <a:ext cx="2468880" cy="1463040"/>
          </a:xfrm>
          <a:prstGeom prst="rect">
            <a:avLst/>
          </a:prstGeom>
          <a:solidFill>
            <a:srgbClr val="FFFFFF"/>
          </a:solidFill>
          <a:ln w="12700">
            <a:solidFill>
              <a:srgbClr val="1E5FA8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6035040" y="2788920"/>
            <a:ext cx="457200" cy="1463040"/>
          </a:xfrm>
          <a:prstGeom prst="rect">
            <a:avLst/>
          </a:prstGeom>
          <a:solidFill>
            <a:srgbClr val="1E5FA8"/>
          </a:solidFill>
          <a:ln w="12700">
            <a:solidFill>
              <a:srgbClr val="1E5FA8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035040" y="2834640"/>
            <a:ext cx="457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05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6537960" y="2880360"/>
            <a:ext cx="1874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5FA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Unpatched Software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6537960" y="3200400"/>
            <a:ext cx="187452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Outdated software contains vulnerabilities that cybercriminals can exploit.</a:t>
            </a:r>
            <a:endParaRPr lang="en-US" sz="10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A2B5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Impact of Cyber Attacks on SMEs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457200" y="822960"/>
            <a:ext cx="1097280" cy="36576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65760" y="1097280"/>
            <a:ext cx="2606040" cy="1508760"/>
          </a:xfrm>
          <a:prstGeom prst="rect">
            <a:avLst/>
          </a:prstGeom>
          <a:solidFill>
            <a:srgbClr val="213469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65760" y="1188720"/>
            <a:ext cx="2606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</a:rPr>
              <a:t>💸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365760" y="1691640"/>
            <a:ext cx="2606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Financial Losses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57200" y="2011680"/>
            <a:ext cx="24231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A0B8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Direct monetary loss from fraud, ransom payments, and recovery costs.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3200400" y="1097280"/>
            <a:ext cx="2606040" cy="1508760"/>
          </a:xfrm>
          <a:prstGeom prst="rect">
            <a:avLst/>
          </a:prstGeom>
          <a:solidFill>
            <a:srgbClr val="213469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200400" y="1188720"/>
            <a:ext cx="2606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</a:rPr>
              <a:t>🗂️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3200400" y="1691640"/>
            <a:ext cx="2606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Data Theft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3291840" y="2011680"/>
            <a:ext cx="24231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A0B8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Sensitive business and customer data stolen or sold on dark web.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6035040" y="1097280"/>
            <a:ext cx="2606040" cy="1508760"/>
          </a:xfrm>
          <a:prstGeom prst="rect">
            <a:avLst/>
          </a:prstGeom>
          <a:solidFill>
            <a:srgbClr val="213469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035040" y="1188720"/>
            <a:ext cx="2606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</a:rPr>
              <a:t>⚠️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6035040" y="1691640"/>
            <a:ext cx="2606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Business Disruption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6126480" y="2011680"/>
            <a:ext cx="24231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A0B8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Operations halted, leading to lost productivity and revenue.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365760" y="3017520"/>
            <a:ext cx="2606040" cy="1508760"/>
          </a:xfrm>
          <a:prstGeom prst="rect">
            <a:avLst/>
          </a:prstGeom>
          <a:solidFill>
            <a:srgbClr val="213469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65760" y="3108960"/>
            <a:ext cx="2606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</a:rPr>
              <a:t>📉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365760" y="3611880"/>
            <a:ext cx="2606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Reputation Damage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457200" y="3931920"/>
            <a:ext cx="24231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A0B8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Brand credibility harmed; long-term customer relationships at risk.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3200400" y="3017520"/>
            <a:ext cx="2606040" cy="1508760"/>
          </a:xfrm>
          <a:prstGeom prst="rect">
            <a:avLst/>
          </a:prstGeom>
          <a:solidFill>
            <a:srgbClr val="213469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200400" y="3108960"/>
            <a:ext cx="2606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</a:rPr>
              <a:t>🤝</a:t>
            </a:r>
            <a:endParaRPr lang="en-US" sz="2200" dirty="0"/>
          </a:p>
        </p:txBody>
      </p:sp>
      <p:sp>
        <p:nvSpPr>
          <p:cNvPr id="22" name="Text 20"/>
          <p:cNvSpPr/>
          <p:nvPr/>
        </p:nvSpPr>
        <p:spPr>
          <a:xfrm>
            <a:off x="3200400" y="3611880"/>
            <a:ext cx="2606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Loss of Customer Trust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3291840" y="3931920"/>
            <a:ext cx="24231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A0B8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Customers lose confidence and switch to competitors.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60E2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r00"/>
          <p:cNvSpPr/>
          <p:nvPr/>
        </p:nvSpPr>
        <p:spPr>
          <a:xfrm>
            <a:off x="0" y="0"/>
            <a:ext cx="64008" cy="5143500"/>
          </a:xfrm>
          <a:prstGeom prst="rect">
            <a:avLst/>
          </a:prstGeom>
          <a:solidFill>
            <a:srgbClr val="00D4FF"/>
          </a:solidFill>
          <a:ln>
            <a:noFill/>
          </a:ln>
        </p:spPr>
      </p:sp>
      <p:sp>
        <p:nvSpPr>
          <p:cNvPr id="2" name="r00"/>
          <p:cNvSpPr/>
          <p:nvPr/>
        </p:nvSpPr>
        <p:spPr>
          <a:xfrm>
            <a:off x="0" y="0"/>
            <a:ext cx="9144000" cy="41148"/>
          </a:xfrm>
          <a:prstGeom prst="rect">
            <a:avLst/>
          </a:prstGeom>
          <a:solidFill>
            <a:srgbClr val="00D4FF">
              <a:alpha val="40000"/>
            </a:srgbClr>
          </a:solidFill>
          <a:ln>
            <a:noFill/>
          </a:ln>
        </p:spPr>
      </p:sp>
      <p:sp>
        <p:nvSpPr>
          <p:cNvPr id="3" name="r04526280"/>
          <p:cNvSpPr/>
          <p:nvPr/>
        </p:nvSpPr>
        <p:spPr>
          <a:xfrm>
            <a:off x="0" y="4526280"/>
            <a:ext cx="9144000" cy="617220"/>
          </a:xfrm>
          <a:prstGeom prst="rect">
            <a:avLst/>
          </a:prstGeom>
          <a:solidFill>
            <a:srgbClr val="001040"/>
          </a:solidFill>
          <a:ln>
            <a:noFill/>
          </a:ln>
        </p:spPr>
      </p:sp>
      <p:sp>
        <p:nvSpPr>
          <p:cNvPr id="4" name="r04526280"/>
          <p:cNvSpPr/>
          <p:nvPr/>
        </p:nvSpPr>
        <p:spPr>
          <a:xfrm>
            <a:off x="0" y="4526280"/>
            <a:ext cx="64008" cy="617220"/>
          </a:xfrm>
          <a:prstGeom prst="rect">
            <a:avLst/>
          </a:prstGeom>
          <a:solidFill>
            <a:srgbClr val="00D4FF"/>
          </a:solidFill>
          <a:ln>
            <a:noFill/>
          </a:ln>
        </p:spPr>
      </p:sp>
      <p:sp>
        <p:nvSpPr>
          <p:cNvPr id="5" name="r182880308610"/>
          <p:cNvSpPr/>
          <p:nvPr/>
        </p:nvSpPr>
        <p:spPr>
          <a:xfrm>
            <a:off x="182880" y="308610"/>
            <a:ext cx="8778240" cy="668655"/>
          </a:xfrm>
          <a:prstGeom prst="rect">
            <a:avLst/>
          </a:prstGeom>
          <a:solidFill>
            <a:srgbClr val="0A1640"/>
          </a:solidFill>
          <a:ln>
            <a:noFill/>
          </a:ln>
        </p:spPr>
      </p:sp>
      <p:sp>
        <p:nvSpPr>
          <p:cNvPr id="51" name="t457200334327"/>
          <p:cNvSpPr txBox="1"/>
          <p:nvPr/>
        </p:nvSpPr>
        <p:spPr>
          <a:xfrm>
            <a:off x="457200" y="334327"/>
            <a:ext cx="8046720" cy="617220"/>
          </a:xfrm>
          <a:prstGeom prst="rect">
            <a:avLst/>
          </a:prstGeom>
          <a:noFill/>
          <a:ln>
            <a:noFill/>
          </a:ln>
        </p:spPr>
        <p:txBody>
          <a:bodyPr wrap="square" rtlCol="0" anchor="ctr">
            <a:normAutofit/>
          </a:bodyPr>
          <a:lstStyle/>
          <a:p>
            <a:pPr marL="0" indent="0" algn="l">
              <a:buNone/>
            </a:pPr>
            <a:r>
              <a:rPr lang="en-US" sz="2200" b="1" kern="0" spc="200" dirty="0">
                <a:solidFill>
                  <a:srgbClr val="00D4FF"/>
                </a:solidFill>
                <a:latin typeface="Calibri" pitchFamily="34" charset="0"/>
              </a:rPr>
              <a:t>SME Threat Landscape — Network Architecture</a:t>
            </a:r>
          </a:p>
        </p:txBody>
      </p:sp>
      <p:sp>
        <p:nvSpPr>
          <p:cNvPr id="6" name="t457200951547"/>
          <p:cNvSpPr txBox="1"/>
          <p:nvPr/>
        </p:nvSpPr>
        <p:spPr>
          <a:xfrm>
            <a:off x="457200" y="951547"/>
            <a:ext cx="8046720" cy="308610"/>
          </a:xfrm>
          <a:prstGeom prst="rect">
            <a:avLst/>
          </a:prstGeom>
          <a:noFill/>
          <a:ln>
            <a:noFill/>
          </a:ln>
        </p:spPr>
        <p:txBody>
          <a:bodyPr wrap="square" rtlCol="0" anchor="ctr">
            <a:normAutofit/>
          </a:bodyPr>
          <a:lstStyle/>
          <a:p>
            <a:pPr marL="0" indent="0" algn="l">
              <a:buNone/>
            </a:pPr>
            <a:r>
              <a:rPr lang="en-US" sz="1000" b="0" kern="0" dirty="0">
                <a:solidFill>
                  <a:srgbClr val="7EC8E3"/>
                </a:solidFill>
                <a:latin typeface="Calibri" pitchFamily="34" charset="0"/>
              </a:rPr>
              <a:t>How cyber threats enter and propagate through a typical small business network</a:t>
            </a:r>
          </a:p>
        </p:txBody>
      </p:sp>
      <p:sp>
        <p:nvSpPr>
          <p:cNvPr id="7" name="t3657604603432"/>
          <p:cNvSpPr txBox="1"/>
          <p:nvPr/>
        </p:nvSpPr>
        <p:spPr>
          <a:xfrm>
            <a:off x="365760" y="4603432"/>
            <a:ext cx="5486400" cy="308610"/>
          </a:xfrm>
          <a:prstGeom prst="rect">
            <a:avLst/>
          </a:prstGeom>
          <a:noFill/>
          <a:ln>
            <a:noFill/>
          </a:ln>
        </p:spPr>
        <p:txBody>
          <a:bodyPr wrap="square" rtlCol="0" anchor="ctr">
            <a:normAutofit/>
          </a:bodyPr>
          <a:lstStyle/>
          <a:p>
            <a:pPr marL="0" indent="0" algn="l">
              <a:buNone/>
            </a:pPr>
            <a:r>
              <a:rPr lang="en-US" sz="900" b="0" kern="0" dirty="0">
                <a:solidFill>
                  <a:srgbClr val="7EC8E3"/>
                </a:solidFill>
                <a:latin typeface="Calibri" pitchFamily="34" charset="0"/>
              </a:rPr>
              <a:t>Cybersecurity Risk Assessment Framework  ·  Minor Project I</a:t>
            </a:r>
          </a:p>
        </p:txBody>
      </p:sp>
      <p:sp>
        <p:nvSpPr>
          <p:cNvPr id="8" name="r2743201157287"/>
          <p:cNvSpPr/>
          <p:nvPr/>
        </p:nvSpPr>
        <p:spPr>
          <a:xfrm>
            <a:off x="274320" y="1157287"/>
            <a:ext cx="1600200" cy="2931794"/>
          </a:xfrm>
          <a:prstGeom prst="rect">
            <a:avLst/>
          </a:prstGeom>
          <a:solidFill>
            <a:srgbClr val="3D0000">
              <a:alpha val="90000"/>
            </a:srgbClr>
          </a:solidFill>
          <a:ln>
            <a:noFill/>
          </a:ln>
        </p:spPr>
      </p:sp>
      <p:sp>
        <p:nvSpPr>
          <p:cNvPr id="9" name="r2743201157287"/>
          <p:cNvSpPr/>
          <p:nvPr/>
        </p:nvSpPr>
        <p:spPr>
          <a:xfrm>
            <a:off x="274320" y="1157287"/>
            <a:ext cx="1600200" cy="246888"/>
          </a:xfrm>
          <a:prstGeom prst="rect">
            <a:avLst/>
          </a:prstGeom>
          <a:solidFill>
            <a:srgbClr val="FF1744">
              <a:alpha val="80000"/>
            </a:srgbClr>
          </a:solidFill>
          <a:ln>
            <a:noFill/>
          </a:ln>
        </p:spPr>
      </p:sp>
      <p:sp>
        <p:nvSpPr>
          <p:cNvPr id="10" name="t2743201157287"/>
          <p:cNvSpPr txBox="1"/>
          <p:nvPr/>
        </p:nvSpPr>
        <p:spPr>
          <a:xfrm>
            <a:off x="274320" y="1157287"/>
            <a:ext cx="1600200" cy="246888"/>
          </a:xfrm>
          <a:prstGeom prst="rect">
            <a:avLst/>
          </a:prstGeom>
          <a:noFill/>
          <a:ln>
            <a:noFill/>
          </a:ln>
        </p:spPr>
        <p:txBody>
          <a:bodyPr wrap="square" rtlCol="0" anchor="ctr">
            <a:normAutofit/>
          </a:bodyPr>
          <a:lstStyle/>
          <a:p>
            <a:pPr marL="0" indent="0" algn="ctr">
              <a:buNone/>
            </a:pPr>
            <a:r>
              <a:rPr lang="en-US" sz="850" b="1" kern="0" spc="200" dirty="0">
                <a:solidFill>
                  <a:srgbClr val="000000"/>
                </a:solidFill>
                <a:latin typeface="Calibri" pitchFamily="34" charset="0"/>
              </a:rPr>
              <a:t>ATTACKER</a:t>
            </a:r>
          </a:p>
        </p:txBody>
      </p:sp>
      <p:sp>
        <p:nvSpPr>
          <p:cNvPr id="11" name="t2743201352740"/>
          <p:cNvSpPr txBox="1"/>
          <p:nvPr/>
        </p:nvSpPr>
        <p:spPr>
          <a:xfrm>
            <a:off x="274320" y="1352740"/>
            <a:ext cx="1600200" cy="246888"/>
          </a:xfrm>
          <a:prstGeom prst="rect">
            <a:avLst/>
          </a:prstGeom>
          <a:noFill/>
          <a:ln>
            <a:noFill/>
          </a:ln>
        </p:spPr>
        <p:txBody>
          <a:bodyPr wrap="square" rtlCol="0" anchor="ctr">
            <a:normAutofit/>
          </a:bodyPr>
          <a:lstStyle/>
          <a:p>
            <a:pPr marL="0" indent="0" algn="ctr">
              <a:buNone/>
            </a:pPr>
            <a:r>
              <a:rPr lang="en-US" sz="850" b="1" kern="0" spc="200" dirty="0">
                <a:solidFill>
                  <a:srgbClr val="000000"/>
                </a:solidFill>
                <a:latin typeface="Calibri" pitchFamily="34" charset="0"/>
              </a:rPr>
              <a:t>ZONE</a:t>
            </a:r>
          </a:p>
        </p:txBody>
      </p:sp>
      <p:sp>
        <p:nvSpPr>
          <p:cNvPr id="12" name="r20116801157287"/>
          <p:cNvSpPr/>
          <p:nvPr/>
        </p:nvSpPr>
        <p:spPr>
          <a:xfrm>
            <a:off x="2011680" y="1157287"/>
            <a:ext cx="1600200" cy="2931794"/>
          </a:xfrm>
          <a:prstGeom prst="rect">
            <a:avLst/>
          </a:prstGeom>
          <a:solidFill>
            <a:srgbClr val="1A1A2E">
              <a:alpha val="90000"/>
            </a:srgbClr>
          </a:solidFill>
          <a:ln>
            <a:noFill/>
          </a:ln>
        </p:spPr>
      </p:sp>
      <p:sp>
        <p:nvSpPr>
          <p:cNvPr id="13" name="r20116801157287"/>
          <p:cNvSpPr/>
          <p:nvPr/>
        </p:nvSpPr>
        <p:spPr>
          <a:xfrm>
            <a:off x="2011680" y="1157287"/>
            <a:ext cx="1600200" cy="246888"/>
          </a:xfrm>
          <a:prstGeom prst="rect">
            <a:avLst/>
          </a:prstGeom>
          <a:solidFill>
            <a:srgbClr val="40C4FF">
              <a:alpha val="80000"/>
            </a:srgbClr>
          </a:solidFill>
          <a:ln>
            <a:noFill/>
          </a:ln>
        </p:spPr>
      </p:sp>
      <p:sp>
        <p:nvSpPr>
          <p:cNvPr id="14" name="t20116801157287"/>
          <p:cNvSpPr txBox="1"/>
          <p:nvPr/>
        </p:nvSpPr>
        <p:spPr>
          <a:xfrm>
            <a:off x="2011680" y="1157287"/>
            <a:ext cx="1600200" cy="246888"/>
          </a:xfrm>
          <a:prstGeom prst="rect">
            <a:avLst/>
          </a:prstGeom>
          <a:noFill/>
          <a:ln>
            <a:noFill/>
          </a:ln>
        </p:spPr>
        <p:txBody>
          <a:bodyPr wrap="square" rtlCol="0" anchor="ctr">
            <a:normAutofit/>
          </a:bodyPr>
          <a:lstStyle/>
          <a:p>
            <a:pPr marL="0" indent="0" algn="ctr">
              <a:buNone/>
            </a:pPr>
            <a:r>
              <a:rPr lang="en-US" sz="850" b="1" kern="0" spc="200" dirty="0">
                <a:solidFill>
                  <a:srgbClr val="000000"/>
                </a:solidFill>
                <a:latin typeface="Calibri" pitchFamily="34" charset="0"/>
              </a:rPr>
              <a:t>INTERNET</a:t>
            </a:r>
          </a:p>
        </p:txBody>
      </p:sp>
      <p:sp>
        <p:nvSpPr>
          <p:cNvPr id="15" name="r37490401157287"/>
          <p:cNvSpPr/>
          <p:nvPr/>
        </p:nvSpPr>
        <p:spPr>
          <a:xfrm>
            <a:off x="3749040" y="1157287"/>
            <a:ext cx="1600200" cy="2931794"/>
          </a:xfrm>
          <a:prstGeom prst="rect">
            <a:avLst/>
          </a:prstGeom>
          <a:solidFill>
            <a:srgbClr val="002D40">
              <a:alpha val="90000"/>
            </a:srgbClr>
          </a:solidFill>
          <a:ln>
            <a:noFill/>
          </a:ln>
        </p:spPr>
      </p:sp>
      <p:sp>
        <p:nvSpPr>
          <p:cNvPr id="16" name="r37490401157287"/>
          <p:cNvSpPr/>
          <p:nvPr/>
        </p:nvSpPr>
        <p:spPr>
          <a:xfrm>
            <a:off x="3749040" y="1157287"/>
            <a:ext cx="1600200" cy="246888"/>
          </a:xfrm>
          <a:prstGeom prst="rect">
            <a:avLst/>
          </a:prstGeom>
          <a:solidFill>
            <a:srgbClr val="00E5FF">
              <a:alpha val="80000"/>
            </a:srgbClr>
          </a:solidFill>
          <a:ln>
            <a:noFill/>
          </a:ln>
        </p:spPr>
      </p:sp>
      <p:sp>
        <p:nvSpPr>
          <p:cNvPr id="17" name="t37490401157287"/>
          <p:cNvSpPr txBox="1"/>
          <p:nvPr/>
        </p:nvSpPr>
        <p:spPr>
          <a:xfrm>
            <a:off x="3749040" y="1157287"/>
            <a:ext cx="1600200" cy="246888"/>
          </a:xfrm>
          <a:prstGeom prst="rect">
            <a:avLst/>
          </a:prstGeom>
          <a:noFill/>
          <a:ln>
            <a:noFill/>
          </a:ln>
        </p:spPr>
        <p:txBody>
          <a:bodyPr wrap="square" rtlCol="0" anchor="ctr">
            <a:normAutofit/>
          </a:bodyPr>
          <a:lstStyle/>
          <a:p>
            <a:pPr marL="0" indent="0" algn="ctr">
              <a:buNone/>
            </a:pPr>
            <a:r>
              <a:rPr lang="en-US" sz="850" b="1" kern="0" spc="200" dirty="0">
                <a:solidFill>
                  <a:srgbClr val="000000"/>
                </a:solidFill>
                <a:latin typeface="Calibri" pitchFamily="34" charset="0"/>
              </a:rPr>
              <a:t>FIREWALL /</a:t>
            </a:r>
          </a:p>
        </p:txBody>
      </p:sp>
      <p:sp>
        <p:nvSpPr>
          <p:cNvPr id="18" name="t37490401352740"/>
          <p:cNvSpPr txBox="1"/>
          <p:nvPr/>
        </p:nvSpPr>
        <p:spPr>
          <a:xfrm>
            <a:off x="3749040" y="1352740"/>
            <a:ext cx="1600200" cy="246888"/>
          </a:xfrm>
          <a:prstGeom prst="rect">
            <a:avLst/>
          </a:prstGeom>
          <a:noFill/>
          <a:ln>
            <a:noFill/>
          </a:ln>
        </p:spPr>
        <p:txBody>
          <a:bodyPr wrap="square" rtlCol="0" anchor="ctr">
            <a:normAutofit/>
          </a:bodyPr>
          <a:lstStyle/>
          <a:p>
            <a:pPr marL="0" indent="0" algn="ctr">
              <a:buNone/>
            </a:pPr>
            <a:r>
              <a:rPr lang="en-US" sz="850" b="1" kern="0" spc="200" dirty="0">
                <a:solidFill>
                  <a:srgbClr val="000000"/>
                </a:solidFill>
                <a:latin typeface="Calibri" pitchFamily="34" charset="0"/>
              </a:rPr>
              <a:t>DMZ</a:t>
            </a:r>
          </a:p>
        </p:txBody>
      </p:sp>
      <p:sp>
        <p:nvSpPr>
          <p:cNvPr id="19" name="r54864001157287"/>
          <p:cNvSpPr/>
          <p:nvPr/>
        </p:nvSpPr>
        <p:spPr>
          <a:xfrm>
            <a:off x="5486400" y="1157287"/>
            <a:ext cx="1600200" cy="2931794"/>
          </a:xfrm>
          <a:prstGeom prst="rect">
            <a:avLst/>
          </a:prstGeom>
          <a:solidFill>
            <a:srgbClr val="001F4D">
              <a:alpha val="90000"/>
            </a:srgbClr>
          </a:solidFill>
          <a:ln>
            <a:noFill/>
          </a:ln>
        </p:spPr>
      </p:sp>
      <p:sp>
        <p:nvSpPr>
          <p:cNvPr id="20" name="r54864001157287"/>
          <p:cNvSpPr/>
          <p:nvPr/>
        </p:nvSpPr>
        <p:spPr>
          <a:xfrm>
            <a:off x="5486400" y="1157287"/>
            <a:ext cx="1600200" cy="246888"/>
          </a:xfrm>
          <a:prstGeom prst="rect">
            <a:avLst/>
          </a:prstGeom>
          <a:solidFill>
            <a:srgbClr val="448AFF">
              <a:alpha val="80000"/>
            </a:srgbClr>
          </a:solidFill>
          <a:ln>
            <a:noFill/>
          </a:ln>
        </p:spPr>
      </p:sp>
      <p:sp>
        <p:nvSpPr>
          <p:cNvPr id="21" name="t54864001157287"/>
          <p:cNvSpPr txBox="1"/>
          <p:nvPr/>
        </p:nvSpPr>
        <p:spPr>
          <a:xfrm>
            <a:off x="5486400" y="1157287"/>
            <a:ext cx="1600200" cy="246888"/>
          </a:xfrm>
          <a:prstGeom prst="rect">
            <a:avLst/>
          </a:prstGeom>
          <a:noFill/>
          <a:ln>
            <a:noFill/>
          </a:ln>
        </p:spPr>
        <p:txBody>
          <a:bodyPr wrap="square" rtlCol="0" anchor="ctr">
            <a:normAutofit/>
          </a:bodyPr>
          <a:lstStyle/>
          <a:p>
            <a:pPr marL="0" indent="0" algn="ctr">
              <a:buNone/>
            </a:pPr>
            <a:r>
              <a:rPr lang="en-US" sz="850" b="1" kern="0" spc="200" dirty="0">
                <a:solidFill>
                  <a:srgbClr val="000000"/>
                </a:solidFill>
                <a:latin typeface="Calibri" pitchFamily="34" charset="0"/>
              </a:rPr>
              <a:t>SME INTERNAL</a:t>
            </a:r>
          </a:p>
        </p:txBody>
      </p:sp>
      <p:sp>
        <p:nvSpPr>
          <p:cNvPr id="22" name="t54864001352740"/>
          <p:cNvSpPr txBox="1"/>
          <p:nvPr/>
        </p:nvSpPr>
        <p:spPr>
          <a:xfrm>
            <a:off x="5486400" y="1352740"/>
            <a:ext cx="1600200" cy="246888"/>
          </a:xfrm>
          <a:prstGeom prst="rect">
            <a:avLst/>
          </a:prstGeom>
          <a:noFill/>
          <a:ln>
            <a:noFill/>
          </a:ln>
        </p:spPr>
        <p:txBody>
          <a:bodyPr wrap="square" rtlCol="0" anchor="ctr">
            <a:normAutofit/>
          </a:bodyPr>
          <a:lstStyle/>
          <a:p>
            <a:pPr marL="0" indent="0" algn="ctr">
              <a:buNone/>
            </a:pPr>
            <a:r>
              <a:rPr lang="en-US" sz="850" b="1" kern="0" spc="200" dirty="0">
                <a:solidFill>
                  <a:srgbClr val="000000"/>
                </a:solidFill>
                <a:latin typeface="Calibri" pitchFamily="34" charset="0"/>
              </a:rPr>
              <a:t>NETWORK</a:t>
            </a:r>
          </a:p>
        </p:txBody>
      </p:sp>
      <p:sp>
        <p:nvSpPr>
          <p:cNvPr id="23" name="r72237601157287"/>
          <p:cNvSpPr/>
          <p:nvPr/>
        </p:nvSpPr>
        <p:spPr>
          <a:xfrm>
            <a:off x="7223760" y="1157287"/>
            <a:ext cx="1600200" cy="2931794"/>
          </a:xfrm>
          <a:prstGeom prst="rect">
            <a:avLst/>
          </a:prstGeom>
          <a:solidFill>
            <a:srgbClr val="003D20">
              <a:alpha val="90000"/>
            </a:srgbClr>
          </a:solidFill>
          <a:ln>
            <a:noFill/>
          </a:ln>
        </p:spPr>
      </p:sp>
      <p:sp>
        <p:nvSpPr>
          <p:cNvPr id="24" name="r72237601157287"/>
          <p:cNvSpPr/>
          <p:nvPr/>
        </p:nvSpPr>
        <p:spPr>
          <a:xfrm>
            <a:off x="7223760" y="1157287"/>
            <a:ext cx="1600200" cy="246888"/>
          </a:xfrm>
          <a:prstGeom prst="rect">
            <a:avLst/>
          </a:prstGeom>
          <a:solidFill>
            <a:srgbClr val="69FF47">
              <a:alpha val="80000"/>
            </a:srgbClr>
          </a:solidFill>
          <a:ln>
            <a:noFill/>
          </a:ln>
        </p:spPr>
      </p:sp>
      <p:sp>
        <p:nvSpPr>
          <p:cNvPr id="25" name="t72237601157287"/>
          <p:cNvSpPr txBox="1"/>
          <p:nvPr/>
        </p:nvSpPr>
        <p:spPr>
          <a:xfrm>
            <a:off x="7223760" y="1157287"/>
            <a:ext cx="1600200" cy="246888"/>
          </a:xfrm>
          <a:prstGeom prst="rect">
            <a:avLst/>
          </a:prstGeom>
          <a:noFill/>
          <a:ln>
            <a:noFill/>
          </a:ln>
        </p:spPr>
        <p:txBody>
          <a:bodyPr wrap="square" rtlCol="0" anchor="ctr">
            <a:normAutofit/>
          </a:bodyPr>
          <a:lstStyle/>
          <a:p>
            <a:pPr marL="0" indent="0" algn="ctr">
              <a:buNone/>
            </a:pPr>
            <a:r>
              <a:rPr lang="en-US" sz="850" b="1" kern="0" spc="200" dirty="0">
                <a:solidFill>
                  <a:srgbClr val="000000"/>
                </a:solidFill>
                <a:latin typeface="Calibri" pitchFamily="34" charset="0"/>
              </a:rPr>
              <a:t>ASSETS &amp;</a:t>
            </a:r>
          </a:p>
        </p:txBody>
      </p:sp>
      <p:sp>
        <p:nvSpPr>
          <p:cNvPr id="26" name="t72237601352740"/>
          <p:cNvSpPr txBox="1"/>
          <p:nvPr/>
        </p:nvSpPr>
        <p:spPr>
          <a:xfrm>
            <a:off x="7223760" y="1352740"/>
            <a:ext cx="1600200" cy="246888"/>
          </a:xfrm>
          <a:prstGeom prst="rect">
            <a:avLst/>
          </a:prstGeom>
          <a:noFill/>
          <a:ln>
            <a:noFill/>
          </a:ln>
        </p:spPr>
        <p:txBody>
          <a:bodyPr wrap="square" rtlCol="0" anchor="ctr">
            <a:normAutofit/>
          </a:bodyPr>
          <a:lstStyle/>
          <a:p>
            <a:pPr marL="0" indent="0" algn="ctr">
              <a:buNone/>
            </a:pPr>
            <a:r>
              <a:rPr lang="en-US" sz="850" b="1" kern="0" spc="200" dirty="0">
                <a:solidFill>
                  <a:srgbClr val="000000"/>
                </a:solidFill>
                <a:latin typeface="Calibri" pitchFamily="34" charset="0"/>
              </a:rPr>
              <a:t>DATA</a:t>
            </a:r>
          </a:p>
        </p:txBody>
      </p:sp>
      <p:sp>
        <p:nvSpPr>
          <p:cNvPr id="52" name="c9144001825942"/>
          <p:cNvSpPr/>
          <p:nvPr/>
        </p:nvSpPr>
        <p:spPr>
          <a:xfrm>
            <a:off x="480060" y="1671637"/>
            <a:ext cx="1188720" cy="420000"/>
          </a:xfrm>
          <a:prstGeom prst="roundRect">
            <a:avLst>
              <a:gd name="adj" fmla="val 8000"/>
            </a:avLst>
          </a:prstGeom>
          <a:solidFill>
            <a:srgbClr val="8B1A1A"/>
          </a:solidFill>
          <a:ln>
            <a:noFill/>
          </a:ln>
        </p:spPr>
      </p:sp>
      <p:sp>
        <p:nvSpPr>
          <p:cNvPr id="27" name="t3200401620202"/>
          <p:cNvSpPr txBox="1"/>
          <p:nvPr/>
        </p:nvSpPr>
        <p:spPr>
          <a:xfrm>
            <a:off x="480060" y="1776637"/>
            <a:ext cx="1188720" cy="21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ctr">
            <a:normAutofit lnSpcReduction="10000"/>
          </a:bodyPr>
          <a:lstStyle/>
          <a:p>
            <a:pPr marL="0" indent="0" algn="ctr">
              <a:buNone/>
            </a:pPr>
            <a:r>
              <a:rPr lang="en-US" sz="800" b="0" kern="0" dirty="0">
                <a:solidFill>
                  <a:srgbClr val="FF9999"/>
                </a:solidFill>
                <a:latin typeface="Calibri" pitchFamily="34" charset="0"/>
              </a:rPr>
              <a:t>Hacker</a:t>
            </a:r>
          </a:p>
        </p:txBody>
      </p:sp>
      <p:sp>
        <p:nvSpPr>
          <p:cNvPr id="28" name="c9144002623184"/>
          <p:cNvSpPr/>
          <p:nvPr/>
        </p:nvSpPr>
        <p:spPr>
          <a:xfrm>
            <a:off x="480060" y="2468879"/>
            <a:ext cx="1188720" cy="420000"/>
          </a:xfrm>
          <a:prstGeom prst="roundRect">
            <a:avLst>
              <a:gd name="adj" fmla="val 8000"/>
            </a:avLst>
          </a:prstGeom>
          <a:solidFill>
            <a:srgbClr val="8B1A1A"/>
          </a:solidFill>
          <a:ln>
            <a:noFill/>
          </a:ln>
        </p:spPr>
      </p:sp>
      <p:sp>
        <p:nvSpPr>
          <p:cNvPr id="29" name="t3200402417444"/>
          <p:cNvSpPr txBox="1"/>
          <p:nvPr/>
        </p:nvSpPr>
        <p:spPr>
          <a:xfrm>
            <a:off x="480060" y="2478879"/>
            <a:ext cx="1188720" cy="21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ctr">
            <a:normAutofit lnSpcReduction="10000"/>
          </a:bodyPr>
          <a:lstStyle/>
          <a:p>
            <a:pPr marL="0" indent="0" algn="ctr">
              <a:buNone/>
            </a:pPr>
            <a:r>
              <a:rPr lang="en-US" sz="800" b="0" kern="0" dirty="0">
                <a:solidFill>
                  <a:srgbClr val="FF9999"/>
                </a:solidFill>
                <a:latin typeface="Calibri" pitchFamily="34" charset="0"/>
              </a:rPr>
              <a:t>Phishing</a:t>
            </a:r>
          </a:p>
        </p:txBody>
      </p:sp>
      <p:sp>
        <p:nvSpPr>
          <p:cNvPr id="30" name="t3200402582036"/>
          <p:cNvSpPr txBox="1"/>
          <p:nvPr/>
        </p:nvSpPr>
        <p:spPr>
          <a:xfrm>
            <a:off x="480060" y="2678879"/>
            <a:ext cx="1188720" cy="21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ctr">
            <a:normAutofit lnSpcReduction="10000"/>
          </a:bodyPr>
          <a:lstStyle/>
          <a:p>
            <a:pPr marL="0" indent="0" algn="ctr">
              <a:buNone/>
            </a:pPr>
            <a:r>
              <a:rPr lang="en-US" sz="800" b="0" kern="0" dirty="0">
                <a:solidFill>
                  <a:srgbClr val="FF9999"/>
                </a:solidFill>
                <a:latin typeface="Calibri" pitchFamily="34" charset="0"/>
              </a:rPr>
              <a:t>Email</a:t>
            </a:r>
          </a:p>
        </p:txBody>
      </p:sp>
      <p:sp>
        <p:nvSpPr>
          <p:cNvPr id="31" name="c9144003420426"/>
          <p:cNvSpPr/>
          <p:nvPr/>
        </p:nvSpPr>
        <p:spPr>
          <a:xfrm>
            <a:off x="480060" y="3266121"/>
            <a:ext cx="1188720" cy="420000"/>
          </a:xfrm>
          <a:prstGeom prst="roundRect">
            <a:avLst>
              <a:gd name="adj" fmla="val 8000"/>
            </a:avLst>
          </a:prstGeom>
          <a:solidFill>
            <a:srgbClr val="8B1A1A"/>
          </a:solidFill>
          <a:ln>
            <a:noFill/>
          </a:ln>
        </p:spPr>
      </p:sp>
      <p:sp>
        <p:nvSpPr>
          <p:cNvPr id="32" name="t3200403214686"/>
          <p:cNvSpPr txBox="1"/>
          <p:nvPr/>
        </p:nvSpPr>
        <p:spPr>
          <a:xfrm>
            <a:off x="480060" y="3276121"/>
            <a:ext cx="1188720" cy="21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ctr">
            <a:normAutofit lnSpcReduction="10000"/>
          </a:bodyPr>
          <a:lstStyle/>
          <a:p>
            <a:pPr marL="0" indent="0" algn="ctr">
              <a:buNone/>
            </a:pPr>
            <a:r>
              <a:rPr lang="en-US" sz="800" b="0" kern="0" dirty="0">
                <a:solidFill>
                  <a:srgbClr val="FF9999"/>
                </a:solidFill>
                <a:latin typeface="Calibri" pitchFamily="34" charset="0"/>
              </a:rPr>
              <a:t>Ransomware</a:t>
            </a:r>
          </a:p>
        </p:txBody>
      </p:sp>
      <p:sp>
        <p:nvSpPr>
          <p:cNvPr id="33" name="t3200403379278"/>
          <p:cNvSpPr txBox="1"/>
          <p:nvPr/>
        </p:nvSpPr>
        <p:spPr>
          <a:xfrm>
            <a:off x="480060" y="3476121"/>
            <a:ext cx="1188720" cy="21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ctr">
            <a:normAutofit lnSpcReduction="10000"/>
          </a:bodyPr>
          <a:lstStyle/>
          <a:p>
            <a:pPr marL="0" indent="0" algn="ctr">
              <a:buNone/>
            </a:pPr>
            <a:r>
              <a:rPr lang="en-US" sz="800" b="0" kern="0" dirty="0">
                <a:solidFill>
                  <a:srgbClr val="FF9999"/>
                </a:solidFill>
                <a:latin typeface="Calibri" pitchFamily="34" charset="0"/>
              </a:rPr>
              <a:t>Group</a:t>
            </a:r>
          </a:p>
        </p:txBody>
      </p:sp>
      <p:sp>
        <p:nvSpPr>
          <p:cNvPr id="34" name="c26517601825942"/>
          <p:cNvSpPr/>
          <p:nvPr/>
        </p:nvSpPr>
        <p:spPr>
          <a:xfrm>
            <a:off x="2217420" y="1671637"/>
            <a:ext cx="1188720" cy="420000"/>
          </a:xfrm>
          <a:prstGeom prst="roundRect">
            <a:avLst>
              <a:gd name="adj" fmla="val 8000"/>
            </a:avLst>
          </a:prstGeom>
          <a:solidFill>
            <a:srgbClr val="1A3A5C"/>
          </a:solidFill>
          <a:ln>
            <a:noFill/>
          </a:ln>
        </p:spPr>
      </p:sp>
      <p:sp>
        <p:nvSpPr>
          <p:cNvPr id="35" name="t20574001620202"/>
          <p:cNvSpPr txBox="1"/>
          <p:nvPr/>
        </p:nvSpPr>
        <p:spPr>
          <a:xfrm>
            <a:off x="2217420" y="1681637"/>
            <a:ext cx="1188720" cy="21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ctr">
            <a:normAutofit lnSpcReduction="10000"/>
          </a:bodyPr>
          <a:lstStyle/>
          <a:p>
            <a:pPr marL="0" indent="0" algn="ctr">
              <a:buNone/>
            </a:pPr>
            <a:r>
              <a:rPr lang="en-US" sz="800" b="0" kern="0" dirty="0">
                <a:solidFill>
                  <a:srgbClr val="7EC8E3"/>
                </a:solidFill>
                <a:latin typeface="Calibri" pitchFamily="34" charset="0"/>
              </a:rPr>
              <a:t>Malicious</a:t>
            </a:r>
          </a:p>
        </p:txBody>
      </p:sp>
      <p:sp>
        <p:nvSpPr>
          <p:cNvPr id="36" name="t20574001784794"/>
          <p:cNvSpPr txBox="1"/>
          <p:nvPr/>
        </p:nvSpPr>
        <p:spPr>
          <a:xfrm>
            <a:off x="2217420" y="1881637"/>
            <a:ext cx="1188720" cy="21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ctr">
            <a:normAutofit lnSpcReduction="10000"/>
          </a:bodyPr>
          <a:lstStyle/>
          <a:p>
            <a:pPr marL="0" indent="0" algn="ctr">
              <a:buNone/>
            </a:pPr>
            <a:r>
              <a:rPr lang="en-US" sz="800" b="0" kern="0" dirty="0">
                <a:solidFill>
                  <a:srgbClr val="7EC8E3"/>
                </a:solidFill>
                <a:latin typeface="Calibri" pitchFamily="34" charset="0"/>
              </a:rPr>
              <a:t>URL</a:t>
            </a:r>
          </a:p>
        </p:txBody>
      </p:sp>
      <p:sp>
        <p:nvSpPr>
          <p:cNvPr id="37" name="c26517602623184"/>
          <p:cNvSpPr/>
          <p:nvPr/>
        </p:nvSpPr>
        <p:spPr>
          <a:xfrm>
            <a:off x="2217420" y="2468879"/>
            <a:ext cx="1188720" cy="420000"/>
          </a:xfrm>
          <a:prstGeom prst="roundRect">
            <a:avLst>
              <a:gd name="adj" fmla="val 8000"/>
            </a:avLst>
          </a:prstGeom>
          <a:solidFill>
            <a:srgbClr val="1A3A5C"/>
          </a:solidFill>
          <a:ln>
            <a:noFill/>
          </a:ln>
        </p:spPr>
      </p:sp>
      <p:sp>
        <p:nvSpPr>
          <p:cNvPr id="38" name="t20574002417444"/>
          <p:cNvSpPr txBox="1"/>
          <p:nvPr/>
        </p:nvSpPr>
        <p:spPr>
          <a:xfrm>
            <a:off x="2217420" y="2478879"/>
            <a:ext cx="1188720" cy="21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ctr">
            <a:normAutofit lnSpcReduction="10000"/>
          </a:bodyPr>
          <a:lstStyle/>
          <a:p>
            <a:pPr marL="0" indent="0" algn="ctr">
              <a:buNone/>
            </a:pPr>
            <a:r>
              <a:rPr lang="en-US" sz="800" b="0" kern="0" dirty="0">
                <a:solidFill>
                  <a:srgbClr val="7EC8E3"/>
                </a:solidFill>
                <a:latin typeface="Calibri" pitchFamily="34" charset="0"/>
              </a:rPr>
              <a:t>Spoofed</a:t>
            </a:r>
          </a:p>
        </p:txBody>
      </p:sp>
      <p:sp>
        <p:nvSpPr>
          <p:cNvPr id="39" name="t20574002582036"/>
          <p:cNvSpPr txBox="1"/>
          <p:nvPr/>
        </p:nvSpPr>
        <p:spPr>
          <a:xfrm>
            <a:off x="2217420" y="2678879"/>
            <a:ext cx="1188720" cy="21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ctr">
            <a:normAutofit lnSpcReduction="10000"/>
          </a:bodyPr>
          <a:lstStyle/>
          <a:p>
            <a:pPr marL="0" indent="0" algn="ctr">
              <a:buNone/>
            </a:pPr>
            <a:r>
              <a:rPr lang="en-US" sz="800" b="0" kern="0" dirty="0">
                <a:solidFill>
                  <a:srgbClr val="7EC8E3"/>
                </a:solidFill>
                <a:latin typeface="Calibri" pitchFamily="34" charset="0"/>
              </a:rPr>
              <a:t>Domain</a:t>
            </a:r>
          </a:p>
        </p:txBody>
      </p:sp>
      <p:sp>
        <p:nvSpPr>
          <p:cNvPr id="40" name="c26517603420426"/>
          <p:cNvSpPr/>
          <p:nvPr/>
        </p:nvSpPr>
        <p:spPr>
          <a:xfrm>
            <a:off x="2217420" y="3266121"/>
            <a:ext cx="1188720" cy="420000"/>
          </a:xfrm>
          <a:prstGeom prst="roundRect">
            <a:avLst>
              <a:gd name="adj" fmla="val 8000"/>
            </a:avLst>
          </a:prstGeom>
          <a:solidFill>
            <a:srgbClr val="1A3A5C"/>
          </a:solidFill>
          <a:ln>
            <a:noFill/>
          </a:ln>
        </p:spPr>
      </p:sp>
      <p:sp>
        <p:nvSpPr>
          <p:cNvPr id="41" name="t20574003214686"/>
          <p:cNvSpPr txBox="1"/>
          <p:nvPr/>
        </p:nvSpPr>
        <p:spPr>
          <a:xfrm>
            <a:off x="2217420" y="3276121"/>
            <a:ext cx="1188720" cy="21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ctr">
            <a:normAutofit lnSpcReduction="10000"/>
          </a:bodyPr>
          <a:lstStyle/>
          <a:p>
            <a:pPr marL="0" indent="0" algn="ctr">
              <a:buNone/>
            </a:pPr>
            <a:r>
              <a:rPr lang="en-US" sz="800" b="0" kern="0" dirty="0">
                <a:solidFill>
                  <a:srgbClr val="7EC8E3"/>
                </a:solidFill>
                <a:latin typeface="Calibri" pitchFamily="34" charset="0"/>
              </a:rPr>
              <a:t>Social</a:t>
            </a:r>
          </a:p>
        </p:txBody>
      </p:sp>
      <p:sp>
        <p:nvSpPr>
          <p:cNvPr id="42" name="t20574003379278"/>
          <p:cNvSpPr txBox="1"/>
          <p:nvPr/>
        </p:nvSpPr>
        <p:spPr>
          <a:xfrm>
            <a:off x="2217420" y="3476121"/>
            <a:ext cx="1188720" cy="21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ctr">
            <a:normAutofit lnSpcReduction="10000"/>
          </a:bodyPr>
          <a:lstStyle/>
          <a:p>
            <a:pPr marL="0" indent="0" algn="ctr">
              <a:buNone/>
            </a:pPr>
            <a:r>
              <a:rPr lang="en-US" sz="800" b="0" kern="0" dirty="0">
                <a:solidFill>
                  <a:srgbClr val="7EC8E3"/>
                </a:solidFill>
                <a:latin typeface="Calibri" pitchFamily="34" charset="0"/>
              </a:rPr>
              <a:t>Engineering</a:t>
            </a:r>
          </a:p>
        </p:txBody>
      </p:sp>
      <p:sp>
        <p:nvSpPr>
          <p:cNvPr id="43" name="r38862001671637"/>
          <p:cNvSpPr/>
          <p:nvPr/>
        </p:nvSpPr>
        <p:spPr>
          <a:xfrm>
            <a:off x="3886200" y="1671637"/>
            <a:ext cx="1188720" cy="420000"/>
          </a:xfrm>
          <a:prstGeom prst="roundRect">
            <a:avLst>
              <a:gd name="adj" fmla="val 8000"/>
            </a:avLst>
          </a:prstGeom>
          <a:solidFill>
            <a:srgbClr val="003D60"/>
          </a:solidFill>
          <a:ln>
            <a:noFill/>
          </a:ln>
        </p:spPr>
      </p:sp>
      <p:sp>
        <p:nvSpPr>
          <p:cNvPr id="44" name="t38862001671637"/>
          <p:cNvSpPr txBox="1"/>
          <p:nvPr/>
        </p:nvSpPr>
        <p:spPr>
          <a:xfrm>
            <a:off x="3886200" y="1671637"/>
            <a:ext cx="1188720" cy="21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ctr">
            <a:normAutofit lnSpcReduction="10000"/>
          </a:bodyPr>
          <a:lstStyle/>
          <a:p>
            <a:pPr marL="0" indent="0" algn="ctr">
              <a:buNone/>
            </a:pPr>
            <a:r>
              <a:rPr lang="en-US" sz="800" b="0" kern="0" dirty="0">
                <a:solidFill>
                  <a:srgbClr val="00D4FF"/>
                </a:solidFill>
                <a:latin typeface="Calibri" pitchFamily="34" charset="0"/>
              </a:rPr>
              <a:t>IDS/IPS</a:t>
            </a:r>
          </a:p>
        </p:txBody>
      </p:sp>
      <p:sp>
        <p:nvSpPr>
          <p:cNvPr id="45" name="r38862002468879"/>
          <p:cNvSpPr/>
          <p:nvPr/>
        </p:nvSpPr>
        <p:spPr>
          <a:xfrm>
            <a:off x="3886200" y="2468879"/>
            <a:ext cx="1188720" cy="420000"/>
          </a:xfrm>
          <a:prstGeom prst="roundRect">
            <a:avLst>
              <a:gd name="adj" fmla="val 8000"/>
            </a:avLst>
          </a:prstGeom>
          <a:solidFill>
            <a:srgbClr val="003D60"/>
          </a:solidFill>
          <a:ln>
            <a:noFill/>
          </a:ln>
        </p:spPr>
      </p:sp>
      <p:sp>
        <p:nvSpPr>
          <p:cNvPr id="46" name="t38862002468879"/>
          <p:cNvSpPr txBox="1"/>
          <p:nvPr/>
        </p:nvSpPr>
        <p:spPr>
          <a:xfrm>
            <a:off x="3886200" y="2468879"/>
            <a:ext cx="1188720" cy="21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ctr">
            <a:normAutofit lnSpcReduction="10000"/>
          </a:bodyPr>
          <a:lstStyle/>
          <a:p>
            <a:pPr marL="0" indent="0" algn="ctr">
              <a:buNone/>
            </a:pPr>
            <a:r>
              <a:rPr lang="en-US" sz="800" b="0" kern="0" dirty="0">
                <a:solidFill>
                  <a:srgbClr val="00D4FF"/>
                </a:solidFill>
                <a:latin typeface="Calibri" pitchFamily="34" charset="0"/>
              </a:rPr>
              <a:t>Email</a:t>
            </a:r>
          </a:p>
        </p:txBody>
      </p:sp>
      <p:sp>
        <p:nvSpPr>
          <p:cNvPr id="47" name="t38862002633471"/>
          <p:cNvSpPr txBox="1"/>
          <p:nvPr/>
        </p:nvSpPr>
        <p:spPr>
          <a:xfrm>
            <a:off x="3886200" y="2633471"/>
            <a:ext cx="1188720" cy="21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ctr">
            <a:normAutofit lnSpcReduction="10000"/>
          </a:bodyPr>
          <a:lstStyle/>
          <a:p>
            <a:pPr marL="0" indent="0" algn="ctr">
              <a:buNone/>
            </a:pPr>
            <a:r>
              <a:rPr lang="en-US" sz="800" b="0" kern="0" dirty="0">
                <a:solidFill>
                  <a:srgbClr val="00D4FF"/>
                </a:solidFill>
                <a:latin typeface="Calibri" pitchFamily="34" charset="0"/>
              </a:rPr>
              <a:t>Filter</a:t>
            </a:r>
          </a:p>
        </p:txBody>
      </p:sp>
      <p:sp>
        <p:nvSpPr>
          <p:cNvPr id="48" name="r38862003266121"/>
          <p:cNvSpPr/>
          <p:nvPr/>
        </p:nvSpPr>
        <p:spPr>
          <a:xfrm>
            <a:off x="3886200" y="3266121"/>
            <a:ext cx="1188720" cy="420000"/>
          </a:xfrm>
          <a:prstGeom prst="roundRect">
            <a:avLst>
              <a:gd name="adj" fmla="val 8000"/>
            </a:avLst>
          </a:prstGeom>
          <a:solidFill>
            <a:srgbClr val="003D60"/>
          </a:solidFill>
          <a:ln>
            <a:noFill/>
          </a:ln>
        </p:spPr>
      </p:sp>
      <p:sp>
        <p:nvSpPr>
          <p:cNvPr id="49" name="t38862003266121"/>
          <p:cNvSpPr txBox="1"/>
          <p:nvPr/>
        </p:nvSpPr>
        <p:spPr>
          <a:xfrm>
            <a:off x="3886200" y="3266121"/>
            <a:ext cx="1188720" cy="21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ctr">
            <a:normAutofit lnSpcReduction="10000"/>
          </a:bodyPr>
          <a:lstStyle/>
          <a:p>
            <a:pPr marL="0" indent="0" algn="ctr">
              <a:buNone/>
            </a:pPr>
            <a:r>
              <a:rPr lang="en-US" sz="800" b="0" kern="0" dirty="0">
                <a:solidFill>
                  <a:srgbClr val="00D4FF"/>
                </a:solidFill>
                <a:latin typeface="Calibri" pitchFamily="34" charset="0"/>
              </a:rPr>
              <a:t>VPN</a:t>
            </a:r>
          </a:p>
        </p:txBody>
      </p:sp>
      <p:sp>
        <p:nvSpPr>
          <p:cNvPr id="53" name="t38862003430713"/>
          <p:cNvSpPr txBox="1"/>
          <p:nvPr/>
        </p:nvSpPr>
        <p:spPr>
          <a:xfrm>
            <a:off x="3886200" y="3430713"/>
            <a:ext cx="1188720" cy="21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ctr">
            <a:normAutofit lnSpcReduction="10000"/>
          </a:bodyPr>
          <a:lstStyle/>
          <a:p>
            <a:pPr marL="0" indent="0" algn="ctr">
              <a:buNone/>
            </a:pPr>
            <a:r>
              <a:rPr lang="en-US" sz="800" b="0" kern="0" dirty="0">
                <a:solidFill>
                  <a:srgbClr val="00D4FF"/>
                </a:solidFill>
                <a:latin typeface="Calibri" pitchFamily="34" charset="0"/>
              </a:rPr>
              <a:t>Gateway</a:t>
            </a:r>
          </a:p>
        </p:txBody>
      </p:sp>
      <p:sp>
        <p:nvSpPr>
          <p:cNvPr id="54" name="r56235601671637"/>
          <p:cNvSpPr/>
          <p:nvPr/>
        </p:nvSpPr>
        <p:spPr>
          <a:xfrm>
            <a:off x="5623560" y="1671637"/>
            <a:ext cx="1188720" cy="420000"/>
          </a:xfrm>
          <a:prstGeom prst="roundRect">
            <a:avLst>
              <a:gd name="adj" fmla="val 8000"/>
            </a:avLst>
          </a:prstGeom>
          <a:solidFill>
            <a:srgbClr val="002D60"/>
          </a:solidFill>
          <a:ln>
            <a:noFill/>
          </a:ln>
        </p:spPr>
      </p:sp>
      <p:sp>
        <p:nvSpPr>
          <p:cNvPr id="55" name="t56235601671637"/>
          <p:cNvSpPr txBox="1"/>
          <p:nvPr/>
        </p:nvSpPr>
        <p:spPr>
          <a:xfrm>
            <a:off x="5623560" y="1671637"/>
            <a:ext cx="1188720" cy="21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ctr">
            <a:normAutofit lnSpcReduction="10000"/>
          </a:bodyPr>
          <a:lstStyle/>
          <a:p>
            <a:pPr marL="0" indent="0" algn="ctr">
              <a:buNone/>
            </a:pPr>
            <a:r>
              <a:rPr lang="en-US" sz="800" b="0" kern="0" dirty="0">
                <a:solidFill>
                  <a:srgbClr val="80DEEA"/>
                </a:solidFill>
                <a:latin typeface="Calibri" pitchFamily="34" charset="0"/>
              </a:rPr>
              <a:t>Employee</a:t>
            </a:r>
          </a:p>
        </p:txBody>
      </p:sp>
      <p:sp>
        <p:nvSpPr>
          <p:cNvPr id="56" name="t56235601836229"/>
          <p:cNvSpPr txBox="1"/>
          <p:nvPr/>
        </p:nvSpPr>
        <p:spPr>
          <a:xfrm>
            <a:off x="5623560" y="1836229"/>
            <a:ext cx="1188720" cy="21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ctr">
            <a:normAutofit lnSpcReduction="10000"/>
          </a:bodyPr>
          <a:lstStyle/>
          <a:p>
            <a:pPr marL="0" indent="0" algn="ctr">
              <a:buNone/>
            </a:pPr>
            <a:r>
              <a:rPr lang="en-US" sz="800" b="0" kern="0" dirty="0">
                <a:solidFill>
                  <a:srgbClr val="80DEEA"/>
                </a:solidFill>
                <a:latin typeface="Calibri" pitchFamily="34" charset="0"/>
              </a:rPr>
              <a:t>Workstations</a:t>
            </a:r>
          </a:p>
        </p:txBody>
      </p:sp>
      <p:sp>
        <p:nvSpPr>
          <p:cNvPr id="57" name="r56235602468879"/>
          <p:cNvSpPr/>
          <p:nvPr/>
        </p:nvSpPr>
        <p:spPr>
          <a:xfrm>
            <a:off x="5623560" y="2468879"/>
            <a:ext cx="1188720" cy="420000"/>
          </a:xfrm>
          <a:prstGeom prst="roundRect">
            <a:avLst>
              <a:gd name="adj" fmla="val 8000"/>
            </a:avLst>
          </a:prstGeom>
          <a:solidFill>
            <a:srgbClr val="002D60"/>
          </a:solidFill>
          <a:ln>
            <a:noFill/>
          </a:ln>
        </p:spPr>
      </p:sp>
      <p:sp>
        <p:nvSpPr>
          <p:cNvPr id="58" name="t56235602468879"/>
          <p:cNvSpPr txBox="1"/>
          <p:nvPr/>
        </p:nvSpPr>
        <p:spPr>
          <a:xfrm>
            <a:off x="5623560" y="2468879"/>
            <a:ext cx="1188720" cy="21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ctr">
            <a:normAutofit lnSpcReduction="10000"/>
          </a:bodyPr>
          <a:lstStyle/>
          <a:p>
            <a:pPr marL="0" indent="0" algn="ctr">
              <a:buNone/>
            </a:pPr>
            <a:r>
              <a:rPr lang="en-US" sz="800" b="0" kern="0" dirty="0">
                <a:solidFill>
                  <a:srgbClr val="80DEEA"/>
                </a:solidFill>
                <a:latin typeface="Calibri" pitchFamily="34" charset="0"/>
              </a:rPr>
              <a:t>File</a:t>
            </a:r>
          </a:p>
        </p:txBody>
      </p:sp>
      <p:sp>
        <p:nvSpPr>
          <p:cNvPr id="59" name="t56235602633471"/>
          <p:cNvSpPr txBox="1"/>
          <p:nvPr/>
        </p:nvSpPr>
        <p:spPr>
          <a:xfrm>
            <a:off x="5623560" y="2633471"/>
            <a:ext cx="1188720" cy="21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ctr">
            <a:normAutofit lnSpcReduction="10000"/>
          </a:bodyPr>
          <a:lstStyle/>
          <a:p>
            <a:pPr marL="0" indent="0" algn="ctr">
              <a:buNone/>
            </a:pPr>
            <a:r>
              <a:rPr lang="en-US" sz="800" b="0" kern="0" dirty="0">
                <a:solidFill>
                  <a:srgbClr val="80DEEA"/>
                </a:solidFill>
                <a:latin typeface="Calibri" pitchFamily="34" charset="0"/>
              </a:rPr>
              <a:t>Servers</a:t>
            </a:r>
          </a:p>
        </p:txBody>
      </p:sp>
      <p:sp>
        <p:nvSpPr>
          <p:cNvPr id="61" name="r56235603266121"/>
          <p:cNvSpPr/>
          <p:nvPr/>
        </p:nvSpPr>
        <p:spPr>
          <a:xfrm>
            <a:off x="5623560" y="3266121"/>
            <a:ext cx="1188720" cy="420000"/>
          </a:xfrm>
          <a:prstGeom prst="roundRect">
            <a:avLst>
              <a:gd name="adj" fmla="val 8000"/>
            </a:avLst>
          </a:prstGeom>
          <a:solidFill>
            <a:srgbClr val="002D60"/>
          </a:solidFill>
          <a:ln>
            <a:noFill/>
          </a:ln>
        </p:spPr>
      </p:sp>
      <p:sp>
        <p:nvSpPr>
          <p:cNvPr id="62" name="t56235603266121"/>
          <p:cNvSpPr txBox="1"/>
          <p:nvPr/>
        </p:nvSpPr>
        <p:spPr>
          <a:xfrm>
            <a:off x="5623560" y="3266121"/>
            <a:ext cx="1188720" cy="21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ctr">
            <a:normAutofit lnSpcReduction="10000"/>
          </a:bodyPr>
          <a:lstStyle/>
          <a:p>
            <a:pPr marL="0" indent="0" algn="ctr">
              <a:buNone/>
            </a:pPr>
            <a:r>
              <a:rPr lang="en-US" sz="800" b="0" kern="0" dirty="0">
                <a:solidFill>
                  <a:srgbClr val="80DEEA"/>
                </a:solidFill>
                <a:latin typeface="Calibri" pitchFamily="34" charset="0"/>
              </a:rPr>
              <a:t>Business</a:t>
            </a:r>
          </a:p>
        </p:txBody>
      </p:sp>
      <p:sp>
        <p:nvSpPr>
          <p:cNvPr id="63" name="t56235603430713"/>
          <p:cNvSpPr txBox="1"/>
          <p:nvPr/>
        </p:nvSpPr>
        <p:spPr>
          <a:xfrm>
            <a:off x="5623560" y="3430713"/>
            <a:ext cx="1188720" cy="21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ctr">
            <a:normAutofit lnSpcReduction="10000"/>
          </a:bodyPr>
          <a:lstStyle/>
          <a:p>
            <a:pPr marL="0" indent="0" algn="ctr">
              <a:buNone/>
            </a:pPr>
            <a:r>
              <a:rPr lang="en-US" sz="800" b="0" kern="0" dirty="0">
                <a:solidFill>
                  <a:srgbClr val="80DEEA"/>
                </a:solidFill>
                <a:latin typeface="Calibri" pitchFamily="34" charset="0"/>
              </a:rPr>
              <a:t>Applications</a:t>
            </a:r>
          </a:p>
        </p:txBody>
      </p:sp>
      <p:sp>
        <p:nvSpPr>
          <p:cNvPr id="64" name="r73609201671637"/>
          <p:cNvSpPr/>
          <p:nvPr/>
        </p:nvSpPr>
        <p:spPr>
          <a:xfrm>
            <a:off x="7360920" y="1671637"/>
            <a:ext cx="1188720" cy="420000"/>
          </a:xfrm>
          <a:prstGeom prst="roundRect">
            <a:avLst>
              <a:gd name="adj" fmla="val 8000"/>
            </a:avLst>
          </a:prstGeom>
          <a:solidFill>
            <a:srgbClr val="003D28"/>
          </a:solidFill>
          <a:ln>
            <a:noFill/>
          </a:ln>
        </p:spPr>
      </p:sp>
      <p:sp>
        <p:nvSpPr>
          <p:cNvPr id="65" name="t73609201671637"/>
          <p:cNvSpPr txBox="1"/>
          <p:nvPr/>
        </p:nvSpPr>
        <p:spPr>
          <a:xfrm>
            <a:off x="7360920" y="1671637"/>
            <a:ext cx="1188720" cy="21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ctr">
            <a:normAutofit lnSpcReduction="10000"/>
          </a:bodyPr>
          <a:lstStyle/>
          <a:p>
            <a:pPr marL="0" indent="0" algn="ctr">
              <a:buNone/>
            </a:pPr>
            <a:r>
              <a:rPr lang="en-US" sz="800" b="0" kern="0" dirty="0">
                <a:solidFill>
                  <a:srgbClr val="69F0AE"/>
                </a:solidFill>
                <a:latin typeface="Calibri" pitchFamily="34" charset="0"/>
              </a:rPr>
              <a:t>Customer</a:t>
            </a:r>
          </a:p>
        </p:txBody>
      </p:sp>
      <p:sp>
        <p:nvSpPr>
          <p:cNvPr id="66" name="t73609201836229"/>
          <p:cNvSpPr txBox="1"/>
          <p:nvPr/>
        </p:nvSpPr>
        <p:spPr>
          <a:xfrm>
            <a:off x="7360920" y="1836229"/>
            <a:ext cx="1188720" cy="21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ctr">
            <a:normAutofit lnSpcReduction="10000"/>
          </a:bodyPr>
          <a:lstStyle/>
          <a:p>
            <a:pPr marL="0" indent="0" algn="ctr">
              <a:buNone/>
            </a:pPr>
            <a:r>
              <a:rPr lang="en-US" sz="800" b="0" kern="0" dirty="0">
                <a:solidFill>
                  <a:srgbClr val="69F0AE"/>
                </a:solidFill>
                <a:latin typeface="Calibri" pitchFamily="34" charset="0"/>
              </a:rPr>
              <a:t>Data</a:t>
            </a:r>
          </a:p>
        </p:txBody>
      </p:sp>
      <p:sp>
        <p:nvSpPr>
          <p:cNvPr id="67" name="r73609202468879"/>
          <p:cNvSpPr/>
          <p:nvPr/>
        </p:nvSpPr>
        <p:spPr>
          <a:xfrm>
            <a:off x="7360920" y="2468879"/>
            <a:ext cx="1188720" cy="420000"/>
          </a:xfrm>
          <a:prstGeom prst="roundRect">
            <a:avLst>
              <a:gd name="adj" fmla="val 8000"/>
            </a:avLst>
          </a:prstGeom>
          <a:solidFill>
            <a:srgbClr val="003D28"/>
          </a:solidFill>
          <a:ln>
            <a:noFill/>
          </a:ln>
        </p:spPr>
      </p:sp>
      <p:sp>
        <p:nvSpPr>
          <p:cNvPr id="68" name="t73609202468879"/>
          <p:cNvSpPr txBox="1"/>
          <p:nvPr/>
        </p:nvSpPr>
        <p:spPr>
          <a:xfrm>
            <a:off x="7360920" y="2468879"/>
            <a:ext cx="1188720" cy="21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ctr">
            <a:normAutofit lnSpcReduction="10000"/>
          </a:bodyPr>
          <a:lstStyle/>
          <a:p>
            <a:pPr marL="0" indent="0" algn="ctr">
              <a:buNone/>
            </a:pPr>
            <a:r>
              <a:rPr lang="en-US" sz="800" b="0" kern="0" dirty="0">
                <a:solidFill>
                  <a:srgbClr val="69F0AE"/>
                </a:solidFill>
                <a:latin typeface="Calibri" pitchFamily="34" charset="0"/>
              </a:rPr>
              <a:t>Financial</a:t>
            </a:r>
          </a:p>
        </p:txBody>
      </p:sp>
      <p:sp>
        <p:nvSpPr>
          <p:cNvPr id="69" name="t73609202633471"/>
          <p:cNvSpPr txBox="1"/>
          <p:nvPr/>
        </p:nvSpPr>
        <p:spPr>
          <a:xfrm>
            <a:off x="7360920" y="2633471"/>
            <a:ext cx="1188720" cy="21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ctr">
            <a:normAutofit lnSpcReduction="10000"/>
          </a:bodyPr>
          <a:lstStyle/>
          <a:p>
            <a:pPr marL="0" indent="0" algn="ctr">
              <a:buNone/>
            </a:pPr>
            <a:r>
              <a:rPr lang="en-US" sz="800" b="0" kern="0" dirty="0">
                <a:solidFill>
                  <a:srgbClr val="69F0AE"/>
                </a:solidFill>
                <a:latin typeface="Calibri" pitchFamily="34" charset="0"/>
              </a:rPr>
              <a:t>Records</a:t>
            </a:r>
          </a:p>
        </p:txBody>
      </p:sp>
      <p:sp>
        <p:nvSpPr>
          <p:cNvPr id="70" name="r73609203266121"/>
          <p:cNvSpPr/>
          <p:nvPr/>
        </p:nvSpPr>
        <p:spPr>
          <a:xfrm>
            <a:off x="7360920" y="3266121"/>
            <a:ext cx="1188720" cy="420000"/>
          </a:xfrm>
          <a:prstGeom prst="roundRect">
            <a:avLst>
              <a:gd name="adj" fmla="val 8000"/>
            </a:avLst>
          </a:prstGeom>
          <a:solidFill>
            <a:srgbClr val="003D28"/>
          </a:solidFill>
          <a:ln>
            <a:noFill/>
          </a:ln>
        </p:spPr>
      </p:sp>
      <p:sp>
        <p:nvSpPr>
          <p:cNvPr id="71" name="t73609203266121"/>
          <p:cNvSpPr txBox="1"/>
          <p:nvPr/>
        </p:nvSpPr>
        <p:spPr>
          <a:xfrm>
            <a:off x="7360920" y="3266121"/>
            <a:ext cx="1188720" cy="21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ctr">
            <a:normAutofit lnSpcReduction="10000"/>
          </a:bodyPr>
          <a:lstStyle/>
          <a:p>
            <a:pPr marL="0" indent="0" algn="ctr">
              <a:buNone/>
            </a:pPr>
            <a:r>
              <a:rPr lang="en-US" sz="800" b="0" kern="0" dirty="0">
                <a:solidFill>
                  <a:srgbClr val="69F0AE"/>
                </a:solidFill>
                <a:latin typeface="Calibri" pitchFamily="34" charset="0"/>
              </a:rPr>
              <a:t>IP &amp;</a:t>
            </a:r>
          </a:p>
        </p:txBody>
      </p:sp>
      <p:sp>
        <p:nvSpPr>
          <p:cNvPr id="72" name="t73609203430713"/>
          <p:cNvSpPr txBox="1"/>
          <p:nvPr/>
        </p:nvSpPr>
        <p:spPr>
          <a:xfrm>
            <a:off x="7360920" y="3430713"/>
            <a:ext cx="1188720" cy="21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ctr">
            <a:normAutofit lnSpcReduction="10000"/>
          </a:bodyPr>
          <a:lstStyle/>
          <a:p>
            <a:pPr marL="0" indent="0" algn="ctr">
              <a:buNone/>
            </a:pPr>
            <a:r>
              <a:rPr lang="en-US" sz="800" b="0" kern="0" dirty="0">
                <a:solidFill>
                  <a:srgbClr val="69F0AE"/>
                </a:solidFill>
                <a:latin typeface="Calibri" pitchFamily="34" charset="0"/>
              </a:rPr>
              <a:t>Credentials</a:t>
            </a:r>
          </a:p>
        </p:txBody>
      </p:sp>
      <p:cxnSp>
        <p:nvCxnSpPr>
          <p:cNvPr id="60" name="arr18928082623184"/>
          <p:cNvCxnSpPr/>
          <p:nvPr/>
        </p:nvCxnSpPr>
        <p:spPr>
          <a:xfrm>
            <a:off x="1892808" y="2623184"/>
            <a:ext cx="100584" cy="1"/>
          </a:xfrm>
          <a:prstGeom prst="straightConnector1">
            <a:avLst/>
          </a:prstGeom>
          <a:ln w="22860">
            <a:solidFill>
              <a:srgbClr val="FF6B6B"/>
            </a:solidFill>
            <a:tailEnd type="triangle" w="med" len="med"/>
          </a:ln>
        </p:spPr>
      </p:cxnSp>
      <p:cxnSp>
        <p:nvCxnSpPr>
          <p:cNvPr id="73" name="arr36301682623184"/>
          <p:cNvCxnSpPr/>
          <p:nvPr/>
        </p:nvCxnSpPr>
        <p:spPr>
          <a:xfrm>
            <a:off x="3630168" y="2623184"/>
            <a:ext cx="100584" cy="1"/>
          </a:xfrm>
          <a:prstGeom prst="straightConnector1">
            <a:avLst/>
          </a:prstGeom>
          <a:ln w="22860">
            <a:solidFill>
              <a:srgbClr val="FF6B6B"/>
            </a:solidFill>
            <a:tailEnd type="triangle" w="med" len="med"/>
          </a:ln>
        </p:spPr>
      </p:cxnSp>
      <p:cxnSp>
        <p:nvCxnSpPr>
          <p:cNvPr id="74" name="arr53675282623184"/>
          <p:cNvCxnSpPr/>
          <p:nvPr/>
        </p:nvCxnSpPr>
        <p:spPr>
          <a:xfrm>
            <a:off x="5367528" y="2623184"/>
            <a:ext cx="100584" cy="1"/>
          </a:xfrm>
          <a:prstGeom prst="straightConnector1">
            <a:avLst/>
          </a:prstGeom>
          <a:ln w="22860">
            <a:solidFill>
              <a:srgbClr val="FF6B6B"/>
            </a:solidFill>
            <a:tailEnd type="triangle" w="med" len="med"/>
          </a:ln>
        </p:spPr>
      </p:cxnSp>
      <p:cxnSp>
        <p:nvCxnSpPr>
          <p:cNvPr id="75" name="arr71048882623184"/>
          <p:cNvCxnSpPr/>
          <p:nvPr/>
        </p:nvCxnSpPr>
        <p:spPr>
          <a:xfrm>
            <a:off x="7104888" y="2623184"/>
            <a:ext cx="100584" cy="1"/>
          </a:xfrm>
          <a:prstGeom prst="straightConnector1">
            <a:avLst/>
          </a:prstGeom>
          <a:ln w="22860">
            <a:solidFill>
              <a:srgbClr val="FF6B6B"/>
            </a:solidFill>
            <a:tailEnd type="triangle" w="med" len="med"/>
          </a:ln>
        </p:spPr>
      </p:cxn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6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1A2B5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Risk Assessment Model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457200" y="822960"/>
            <a:ext cx="1097280" cy="36576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65760" y="1005840"/>
            <a:ext cx="8412480" cy="594360"/>
          </a:xfrm>
          <a:prstGeom prst="rect">
            <a:avLst/>
          </a:prstGeom>
          <a:solidFill>
            <a:srgbClr val="1A2B5F"/>
          </a:solidFill>
          <a:ln w="12700">
            <a:solidFill>
              <a:srgbClr val="1A2B5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65760" y="1005840"/>
            <a:ext cx="8412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Risk Score  =  </a:t>
            </a:r>
            <a:r>
              <a:rPr lang="en-US" sz="18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Likelihood</a:t>
            </a:r>
            <a:r>
              <a:rPr lang="en-US" sz="1800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  ×  </a:t>
            </a:r>
            <a:r>
              <a:rPr lang="en-US" sz="1800" b="1" dirty="0">
                <a:solidFill>
                  <a:srgbClr val="F6AD5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Impact</a:t>
            </a:r>
            <a:endParaRPr lang="en-US" sz="18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1737360"/>
          <a:ext cx="8412480" cy="2560320"/>
        </p:xfrm>
        <a:graphic>
          <a:graphicData uri="http://schemas.openxmlformats.org/drawingml/2006/table">
            <a:tbl>
              <a:tblPr/>
              <a:tblGrid>
                <a:gridCol w="1682496"/>
                <a:gridCol w="1682496"/>
                <a:gridCol w="1682496"/>
                <a:gridCol w="1682496"/>
                <a:gridCol w="1682496"/>
              </a:tblGrid>
              <a:tr h="420624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Risk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8D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8D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8D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8D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B5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Likelihood (1–5)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8D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8D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8D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8D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B5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Impact (1–5)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8D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8D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8D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8D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B5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Risk Score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8D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8D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8D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8D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B5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Risk Level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8D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8D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8D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8D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B5F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A2B5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Phishing Attacks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8D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8D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8D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8D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A2B5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8D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8D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8D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8D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A2B5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8D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8D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8D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8D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C039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8D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8D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8D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8D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C039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High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8D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8D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8D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8D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A2B5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Ransomware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8D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8D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8D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8D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C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A2B5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8D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8D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8D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8D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C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A2B5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8D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8D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8D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8D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C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C039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8D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8D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8D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8D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C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C039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High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8D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8D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8D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8D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CF2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A2B5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Insider Threats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8D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8D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8D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8D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A2B5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8D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8D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8D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8D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A2B5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8D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8D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8D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8D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E67E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15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8D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8D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8D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8D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E67E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High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8D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8D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8D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8D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A2B5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Weak Passwords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8D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8D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8D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8D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C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A2B5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8D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8D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8D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8D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C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A2B5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8D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8D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8D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8D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C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C039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8D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8D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8D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8D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C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C039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High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8D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8D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8D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8D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CF2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A2B5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Unpatched Software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8D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8D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8D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8D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A2B5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8D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8D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8D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8D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A2B5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8D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8D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8D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8D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E67E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16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8D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8D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8D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8D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E67E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High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8D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8D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8D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8D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6" name="Text 4"/>
          <p:cNvSpPr/>
          <p:nvPr/>
        </p:nvSpPr>
        <p:spPr>
          <a:xfrm>
            <a:off x="365760" y="4434840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2B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 Level Scale:</a:t>
            </a:r>
            <a:endParaRPr lang="en-US" sz="1100" dirty="0"/>
          </a:p>
        </p:txBody>
      </p:sp>
      <p:sp>
        <p:nvSpPr>
          <p:cNvPr id="8" name="Shape 5"/>
          <p:cNvSpPr/>
          <p:nvPr/>
        </p:nvSpPr>
        <p:spPr>
          <a:xfrm>
            <a:off x="2286000" y="4462272"/>
            <a:ext cx="1508760" cy="256032"/>
          </a:xfrm>
          <a:prstGeom prst="rect">
            <a:avLst/>
          </a:prstGeom>
          <a:solidFill>
            <a:srgbClr val="2ECC71"/>
          </a:solidFill>
          <a:ln w="12700">
            <a:solidFill>
              <a:srgbClr val="2ECC71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2286000" y="4462272"/>
            <a:ext cx="1508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1–5: Low</a:t>
            </a:r>
            <a:endParaRPr lang="en-US" sz="950" dirty="0"/>
          </a:p>
        </p:txBody>
      </p:sp>
      <p:sp>
        <p:nvSpPr>
          <p:cNvPr id="10" name="Shape 7"/>
          <p:cNvSpPr/>
          <p:nvPr/>
        </p:nvSpPr>
        <p:spPr>
          <a:xfrm>
            <a:off x="3931920" y="4462272"/>
            <a:ext cx="1508760" cy="256032"/>
          </a:xfrm>
          <a:prstGeom prst="rect">
            <a:avLst/>
          </a:prstGeom>
          <a:solidFill>
            <a:srgbClr val="E67E22"/>
          </a:solidFill>
          <a:ln w="12700">
            <a:solidFill>
              <a:srgbClr val="E67E22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3931920" y="4462272"/>
            <a:ext cx="1508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6–10: Medium</a:t>
            </a:r>
            <a:endParaRPr lang="en-US" sz="950" dirty="0"/>
          </a:p>
        </p:txBody>
      </p:sp>
      <p:sp>
        <p:nvSpPr>
          <p:cNvPr id="12" name="Shape 9"/>
          <p:cNvSpPr/>
          <p:nvPr/>
        </p:nvSpPr>
        <p:spPr>
          <a:xfrm>
            <a:off x="5577840" y="4462272"/>
            <a:ext cx="1508760" cy="256032"/>
          </a:xfrm>
          <a:prstGeom prst="rect">
            <a:avLst/>
          </a:prstGeom>
          <a:solidFill>
            <a:srgbClr val="E74C3C"/>
          </a:solidFill>
          <a:ln w="12700">
            <a:solidFill>
              <a:srgbClr val="E74C3C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5577840" y="4462272"/>
            <a:ext cx="1508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11–15: High</a:t>
            </a:r>
            <a:endParaRPr lang="en-US" sz="950" dirty="0"/>
          </a:p>
        </p:txBody>
      </p:sp>
      <p:sp>
        <p:nvSpPr>
          <p:cNvPr id="14" name="Shape 11"/>
          <p:cNvSpPr/>
          <p:nvPr/>
        </p:nvSpPr>
        <p:spPr>
          <a:xfrm>
            <a:off x="7223760" y="4462272"/>
            <a:ext cx="1508760" cy="256032"/>
          </a:xfrm>
          <a:prstGeom prst="rect">
            <a:avLst/>
          </a:prstGeom>
          <a:solidFill>
            <a:srgbClr val="8B0000"/>
          </a:solidFill>
          <a:ln w="12700">
            <a:solidFill>
              <a:srgbClr val="8B0000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7223760" y="4462272"/>
            <a:ext cx="1508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16–25: Critical</a:t>
            </a:r>
            <a:endParaRPr lang="en-US" sz="9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60E2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r00"/>
          <p:cNvSpPr/>
          <p:nvPr/>
        </p:nvSpPr>
        <p:spPr>
          <a:xfrm>
            <a:off x="0" y="0"/>
            <a:ext cx="64008" cy="5143500"/>
          </a:xfrm>
          <a:prstGeom prst="rect">
            <a:avLst/>
          </a:prstGeom>
          <a:solidFill>
            <a:srgbClr val="00D4FF"/>
          </a:solidFill>
          <a:ln>
            <a:noFill/>
          </a:ln>
        </p:spPr>
      </p:sp>
      <p:sp>
        <p:nvSpPr>
          <p:cNvPr id="2" name="r00"/>
          <p:cNvSpPr/>
          <p:nvPr/>
        </p:nvSpPr>
        <p:spPr>
          <a:xfrm>
            <a:off x="0" y="0"/>
            <a:ext cx="9144000" cy="41148"/>
          </a:xfrm>
          <a:prstGeom prst="rect">
            <a:avLst/>
          </a:prstGeom>
          <a:solidFill>
            <a:srgbClr val="00D4FF">
              <a:alpha val="40000"/>
            </a:srgbClr>
          </a:solidFill>
          <a:ln>
            <a:noFill/>
          </a:ln>
        </p:spPr>
      </p:sp>
      <p:sp>
        <p:nvSpPr>
          <p:cNvPr id="3" name="r04526280"/>
          <p:cNvSpPr/>
          <p:nvPr/>
        </p:nvSpPr>
        <p:spPr>
          <a:xfrm>
            <a:off x="0" y="4526280"/>
            <a:ext cx="9144000" cy="617220"/>
          </a:xfrm>
          <a:prstGeom prst="rect">
            <a:avLst/>
          </a:prstGeom>
          <a:solidFill>
            <a:srgbClr val="001040"/>
          </a:solidFill>
          <a:ln>
            <a:noFill/>
          </a:ln>
        </p:spPr>
      </p:sp>
      <p:sp>
        <p:nvSpPr>
          <p:cNvPr id="4" name="r04526280"/>
          <p:cNvSpPr/>
          <p:nvPr/>
        </p:nvSpPr>
        <p:spPr>
          <a:xfrm>
            <a:off x="0" y="4526280"/>
            <a:ext cx="64008" cy="617220"/>
          </a:xfrm>
          <a:prstGeom prst="rect">
            <a:avLst/>
          </a:prstGeom>
          <a:solidFill>
            <a:srgbClr val="00D4FF"/>
          </a:solidFill>
          <a:ln>
            <a:noFill/>
          </a:ln>
        </p:spPr>
      </p:sp>
      <p:sp>
        <p:nvSpPr>
          <p:cNvPr id="5" name="r182880308610"/>
          <p:cNvSpPr/>
          <p:nvPr/>
        </p:nvSpPr>
        <p:spPr>
          <a:xfrm>
            <a:off x="182880" y="308610"/>
            <a:ext cx="8778240" cy="668655"/>
          </a:xfrm>
          <a:prstGeom prst="rect">
            <a:avLst/>
          </a:prstGeom>
          <a:solidFill>
            <a:srgbClr val="0A1640"/>
          </a:solidFill>
          <a:ln>
            <a:noFill/>
          </a:ln>
        </p:spPr>
      </p:sp>
      <p:sp>
        <p:nvSpPr>
          <p:cNvPr id="51" name="t457200334327"/>
          <p:cNvSpPr txBox="1"/>
          <p:nvPr/>
        </p:nvSpPr>
        <p:spPr>
          <a:xfrm>
            <a:off x="457200" y="334327"/>
            <a:ext cx="8046720" cy="617220"/>
          </a:xfrm>
          <a:prstGeom prst="rect">
            <a:avLst/>
          </a:prstGeom>
          <a:noFill/>
          <a:ln>
            <a:noFill/>
          </a:ln>
        </p:spPr>
        <p:txBody>
          <a:bodyPr wrap="square" rtlCol="0" anchor="ctr">
            <a:normAutofit/>
          </a:bodyPr>
          <a:lstStyle/>
          <a:p>
            <a:pPr marL="0" indent="0" algn="l">
              <a:buNone/>
            </a:pPr>
            <a:r>
              <a:rPr lang="en-US" sz="2200" b="1" kern="0" spc="200" dirty="0">
                <a:solidFill>
                  <a:srgbClr val="00D4FF"/>
                </a:solidFill>
                <a:latin typeface="Calibri" pitchFamily="34" charset="0"/>
              </a:rPr>
              <a:t>NIST Cybersecurity Framework Architecture</a:t>
            </a:r>
          </a:p>
        </p:txBody>
      </p:sp>
      <p:sp>
        <p:nvSpPr>
          <p:cNvPr id="6" name="t457200951547"/>
          <p:cNvSpPr txBox="1"/>
          <p:nvPr/>
        </p:nvSpPr>
        <p:spPr>
          <a:xfrm>
            <a:off x="457200" y="951547"/>
            <a:ext cx="8046720" cy="308610"/>
          </a:xfrm>
          <a:prstGeom prst="rect">
            <a:avLst/>
          </a:prstGeom>
          <a:noFill/>
          <a:ln>
            <a:noFill/>
          </a:ln>
        </p:spPr>
        <p:txBody>
          <a:bodyPr wrap="square" rtlCol="0" anchor="ctr">
            <a:normAutofit/>
          </a:bodyPr>
          <a:lstStyle/>
          <a:p>
            <a:pPr marL="0" indent="0" algn="l">
              <a:buNone/>
            </a:pPr>
            <a:r>
              <a:rPr lang="en-US" sz="1000" b="0" kern="0" dirty="0">
                <a:solidFill>
                  <a:srgbClr val="7EC8E3"/>
                </a:solidFill>
                <a:latin typeface="Calibri" pitchFamily="34" charset="0"/>
              </a:rPr>
              <a:t>Five core functions applied to SME cybersecurity risk management</a:t>
            </a:r>
          </a:p>
        </p:txBody>
      </p:sp>
      <p:sp>
        <p:nvSpPr>
          <p:cNvPr id="7" name="t3657604603432"/>
          <p:cNvSpPr txBox="1"/>
          <p:nvPr/>
        </p:nvSpPr>
        <p:spPr>
          <a:xfrm>
            <a:off x="365760" y="4603432"/>
            <a:ext cx="5486400" cy="308610"/>
          </a:xfrm>
          <a:prstGeom prst="rect">
            <a:avLst/>
          </a:prstGeom>
          <a:noFill/>
          <a:ln>
            <a:noFill/>
          </a:ln>
        </p:spPr>
        <p:txBody>
          <a:bodyPr wrap="square" rtlCol="0" anchor="ctr">
            <a:normAutofit/>
          </a:bodyPr>
          <a:lstStyle/>
          <a:p>
            <a:pPr marL="0" indent="0" algn="l">
              <a:buNone/>
            </a:pPr>
            <a:r>
              <a:rPr lang="en-US" sz="900" b="0" kern="0" dirty="0">
                <a:solidFill>
                  <a:srgbClr val="7EC8E3"/>
                </a:solidFill>
                <a:latin typeface="Calibri" pitchFamily="34" charset="0"/>
              </a:rPr>
              <a:t>Cybersecurity Risk Assessment Framework  ·  Minor Project I</a:t>
            </a:r>
          </a:p>
        </p:txBody>
      </p:sp>
      <p:sp>
        <p:nvSpPr>
          <p:cNvPr id="8" name="r4709161208722"/>
          <p:cNvSpPr/>
          <p:nvPr/>
        </p:nvSpPr>
        <p:spPr>
          <a:xfrm>
            <a:off x="470916" y="1208722"/>
            <a:ext cx="1508760" cy="2674620"/>
          </a:xfrm>
          <a:prstGeom prst="rect">
            <a:avLst/>
          </a:prstGeom>
          <a:solidFill>
            <a:srgbClr val="001F6E"/>
          </a:solidFill>
          <a:ln>
            <a:noFill/>
          </a:ln>
        </p:spPr>
      </p:sp>
      <p:sp>
        <p:nvSpPr>
          <p:cNvPr id="9" name="r4709161208722"/>
          <p:cNvSpPr/>
          <p:nvPr/>
        </p:nvSpPr>
        <p:spPr>
          <a:xfrm>
            <a:off x="470916" y="1208722"/>
            <a:ext cx="1508760" cy="231457"/>
          </a:xfrm>
          <a:prstGeom prst="rect">
            <a:avLst/>
          </a:prstGeom>
          <a:solidFill>
            <a:srgbClr val="00D4FF"/>
          </a:solidFill>
          <a:ln>
            <a:noFill/>
          </a:ln>
        </p:spPr>
      </p:sp>
      <p:sp>
        <p:nvSpPr>
          <p:cNvPr id="52" name="c12252961723071"/>
          <p:cNvSpPr/>
          <p:nvPr/>
        </p:nvSpPr>
        <p:spPr>
          <a:xfrm>
            <a:off x="1029843" y="1527618"/>
            <a:ext cx="390906" cy="390906"/>
          </a:xfrm>
          <a:prstGeom prst="ellipse">
            <a:avLst/>
          </a:prstGeom>
          <a:solidFill>
            <a:srgbClr val="060E2B"/>
          </a:solidFill>
          <a:ln>
            <a:noFill/>
          </a:ln>
        </p:spPr>
      </p:sp>
      <p:sp>
        <p:nvSpPr>
          <p:cNvPr id="10" name="t9966961568767"/>
          <p:cNvSpPr txBox="1"/>
          <p:nvPr/>
        </p:nvSpPr>
        <p:spPr>
          <a:xfrm>
            <a:off x="996696" y="1568767"/>
            <a:ext cx="457200" cy="360045"/>
          </a:xfrm>
          <a:prstGeom prst="rect">
            <a:avLst/>
          </a:prstGeom>
          <a:noFill/>
          <a:ln>
            <a:noFill/>
          </a:ln>
        </p:spPr>
        <p:txBody>
          <a:bodyPr wrap="square" rtlCol="0" anchor="ctr">
            <a:normAutofit/>
          </a:bodyPr>
          <a:lstStyle/>
          <a:p>
            <a:pPr marL="0" indent="0" algn="ctr">
              <a:buNone/>
            </a:pPr>
            <a:r>
              <a:rPr lang="en-US" sz="1400" b="1" kern="0" dirty="0">
                <a:solidFill>
                  <a:srgbClr val="00D4FF"/>
                </a:solidFill>
                <a:latin typeface="Calibri" pitchFamily="34" charset="0"/>
              </a:rPr>
              <a:t>1</a:t>
            </a:r>
          </a:p>
        </p:txBody>
      </p:sp>
      <p:sp>
        <p:nvSpPr>
          <p:cNvPr id="11" name="t5166362005964"/>
          <p:cNvSpPr txBox="1"/>
          <p:nvPr/>
        </p:nvSpPr>
        <p:spPr>
          <a:xfrm>
            <a:off x="516636" y="2005964"/>
            <a:ext cx="1417320" cy="308610"/>
          </a:xfrm>
          <a:prstGeom prst="rect">
            <a:avLst/>
          </a:prstGeom>
          <a:noFill/>
          <a:ln>
            <a:noFill/>
          </a:ln>
        </p:spPr>
        <p:txBody>
          <a:bodyPr wrap="square" rtlCol="0" anchor="ctr">
            <a:normAutofit/>
          </a:bodyPr>
          <a:lstStyle/>
          <a:p>
            <a:pPr marL="0" indent="0" algn="ctr">
              <a:buNone/>
            </a:pPr>
            <a:r>
              <a:rPr lang="en-US" sz="1000" b="1" kern="0" spc="300" dirty="0">
                <a:solidFill>
                  <a:srgbClr val="00D4FF"/>
                </a:solidFill>
                <a:latin typeface="Calibri" pitchFamily="34" charset="0"/>
              </a:rPr>
              <a:t>IDENTIFY</a:t>
            </a:r>
          </a:p>
        </p:txBody>
      </p:sp>
      <p:sp>
        <p:nvSpPr>
          <p:cNvPr id="12" name="t5440682417444"/>
          <p:cNvSpPr txBox="1"/>
          <p:nvPr/>
        </p:nvSpPr>
        <p:spPr>
          <a:xfrm>
            <a:off x="544068" y="2417444"/>
            <a:ext cx="1399032" cy="282892"/>
          </a:xfrm>
          <a:prstGeom prst="rect">
            <a:avLst/>
          </a:prstGeom>
          <a:noFill/>
          <a:ln>
            <a:noFill/>
          </a:ln>
        </p:spPr>
        <p:txBody>
          <a:bodyPr wrap="square" rtlCol="0" anchor="ctr">
            <a:normAutofit/>
          </a:bodyPr>
          <a:lstStyle/>
          <a:p>
            <a:pPr marL="0" indent="0" algn="l">
              <a:buNone/>
            </a:pPr>
            <a:r>
              <a:rPr lang="en-US" sz="780" b="0" kern="0" dirty="0">
                <a:solidFill>
                  <a:srgbClr val="C8D8E8"/>
                </a:solidFill>
                <a:latin typeface="Calibri" pitchFamily="34" charset="0"/>
              </a:rPr>
              <a:t>Asset Mgmt</a:t>
            </a:r>
          </a:p>
        </p:txBody>
      </p:sp>
      <p:sp>
        <p:nvSpPr>
          <p:cNvPr id="13" name="t5440682710623"/>
          <p:cNvSpPr txBox="1"/>
          <p:nvPr/>
        </p:nvSpPr>
        <p:spPr>
          <a:xfrm>
            <a:off x="544068" y="2710623"/>
            <a:ext cx="1399032" cy="282892"/>
          </a:xfrm>
          <a:prstGeom prst="rect">
            <a:avLst/>
          </a:prstGeom>
          <a:noFill/>
          <a:ln>
            <a:noFill/>
          </a:ln>
        </p:spPr>
        <p:txBody>
          <a:bodyPr wrap="square" rtlCol="0" anchor="ctr">
            <a:normAutofit/>
          </a:bodyPr>
          <a:lstStyle/>
          <a:p>
            <a:pPr marL="0" indent="0" algn="l">
              <a:buNone/>
            </a:pPr>
            <a:r>
              <a:rPr lang="en-US" sz="780" b="0" kern="0" dirty="0">
                <a:solidFill>
                  <a:srgbClr val="C8D8E8"/>
                </a:solidFill>
                <a:latin typeface="Calibri" pitchFamily="34" charset="0"/>
              </a:rPr>
              <a:t>Business Env</a:t>
            </a:r>
          </a:p>
        </p:txBody>
      </p:sp>
      <p:sp>
        <p:nvSpPr>
          <p:cNvPr id="14" name="t5440683003802"/>
          <p:cNvSpPr txBox="1"/>
          <p:nvPr/>
        </p:nvSpPr>
        <p:spPr>
          <a:xfrm>
            <a:off x="544068" y="3003802"/>
            <a:ext cx="1399032" cy="282892"/>
          </a:xfrm>
          <a:prstGeom prst="rect">
            <a:avLst/>
          </a:prstGeom>
          <a:noFill/>
          <a:ln>
            <a:noFill/>
          </a:ln>
        </p:spPr>
        <p:txBody>
          <a:bodyPr wrap="square" rtlCol="0" anchor="ctr">
            <a:normAutofit/>
          </a:bodyPr>
          <a:lstStyle/>
          <a:p>
            <a:pPr marL="0" indent="0" algn="l">
              <a:buNone/>
            </a:pPr>
            <a:r>
              <a:rPr lang="en-US" sz="780" b="0" kern="0" dirty="0">
                <a:solidFill>
                  <a:srgbClr val="C8D8E8"/>
                </a:solidFill>
                <a:latin typeface="Calibri" pitchFamily="34" charset="0"/>
              </a:rPr>
              <a:t>Governance</a:t>
            </a:r>
          </a:p>
        </p:txBody>
      </p:sp>
      <p:sp>
        <p:nvSpPr>
          <p:cNvPr id="15" name="t5440683296981"/>
          <p:cNvSpPr txBox="1"/>
          <p:nvPr/>
        </p:nvSpPr>
        <p:spPr>
          <a:xfrm>
            <a:off x="544068" y="3296981"/>
            <a:ext cx="1399032" cy="282892"/>
          </a:xfrm>
          <a:prstGeom prst="rect">
            <a:avLst/>
          </a:prstGeom>
          <a:noFill/>
          <a:ln>
            <a:noFill/>
          </a:ln>
        </p:spPr>
        <p:txBody>
          <a:bodyPr wrap="square" rtlCol="0" anchor="ctr">
            <a:normAutofit/>
          </a:bodyPr>
          <a:lstStyle/>
          <a:p>
            <a:pPr marL="0" indent="0" algn="l">
              <a:buNone/>
            </a:pPr>
            <a:r>
              <a:rPr lang="en-US" sz="780" b="0" kern="0" dirty="0">
                <a:solidFill>
                  <a:srgbClr val="C8D8E8"/>
                </a:solidFill>
                <a:latin typeface="Calibri" pitchFamily="34" charset="0"/>
              </a:rPr>
              <a:t>Risk Assessment</a:t>
            </a:r>
          </a:p>
        </p:txBody>
      </p:sp>
      <p:sp>
        <p:nvSpPr>
          <p:cNvPr id="16" name="t5440683590160"/>
          <p:cNvSpPr txBox="1"/>
          <p:nvPr/>
        </p:nvSpPr>
        <p:spPr>
          <a:xfrm>
            <a:off x="544068" y="3590160"/>
            <a:ext cx="1399032" cy="282892"/>
          </a:xfrm>
          <a:prstGeom prst="rect">
            <a:avLst/>
          </a:prstGeom>
          <a:noFill/>
          <a:ln>
            <a:noFill/>
          </a:ln>
        </p:spPr>
        <p:txBody>
          <a:bodyPr wrap="square" rtlCol="0" anchor="ctr">
            <a:normAutofit/>
          </a:bodyPr>
          <a:lstStyle/>
          <a:p>
            <a:pPr marL="0" indent="0" algn="l">
              <a:buNone/>
            </a:pPr>
            <a:r>
              <a:rPr lang="en-US" sz="780" b="0" kern="0" dirty="0">
                <a:solidFill>
                  <a:srgbClr val="C8D8E8"/>
                </a:solidFill>
                <a:latin typeface="Calibri" pitchFamily="34" charset="0"/>
              </a:rPr>
              <a:t>Supply Chain</a:t>
            </a:r>
          </a:p>
        </p:txBody>
      </p:sp>
      <p:cxnSp>
        <p:nvCxnSpPr>
          <p:cNvPr id="60" name="arr19961352546032"/>
          <p:cNvCxnSpPr/>
          <p:nvPr/>
        </p:nvCxnSpPr>
        <p:spPr>
          <a:xfrm>
            <a:off x="1996135" y="2546032"/>
            <a:ext cx="148133" cy="1"/>
          </a:xfrm>
          <a:prstGeom prst="straightConnector1">
            <a:avLst/>
          </a:prstGeom>
          <a:ln w="22860">
            <a:solidFill>
              <a:srgbClr val="00D4FF"/>
            </a:solidFill>
            <a:tailEnd type="triangle" w="med" len="med"/>
          </a:ln>
        </p:spPr>
      </p:cxnSp>
      <p:sp>
        <p:nvSpPr>
          <p:cNvPr id="17" name="r21442681208722"/>
          <p:cNvSpPr/>
          <p:nvPr/>
        </p:nvSpPr>
        <p:spPr>
          <a:xfrm>
            <a:off x="2144268" y="1208722"/>
            <a:ext cx="1508760" cy="2674620"/>
          </a:xfrm>
          <a:prstGeom prst="rect">
            <a:avLst/>
          </a:prstGeom>
          <a:solidFill>
            <a:srgbClr val="003080"/>
          </a:solidFill>
          <a:ln>
            <a:noFill/>
          </a:ln>
        </p:spPr>
      </p:sp>
      <p:sp>
        <p:nvSpPr>
          <p:cNvPr id="18" name="r21442681208722"/>
          <p:cNvSpPr/>
          <p:nvPr/>
        </p:nvSpPr>
        <p:spPr>
          <a:xfrm>
            <a:off x="2144268" y="1208722"/>
            <a:ext cx="1508760" cy="231457"/>
          </a:xfrm>
          <a:prstGeom prst="rect">
            <a:avLst/>
          </a:prstGeom>
          <a:solidFill>
            <a:srgbClr val="4FC3F7"/>
          </a:solidFill>
          <a:ln>
            <a:noFill/>
          </a:ln>
        </p:spPr>
      </p:sp>
      <p:sp>
        <p:nvSpPr>
          <p:cNvPr id="19" name="c28986481723071"/>
          <p:cNvSpPr/>
          <p:nvPr/>
        </p:nvSpPr>
        <p:spPr>
          <a:xfrm>
            <a:off x="2703195" y="1527618"/>
            <a:ext cx="390906" cy="390906"/>
          </a:xfrm>
          <a:prstGeom prst="ellipse">
            <a:avLst/>
          </a:prstGeom>
          <a:solidFill>
            <a:srgbClr val="060E2B"/>
          </a:solidFill>
          <a:ln>
            <a:noFill/>
          </a:ln>
        </p:spPr>
      </p:sp>
      <p:sp>
        <p:nvSpPr>
          <p:cNvPr id="20" name="t26700481568767"/>
          <p:cNvSpPr txBox="1"/>
          <p:nvPr/>
        </p:nvSpPr>
        <p:spPr>
          <a:xfrm>
            <a:off x="2670048" y="1568767"/>
            <a:ext cx="457200" cy="360045"/>
          </a:xfrm>
          <a:prstGeom prst="rect">
            <a:avLst/>
          </a:prstGeom>
          <a:noFill/>
          <a:ln>
            <a:noFill/>
          </a:ln>
        </p:spPr>
        <p:txBody>
          <a:bodyPr wrap="square" rtlCol="0" anchor="ctr">
            <a:normAutofit/>
          </a:bodyPr>
          <a:lstStyle/>
          <a:p>
            <a:pPr marL="0" indent="0" algn="ctr">
              <a:buNone/>
            </a:pPr>
            <a:r>
              <a:rPr lang="en-US" sz="1400" b="1" kern="0" dirty="0">
                <a:solidFill>
                  <a:srgbClr val="4FC3F7"/>
                </a:solidFill>
                <a:latin typeface="Calibri" pitchFamily="34" charset="0"/>
              </a:rPr>
              <a:t>2</a:t>
            </a:r>
          </a:p>
        </p:txBody>
      </p:sp>
      <p:sp>
        <p:nvSpPr>
          <p:cNvPr id="21" name="t21899882005964"/>
          <p:cNvSpPr txBox="1"/>
          <p:nvPr/>
        </p:nvSpPr>
        <p:spPr>
          <a:xfrm>
            <a:off x="2189988" y="2005964"/>
            <a:ext cx="1417320" cy="308610"/>
          </a:xfrm>
          <a:prstGeom prst="rect">
            <a:avLst/>
          </a:prstGeom>
          <a:noFill/>
          <a:ln>
            <a:noFill/>
          </a:ln>
        </p:spPr>
        <p:txBody>
          <a:bodyPr wrap="square" rtlCol="0" anchor="ctr">
            <a:normAutofit/>
          </a:bodyPr>
          <a:lstStyle/>
          <a:p>
            <a:pPr marL="0" indent="0" algn="ctr">
              <a:buNone/>
            </a:pPr>
            <a:r>
              <a:rPr lang="en-US" sz="1000" b="1" kern="0" spc="300" dirty="0">
                <a:solidFill>
                  <a:srgbClr val="4FC3F7"/>
                </a:solidFill>
                <a:latin typeface="Calibri" pitchFamily="34" charset="0"/>
              </a:rPr>
              <a:t>PROTECT</a:t>
            </a:r>
          </a:p>
        </p:txBody>
      </p:sp>
      <p:sp>
        <p:nvSpPr>
          <p:cNvPr id="22" name="t22174202417444"/>
          <p:cNvSpPr txBox="1"/>
          <p:nvPr/>
        </p:nvSpPr>
        <p:spPr>
          <a:xfrm>
            <a:off x="2217420" y="2417444"/>
            <a:ext cx="1399032" cy="282892"/>
          </a:xfrm>
          <a:prstGeom prst="rect">
            <a:avLst/>
          </a:prstGeom>
          <a:noFill/>
          <a:ln>
            <a:noFill/>
          </a:ln>
        </p:spPr>
        <p:txBody>
          <a:bodyPr wrap="square" rtlCol="0" anchor="ctr">
            <a:normAutofit/>
          </a:bodyPr>
          <a:lstStyle/>
          <a:p>
            <a:pPr marL="0" indent="0" algn="l">
              <a:buNone/>
            </a:pPr>
            <a:r>
              <a:rPr lang="en-US" sz="780" b="0" kern="0" dirty="0">
                <a:solidFill>
                  <a:srgbClr val="C8D8E8"/>
                </a:solidFill>
                <a:latin typeface="Calibri" pitchFamily="34" charset="0"/>
              </a:rPr>
              <a:t>Access Control</a:t>
            </a:r>
          </a:p>
        </p:txBody>
      </p:sp>
      <p:sp>
        <p:nvSpPr>
          <p:cNvPr id="23" name="t22174202710623"/>
          <p:cNvSpPr txBox="1"/>
          <p:nvPr/>
        </p:nvSpPr>
        <p:spPr>
          <a:xfrm>
            <a:off x="2217420" y="2710623"/>
            <a:ext cx="1399032" cy="282892"/>
          </a:xfrm>
          <a:prstGeom prst="rect">
            <a:avLst/>
          </a:prstGeom>
          <a:noFill/>
          <a:ln>
            <a:noFill/>
          </a:ln>
        </p:spPr>
        <p:txBody>
          <a:bodyPr wrap="square" rtlCol="0" anchor="ctr">
            <a:normAutofit/>
          </a:bodyPr>
          <a:lstStyle/>
          <a:p>
            <a:pPr marL="0" indent="0" algn="l">
              <a:buNone/>
            </a:pPr>
            <a:r>
              <a:rPr lang="en-US" sz="780" b="0" kern="0" dirty="0">
                <a:solidFill>
                  <a:srgbClr val="C8D8E8"/>
                </a:solidFill>
                <a:latin typeface="Calibri" pitchFamily="34" charset="0"/>
              </a:rPr>
              <a:t>Awareness</a:t>
            </a:r>
          </a:p>
        </p:txBody>
      </p:sp>
      <p:sp>
        <p:nvSpPr>
          <p:cNvPr id="24" name="t22174203003802"/>
          <p:cNvSpPr txBox="1"/>
          <p:nvPr/>
        </p:nvSpPr>
        <p:spPr>
          <a:xfrm>
            <a:off x="2217420" y="3003802"/>
            <a:ext cx="1399032" cy="282892"/>
          </a:xfrm>
          <a:prstGeom prst="rect">
            <a:avLst/>
          </a:prstGeom>
          <a:noFill/>
          <a:ln>
            <a:noFill/>
          </a:ln>
        </p:spPr>
        <p:txBody>
          <a:bodyPr wrap="square" rtlCol="0" anchor="ctr">
            <a:normAutofit/>
          </a:bodyPr>
          <a:lstStyle/>
          <a:p>
            <a:pPr marL="0" indent="0" algn="l">
              <a:buNone/>
            </a:pPr>
            <a:r>
              <a:rPr lang="en-US" sz="780" b="0" kern="0" dirty="0">
                <a:solidFill>
                  <a:srgbClr val="C8D8E8"/>
                </a:solidFill>
                <a:latin typeface="Calibri" pitchFamily="34" charset="0"/>
              </a:rPr>
              <a:t>Data Security</a:t>
            </a:r>
          </a:p>
        </p:txBody>
      </p:sp>
      <p:sp>
        <p:nvSpPr>
          <p:cNvPr id="25" name="t22174203296981"/>
          <p:cNvSpPr txBox="1"/>
          <p:nvPr/>
        </p:nvSpPr>
        <p:spPr>
          <a:xfrm>
            <a:off x="2217420" y="3296981"/>
            <a:ext cx="1399032" cy="282892"/>
          </a:xfrm>
          <a:prstGeom prst="rect">
            <a:avLst/>
          </a:prstGeom>
          <a:noFill/>
          <a:ln>
            <a:noFill/>
          </a:ln>
        </p:spPr>
        <p:txBody>
          <a:bodyPr wrap="square" rtlCol="0" anchor="ctr">
            <a:normAutofit/>
          </a:bodyPr>
          <a:lstStyle/>
          <a:p>
            <a:pPr marL="0" indent="0" algn="l">
              <a:buNone/>
            </a:pPr>
            <a:r>
              <a:rPr lang="en-US" sz="780" b="0" kern="0" dirty="0">
                <a:solidFill>
                  <a:srgbClr val="C8D8E8"/>
                </a:solidFill>
                <a:latin typeface="Calibri" pitchFamily="34" charset="0"/>
              </a:rPr>
              <a:t>Maintenance</a:t>
            </a:r>
          </a:p>
        </p:txBody>
      </p:sp>
      <p:sp>
        <p:nvSpPr>
          <p:cNvPr id="26" name="t22174203590160"/>
          <p:cNvSpPr txBox="1"/>
          <p:nvPr/>
        </p:nvSpPr>
        <p:spPr>
          <a:xfrm>
            <a:off x="2217420" y="3590160"/>
            <a:ext cx="1399032" cy="282892"/>
          </a:xfrm>
          <a:prstGeom prst="rect">
            <a:avLst/>
          </a:prstGeom>
          <a:noFill/>
          <a:ln>
            <a:noFill/>
          </a:ln>
        </p:spPr>
        <p:txBody>
          <a:bodyPr wrap="square" rtlCol="0" anchor="ctr">
            <a:normAutofit/>
          </a:bodyPr>
          <a:lstStyle/>
          <a:p>
            <a:pPr marL="0" indent="0" algn="l">
              <a:buNone/>
            </a:pPr>
            <a:r>
              <a:rPr lang="en-US" sz="780" b="0" kern="0" dirty="0">
                <a:solidFill>
                  <a:srgbClr val="C8D8E8"/>
                </a:solidFill>
                <a:latin typeface="Calibri" pitchFamily="34" charset="0"/>
              </a:rPr>
              <a:t>Protective Tech</a:t>
            </a:r>
          </a:p>
        </p:txBody>
      </p:sp>
      <p:cxnSp>
        <p:nvCxnSpPr>
          <p:cNvPr id="27" name="arr36694872546032"/>
          <p:cNvCxnSpPr/>
          <p:nvPr/>
        </p:nvCxnSpPr>
        <p:spPr>
          <a:xfrm>
            <a:off x="3669487" y="2546032"/>
            <a:ext cx="148133" cy="1"/>
          </a:xfrm>
          <a:prstGeom prst="straightConnector1">
            <a:avLst/>
          </a:prstGeom>
          <a:ln w="22860">
            <a:solidFill>
              <a:srgbClr val="4FC3F7"/>
            </a:solidFill>
            <a:tailEnd type="triangle" w="med" len="med"/>
          </a:ln>
        </p:spPr>
      </p:cxnSp>
      <p:sp>
        <p:nvSpPr>
          <p:cNvPr id="28" name="r38176201208722"/>
          <p:cNvSpPr/>
          <p:nvPr/>
        </p:nvSpPr>
        <p:spPr>
          <a:xfrm>
            <a:off x="3817620" y="1208722"/>
            <a:ext cx="1508760" cy="2674620"/>
          </a:xfrm>
          <a:prstGeom prst="rect">
            <a:avLst/>
          </a:prstGeom>
          <a:solidFill>
            <a:srgbClr val="004D99"/>
          </a:solidFill>
          <a:ln>
            <a:noFill/>
          </a:ln>
        </p:spPr>
      </p:sp>
      <p:sp>
        <p:nvSpPr>
          <p:cNvPr id="29" name="r38176201208722"/>
          <p:cNvSpPr/>
          <p:nvPr/>
        </p:nvSpPr>
        <p:spPr>
          <a:xfrm>
            <a:off x="3817620" y="1208722"/>
            <a:ext cx="1508760" cy="231457"/>
          </a:xfrm>
          <a:prstGeom prst="rect">
            <a:avLst/>
          </a:prstGeom>
          <a:solidFill>
            <a:srgbClr val="80DEEA"/>
          </a:solidFill>
          <a:ln>
            <a:noFill/>
          </a:ln>
        </p:spPr>
      </p:sp>
      <p:sp>
        <p:nvSpPr>
          <p:cNvPr id="30" name="c45720001723071"/>
          <p:cNvSpPr/>
          <p:nvPr/>
        </p:nvSpPr>
        <p:spPr>
          <a:xfrm>
            <a:off x="4376547" y="1527618"/>
            <a:ext cx="390906" cy="390906"/>
          </a:xfrm>
          <a:prstGeom prst="ellipse">
            <a:avLst/>
          </a:prstGeom>
          <a:solidFill>
            <a:srgbClr val="060E2B"/>
          </a:solidFill>
          <a:ln>
            <a:noFill/>
          </a:ln>
        </p:spPr>
      </p:sp>
      <p:sp>
        <p:nvSpPr>
          <p:cNvPr id="31" name="t43434001568767"/>
          <p:cNvSpPr txBox="1"/>
          <p:nvPr/>
        </p:nvSpPr>
        <p:spPr>
          <a:xfrm>
            <a:off x="4343400" y="1568767"/>
            <a:ext cx="457200" cy="360045"/>
          </a:xfrm>
          <a:prstGeom prst="rect">
            <a:avLst/>
          </a:prstGeom>
          <a:noFill/>
          <a:ln>
            <a:noFill/>
          </a:ln>
        </p:spPr>
        <p:txBody>
          <a:bodyPr wrap="square" rtlCol="0" anchor="ctr">
            <a:normAutofit/>
          </a:bodyPr>
          <a:lstStyle/>
          <a:p>
            <a:pPr marL="0" indent="0" algn="ctr">
              <a:buNone/>
            </a:pPr>
            <a:r>
              <a:rPr lang="en-US" sz="1400" b="1" kern="0" dirty="0">
                <a:solidFill>
                  <a:srgbClr val="80DEEA"/>
                </a:solidFill>
                <a:latin typeface="Calibri" pitchFamily="34" charset="0"/>
              </a:rPr>
              <a:t>3</a:t>
            </a:r>
          </a:p>
        </p:txBody>
      </p:sp>
      <p:sp>
        <p:nvSpPr>
          <p:cNvPr id="32" name="t38633402005964"/>
          <p:cNvSpPr txBox="1"/>
          <p:nvPr/>
        </p:nvSpPr>
        <p:spPr>
          <a:xfrm>
            <a:off x="3863340" y="2005964"/>
            <a:ext cx="1417320" cy="308610"/>
          </a:xfrm>
          <a:prstGeom prst="rect">
            <a:avLst/>
          </a:prstGeom>
          <a:noFill/>
          <a:ln>
            <a:noFill/>
          </a:ln>
        </p:spPr>
        <p:txBody>
          <a:bodyPr wrap="square" rtlCol="0" anchor="ctr">
            <a:normAutofit/>
          </a:bodyPr>
          <a:lstStyle/>
          <a:p>
            <a:pPr marL="0" indent="0" algn="ctr">
              <a:buNone/>
            </a:pPr>
            <a:r>
              <a:rPr lang="en-US" sz="1000" b="1" kern="0" spc="300" dirty="0">
                <a:solidFill>
                  <a:srgbClr val="80DEEA"/>
                </a:solidFill>
                <a:latin typeface="Calibri" pitchFamily="34" charset="0"/>
              </a:rPr>
              <a:t>DETECT</a:t>
            </a:r>
          </a:p>
        </p:txBody>
      </p:sp>
      <p:sp>
        <p:nvSpPr>
          <p:cNvPr id="33" name="t38907722417444"/>
          <p:cNvSpPr txBox="1"/>
          <p:nvPr/>
        </p:nvSpPr>
        <p:spPr>
          <a:xfrm>
            <a:off x="3890772" y="2417444"/>
            <a:ext cx="1399032" cy="282892"/>
          </a:xfrm>
          <a:prstGeom prst="rect">
            <a:avLst/>
          </a:prstGeom>
          <a:noFill/>
          <a:ln>
            <a:noFill/>
          </a:ln>
        </p:spPr>
        <p:txBody>
          <a:bodyPr wrap="square" rtlCol="0" anchor="ctr">
            <a:normAutofit/>
          </a:bodyPr>
          <a:lstStyle/>
          <a:p>
            <a:pPr marL="0" indent="0" algn="l">
              <a:buNone/>
            </a:pPr>
            <a:r>
              <a:rPr lang="en-US" sz="780" b="0" kern="0" dirty="0">
                <a:solidFill>
                  <a:srgbClr val="C8D8E8"/>
                </a:solidFill>
                <a:latin typeface="Calibri" pitchFamily="34" charset="0"/>
              </a:rPr>
              <a:t>Anomalies</a:t>
            </a:r>
          </a:p>
        </p:txBody>
      </p:sp>
      <p:sp>
        <p:nvSpPr>
          <p:cNvPr id="34" name="t38907722710623"/>
          <p:cNvSpPr txBox="1"/>
          <p:nvPr/>
        </p:nvSpPr>
        <p:spPr>
          <a:xfrm>
            <a:off x="3890772" y="2710623"/>
            <a:ext cx="1399032" cy="282892"/>
          </a:xfrm>
          <a:prstGeom prst="rect">
            <a:avLst/>
          </a:prstGeom>
          <a:noFill/>
          <a:ln>
            <a:noFill/>
          </a:ln>
        </p:spPr>
        <p:txBody>
          <a:bodyPr wrap="square" rtlCol="0" anchor="ctr">
            <a:normAutofit/>
          </a:bodyPr>
          <a:lstStyle/>
          <a:p>
            <a:pPr marL="0" indent="0" algn="l">
              <a:buNone/>
            </a:pPr>
            <a:r>
              <a:rPr lang="en-US" sz="780" b="0" kern="0" dirty="0">
                <a:solidFill>
                  <a:srgbClr val="C8D8E8"/>
                </a:solidFill>
                <a:latin typeface="Calibri" pitchFamily="34" charset="0"/>
              </a:rPr>
              <a:t>Continuous Mon.</a:t>
            </a:r>
          </a:p>
        </p:txBody>
      </p:sp>
      <p:sp>
        <p:nvSpPr>
          <p:cNvPr id="35" name="t38907723003802"/>
          <p:cNvSpPr txBox="1"/>
          <p:nvPr/>
        </p:nvSpPr>
        <p:spPr>
          <a:xfrm>
            <a:off x="3890772" y="3003802"/>
            <a:ext cx="1399032" cy="282892"/>
          </a:xfrm>
          <a:prstGeom prst="rect">
            <a:avLst/>
          </a:prstGeom>
          <a:noFill/>
          <a:ln>
            <a:noFill/>
          </a:ln>
        </p:spPr>
        <p:txBody>
          <a:bodyPr wrap="square" rtlCol="0" anchor="ctr">
            <a:normAutofit/>
          </a:bodyPr>
          <a:lstStyle/>
          <a:p>
            <a:pPr marL="0" indent="0" algn="l">
              <a:buNone/>
            </a:pPr>
            <a:r>
              <a:rPr lang="en-US" sz="780" b="0" kern="0" dirty="0">
                <a:solidFill>
                  <a:srgbClr val="C8D8E8"/>
                </a:solidFill>
                <a:latin typeface="Calibri" pitchFamily="34" charset="0"/>
              </a:rPr>
              <a:t>Detection Process</a:t>
            </a:r>
          </a:p>
        </p:txBody>
      </p:sp>
      <p:cxnSp>
        <p:nvCxnSpPr>
          <p:cNvPr id="36" name="arr53428392546032"/>
          <p:cNvCxnSpPr/>
          <p:nvPr/>
        </p:nvCxnSpPr>
        <p:spPr>
          <a:xfrm>
            <a:off x="5342839" y="2546032"/>
            <a:ext cx="148133" cy="1"/>
          </a:xfrm>
          <a:prstGeom prst="straightConnector1">
            <a:avLst/>
          </a:prstGeom>
          <a:ln w="22860">
            <a:solidFill>
              <a:srgbClr val="80DEEA"/>
            </a:solidFill>
            <a:tailEnd type="triangle" w="med" len="med"/>
          </a:ln>
        </p:spPr>
      </p:cxnSp>
      <p:sp>
        <p:nvSpPr>
          <p:cNvPr id="37" name="r54909721208722"/>
          <p:cNvSpPr/>
          <p:nvPr/>
        </p:nvSpPr>
        <p:spPr>
          <a:xfrm>
            <a:off x="5490972" y="1208722"/>
            <a:ext cx="1508760" cy="2674620"/>
          </a:xfrm>
          <a:prstGeom prst="rect">
            <a:avLst/>
          </a:prstGeom>
          <a:solidFill>
            <a:srgbClr val="006080"/>
          </a:solidFill>
          <a:ln>
            <a:noFill/>
          </a:ln>
        </p:spPr>
      </p:sp>
      <p:sp>
        <p:nvSpPr>
          <p:cNvPr id="38" name="r54909721208722"/>
          <p:cNvSpPr/>
          <p:nvPr/>
        </p:nvSpPr>
        <p:spPr>
          <a:xfrm>
            <a:off x="5490972" y="1208722"/>
            <a:ext cx="1508760" cy="231457"/>
          </a:xfrm>
          <a:prstGeom prst="rect">
            <a:avLst/>
          </a:prstGeom>
          <a:solidFill>
            <a:srgbClr val="80CBC4"/>
          </a:solidFill>
          <a:ln>
            <a:noFill/>
          </a:ln>
        </p:spPr>
      </p:sp>
      <p:sp>
        <p:nvSpPr>
          <p:cNvPr id="39" name="c62453521723071"/>
          <p:cNvSpPr/>
          <p:nvPr/>
        </p:nvSpPr>
        <p:spPr>
          <a:xfrm>
            <a:off x="6049899" y="1527618"/>
            <a:ext cx="390906" cy="390906"/>
          </a:xfrm>
          <a:prstGeom prst="ellipse">
            <a:avLst/>
          </a:prstGeom>
          <a:solidFill>
            <a:srgbClr val="060E2B"/>
          </a:solidFill>
          <a:ln>
            <a:noFill/>
          </a:ln>
        </p:spPr>
      </p:sp>
      <p:sp>
        <p:nvSpPr>
          <p:cNvPr id="40" name="t60167521568767"/>
          <p:cNvSpPr txBox="1"/>
          <p:nvPr/>
        </p:nvSpPr>
        <p:spPr>
          <a:xfrm>
            <a:off x="6016752" y="1568767"/>
            <a:ext cx="457200" cy="360045"/>
          </a:xfrm>
          <a:prstGeom prst="rect">
            <a:avLst/>
          </a:prstGeom>
          <a:noFill/>
          <a:ln>
            <a:noFill/>
          </a:ln>
        </p:spPr>
        <p:txBody>
          <a:bodyPr wrap="square" rtlCol="0" anchor="ctr">
            <a:normAutofit/>
          </a:bodyPr>
          <a:lstStyle/>
          <a:p>
            <a:pPr marL="0" indent="0" algn="ctr">
              <a:buNone/>
            </a:pPr>
            <a:r>
              <a:rPr lang="en-US" sz="1400" b="1" kern="0" dirty="0">
                <a:solidFill>
                  <a:srgbClr val="80CBC4"/>
                </a:solidFill>
                <a:latin typeface="Calibri" pitchFamily="34" charset="0"/>
              </a:rPr>
              <a:t>4</a:t>
            </a:r>
          </a:p>
        </p:txBody>
      </p:sp>
      <p:sp>
        <p:nvSpPr>
          <p:cNvPr id="41" name="t55366922005964"/>
          <p:cNvSpPr txBox="1"/>
          <p:nvPr/>
        </p:nvSpPr>
        <p:spPr>
          <a:xfrm>
            <a:off x="5536692" y="2005964"/>
            <a:ext cx="1417320" cy="308610"/>
          </a:xfrm>
          <a:prstGeom prst="rect">
            <a:avLst/>
          </a:prstGeom>
          <a:noFill/>
          <a:ln>
            <a:noFill/>
          </a:ln>
        </p:spPr>
        <p:txBody>
          <a:bodyPr wrap="square" rtlCol="0" anchor="ctr">
            <a:normAutofit/>
          </a:bodyPr>
          <a:lstStyle/>
          <a:p>
            <a:pPr marL="0" indent="0" algn="ctr">
              <a:buNone/>
            </a:pPr>
            <a:r>
              <a:rPr lang="en-US" sz="1000" b="1" kern="0" spc="300" dirty="0">
                <a:solidFill>
                  <a:srgbClr val="80CBC4"/>
                </a:solidFill>
                <a:latin typeface="Calibri" pitchFamily="34" charset="0"/>
              </a:rPr>
              <a:t>RESPOND</a:t>
            </a:r>
          </a:p>
        </p:txBody>
      </p:sp>
      <p:sp>
        <p:nvSpPr>
          <p:cNvPr id="42" name="t55641242417444"/>
          <p:cNvSpPr txBox="1"/>
          <p:nvPr/>
        </p:nvSpPr>
        <p:spPr>
          <a:xfrm>
            <a:off x="5564124" y="2417444"/>
            <a:ext cx="1399032" cy="282892"/>
          </a:xfrm>
          <a:prstGeom prst="rect">
            <a:avLst/>
          </a:prstGeom>
          <a:noFill/>
          <a:ln>
            <a:noFill/>
          </a:ln>
        </p:spPr>
        <p:txBody>
          <a:bodyPr wrap="square" rtlCol="0" anchor="ctr">
            <a:normAutofit/>
          </a:bodyPr>
          <a:lstStyle/>
          <a:p>
            <a:pPr marL="0" indent="0" algn="l">
              <a:buNone/>
            </a:pPr>
            <a:r>
              <a:rPr lang="en-US" sz="780" b="0" kern="0" dirty="0">
                <a:solidFill>
                  <a:srgbClr val="C8D8E8"/>
                </a:solidFill>
                <a:latin typeface="Calibri" pitchFamily="34" charset="0"/>
              </a:rPr>
              <a:t>Response Plan</a:t>
            </a:r>
          </a:p>
        </p:txBody>
      </p:sp>
      <p:sp>
        <p:nvSpPr>
          <p:cNvPr id="43" name="t55641242710623"/>
          <p:cNvSpPr txBox="1"/>
          <p:nvPr/>
        </p:nvSpPr>
        <p:spPr>
          <a:xfrm>
            <a:off x="5564124" y="2710623"/>
            <a:ext cx="1399032" cy="282892"/>
          </a:xfrm>
          <a:prstGeom prst="rect">
            <a:avLst/>
          </a:prstGeom>
          <a:noFill/>
          <a:ln>
            <a:noFill/>
          </a:ln>
        </p:spPr>
        <p:txBody>
          <a:bodyPr wrap="square" rtlCol="0" anchor="ctr">
            <a:normAutofit/>
          </a:bodyPr>
          <a:lstStyle/>
          <a:p>
            <a:pPr marL="0" indent="0" algn="l">
              <a:buNone/>
            </a:pPr>
            <a:r>
              <a:rPr lang="en-US" sz="780" b="0" kern="0" dirty="0">
                <a:solidFill>
                  <a:srgbClr val="C8D8E8"/>
                </a:solidFill>
                <a:latin typeface="Calibri" pitchFamily="34" charset="0"/>
              </a:rPr>
              <a:t>Communications</a:t>
            </a:r>
          </a:p>
        </p:txBody>
      </p:sp>
      <p:sp>
        <p:nvSpPr>
          <p:cNvPr id="44" name="t55641243003802"/>
          <p:cNvSpPr txBox="1"/>
          <p:nvPr/>
        </p:nvSpPr>
        <p:spPr>
          <a:xfrm>
            <a:off x="5564124" y="3003802"/>
            <a:ext cx="1399032" cy="282892"/>
          </a:xfrm>
          <a:prstGeom prst="rect">
            <a:avLst/>
          </a:prstGeom>
          <a:noFill/>
          <a:ln>
            <a:noFill/>
          </a:ln>
        </p:spPr>
        <p:txBody>
          <a:bodyPr wrap="square" rtlCol="0" anchor="ctr">
            <a:normAutofit/>
          </a:bodyPr>
          <a:lstStyle/>
          <a:p>
            <a:pPr marL="0" indent="0" algn="l">
              <a:buNone/>
            </a:pPr>
            <a:r>
              <a:rPr lang="en-US" sz="780" b="0" kern="0" dirty="0">
                <a:solidFill>
                  <a:srgbClr val="C8D8E8"/>
                </a:solidFill>
                <a:latin typeface="Calibri" pitchFamily="34" charset="0"/>
              </a:rPr>
              <a:t>Analysis</a:t>
            </a:r>
          </a:p>
        </p:txBody>
      </p:sp>
      <p:sp>
        <p:nvSpPr>
          <p:cNvPr id="45" name="t55641243296981"/>
          <p:cNvSpPr txBox="1"/>
          <p:nvPr/>
        </p:nvSpPr>
        <p:spPr>
          <a:xfrm>
            <a:off x="5564124" y="3296981"/>
            <a:ext cx="1399032" cy="282892"/>
          </a:xfrm>
          <a:prstGeom prst="rect">
            <a:avLst/>
          </a:prstGeom>
          <a:noFill/>
          <a:ln>
            <a:noFill/>
          </a:ln>
        </p:spPr>
        <p:txBody>
          <a:bodyPr wrap="square" rtlCol="0" anchor="ctr">
            <a:normAutofit/>
          </a:bodyPr>
          <a:lstStyle/>
          <a:p>
            <a:pPr marL="0" indent="0" algn="l">
              <a:buNone/>
            </a:pPr>
            <a:r>
              <a:rPr lang="en-US" sz="780" b="0" kern="0" dirty="0">
                <a:solidFill>
                  <a:srgbClr val="C8D8E8"/>
                </a:solidFill>
                <a:latin typeface="Calibri" pitchFamily="34" charset="0"/>
              </a:rPr>
              <a:t>Mitigation</a:t>
            </a:r>
          </a:p>
        </p:txBody>
      </p:sp>
      <p:cxnSp>
        <p:nvCxnSpPr>
          <p:cNvPr id="46" name="arr70161912546032"/>
          <p:cNvCxnSpPr/>
          <p:nvPr/>
        </p:nvCxnSpPr>
        <p:spPr>
          <a:xfrm>
            <a:off x="7016191" y="2546032"/>
            <a:ext cx="148133" cy="1"/>
          </a:xfrm>
          <a:prstGeom prst="straightConnector1">
            <a:avLst/>
          </a:prstGeom>
          <a:ln w="22860">
            <a:solidFill>
              <a:srgbClr val="80CBC4"/>
            </a:solidFill>
            <a:tailEnd type="triangle" w="med" len="med"/>
          </a:ln>
        </p:spPr>
      </p:cxnSp>
      <p:sp>
        <p:nvSpPr>
          <p:cNvPr id="47" name="r71643241208722"/>
          <p:cNvSpPr/>
          <p:nvPr/>
        </p:nvSpPr>
        <p:spPr>
          <a:xfrm>
            <a:off x="7164324" y="1208722"/>
            <a:ext cx="1508760" cy="2674620"/>
          </a:xfrm>
          <a:prstGeom prst="rect">
            <a:avLst/>
          </a:prstGeom>
          <a:solidFill>
            <a:srgbClr val="00704A"/>
          </a:solidFill>
          <a:ln>
            <a:noFill/>
          </a:ln>
        </p:spPr>
      </p:sp>
      <p:sp>
        <p:nvSpPr>
          <p:cNvPr id="48" name="r71643241208722"/>
          <p:cNvSpPr/>
          <p:nvPr/>
        </p:nvSpPr>
        <p:spPr>
          <a:xfrm>
            <a:off x="7164324" y="1208722"/>
            <a:ext cx="1508760" cy="231457"/>
          </a:xfrm>
          <a:prstGeom prst="rect">
            <a:avLst/>
          </a:prstGeom>
          <a:solidFill>
            <a:srgbClr val="69F0AE"/>
          </a:solidFill>
          <a:ln>
            <a:noFill/>
          </a:ln>
        </p:spPr>
      </p:sp>
      <p:sp>
        <p:nvSpPr>
          <p:cNvPr id="49" name="c79187041723071"/>
          <p:cNvSpPr/>
          <p:nvPr/>
        </p:nvSpPr>
        <p:spPr>
          <a:xfrm>
            <a:off x="7723251" y="1527618"/>
            <a:ext cx="390906" cy="390906"/>
          </a:xfrm>
          <a:prstGeom prst="ellipse">
            <a:avLst/>
          </a:prstGeom>
          <a:solidFill>
            <a:srgbClr val="060E2B"/>
          </a:solidFill>
          <a:ln>
            <a:noFill/>
          </a:ln>
        </p:spPr>
      </p:sp>
      <p:sp>
        <p:nvSpPr>
          <p:cNvPr id="53" name="t76901041568767"/>
          <p:cNvSpPr txBox="1"/>
          <p:nvPr/>
        </p:nvSpPr>
        <p:spPr>
          <a:xfrm>
            <a:off x="7690104" y="1568767"/>
            <a:ext cx="457200" cy="360045"/>
          </a:xfrm>
          <a:prstGeom prst="rect">
            <a:avLst/>
          </a:prstGeom>
          <a:noFill/>
          <a:ln>
            <a:noFill/>
          </a:ln>
        </p:spPr>
        <p:txBody>
          <a:bodyPr wrap="square" rtlCol="0" anchor="ctr">
            <a:normAutofit/>
          </a:bodyPr>
          <a:lstStyle/>
          <a:p>
            <a:pPr marL="0" indent="0" algn="ctr">
              <a:buNone/>
            </a:pPr>
            <a:r>
              <a:rPr lang="en-US" sz="1400" b="1" kern="0" dirty="0">
                <a:solidFill>
                  <a:srgbClr val="69F0AE"/>
                </a:solidFill>
                <a:latin typeface="Calibri" pitchFamily="34" charset="0"/>
              </a:rPr>
              <a:t>5</a:t>
            </a:r>
          </a:p>
        </p:txBody>
      </p:sp>
      <p:sp>
        <p:nvSpPr>
          <p:cNvPr id="54" name="t72100442005964"/>
          <p:cNvSpPr txBox="1"/>
          <p:nvPr/>
        </p:nvSpPr>
        <p:spPr>
          <a:xfrm>
            <a:off x="7210044" y="2005964"/>
            <a:ext cx="1417320" cy="308610"/>
          </a:xfrm>
          <a:prstGeom prst="rect">
            <a:avLst/>
          </a:prstGeom>
          <a:noFill/>
          <a:ln>
            <a:noFill/>
          </a:ln>
        </p:spPr>
        <p:txBody>
          <a:bodyPr wrap="square" rtlCol="0" anchor="ctr">
            <a:normAutofit/>
          </a:bodyPr>
          <a:lstStyle/>
          <a:p>
            <a:pPr marL="0" indent="0" algn="ctr">
              <a:buNone/>
            </a:pPr>
            <a:r>
              <a:rPr lang="en-US" sz="1000" b="1" kern="0" spc="300" dirty="0">
                <a:solidFill>
                  <a:srgbClr val="69F0AE"/>
                </a:solidFill>
                <a:latin typeface="Calibri" pitchFamily="34" charset="0"/>
              </a:rPr>
              <a:t>RECOVER</a:t>
            </a:r>
          </a:p>
        </p:txBody>
      </p:sp>
      <p:sp>
        <p:nvSpPr>
          <p:cNvPr id="55" name="t72374762417444"/>
          <p:cNvSpPr txBox="1"/>
          <p:nvPr/>
        </p:nvSpPr>
        <p:spPr>
          <a:xfrm>
            <a:off x="7237476" y="2417444"/>
            <a:ext cx="1399032" cy="282892"/>
          </a:xfrm>
          <a:prstGeom prst="rect">
            <a:avLst/>
          </a:prstGeom>
          <a:noFill/>
          <a:ln>
            <a:noFill/>
          </a:ln>
        </p:spPr>
        <p:txBody>
          <a:bodyPr wrap="square" rtlCol="0" anchor="ctr">
            <a:normAutofit/>
          </a:bodyPr>
          <a:lstStyle/>
          <a:p>
            <a:pPr marL="0" indent="0" algn="l">
              <a:buNone/>
            </a:pPr>
            <a:r>
              <a:rPr lang="en-US" sz="780" b="0" kern="0" dirty="0">
                <a:solidFill>
                  <a:srgbClr val="C8D8E8"/>
                </a:solidFill>
                <a:latin typeface="Calibri" pitchFamily="34" charset="0"/>
              </a:rPr>
              <a:t>Recovery Plan</a:t>
            </a:r>
          </a:p>
        </p:txBody>
      </p:sp>
      <p:sp>
        <p:nvSpPr>
          <p:cNvPr id="56" name="t72374762710623"/>
          <p:cNvSpPr txBox="1"/>
          <p:nvPr/>
        </p:nvSpPr>
        <p:spPr>
          <a:xfrm>
            <a:off x="7237476" y="2710623"/>
            <a:ext cx="1399032" cy="282892"/>
          </a:xfrm>
          <a:prstGeom prst="rect">
            <a:avLst/>
          </a:prstGeom>
          <a:noFill/>
          <a:ln>
            <a:noFill/>
          </a:ln>
        </p:spPr>
        <p:txBody>
          <a:bodyPr wrap="square" rtlCol="0" anchor="ctr">
            <a:normAutofit/>
          </a:bodyPr>
          <a:lstStyle/>
          <a:p>
            <a:pPr marL="0" indent="0" algn="l">
              <a:buNone/>
            </a:pPr>
            <a:r>
              <a:rPr lang="en-US" sz="780" b="0" kern="0" dirty="0">
                <a:solidFill>
                  <a:srgbClr val="C8D8E8"/>
                </a:solidFill>
                <a:latin typeface="Calibri" pitchFamily="34" charset="0"/>
              </a:rPr>
              <a:t>Improvements</a:t>
            </a:r>
          </a:p>
        </p:txBody>
      </p:sp>
      <p:sp>
        <p:nvSpPr>
          <p:cNvPr id="57" name="t72374763003802"/>
          <p:cNvSpPr txBox="1"/>
          <p:nvPr/>
        </p:nvSpPr>
        <p:spPr>
          <a:xfrm>
            <a:off x="7237476" y="3003802"/>
            <a:ext cx="1399032" cy="282892"/>
          </a:xfrm>
          <a:prstGeom prst="rect">
            <a:avLst/>
          </a:prstGeom>
          <a:noFill/>
          <a:ln>
            <a:noFill/>
          </a:ln>
        </p:spPr>
        <p:txBody>
          <a:bodyPr wrap="square" rtlCol="0" anchor="ctr">
            <a:normAutofit/>
          </a:bodyPr>
          <a:lstStyle/>
          <a:p>
            <a:pPr marL="0" indent="0" algn="l">
              <a:buNone/>
            </a:pPr>
            <a:r>
              <a:rPr lang="en-US" sz="780" b="0" kern="0" dirty="0">
                <a:solidFill>
                  <a:srgbClr val="C8D8E8"/>
                </a:solidFill>
                <a:latin typeface="Calibri" pitchFamily="34" charset="0"/>
              </a:rPr>
              <a:t>Communications</a:t>
            </a:r>
          </a:p>
        </p:txBody>
      </p:sp>
      <p:sp>
        <p:nvSpPr>
          <p:cNvPr id="58" name="r3657604114800"/>
          <p:cNvSpPr/>
          <p:nvPr/>
        </p:nvSpPr>
        <p:spPr>
          <a:xfrm>
            <a:off x="365760" y="4114800"/>
            <a:ext cx="8412480" cy="298323"/>
          </a:xfrm>
          <a:prstGeom prst="rect">
            <a:avLst/>
          </a:prstGeom>
          <a:solidFill>
            <a:srgbClr val="001040"/>
          </a:solidFill>
          <a:ln>
            <a:noFill/>
          </a:ln>
        </p:spPr>
      </p:sp>
      <p:sp>
        <p:nvSpPr>
          <p:cNvPr id="59" name="r3657604114800"/>
          <p:cNvSpPr/>
          <p:nvPr/>
        </p:nvSpPr>
        <p:spPr>
          <a:xfrm>
            <a:off x="365760" y="4114800"/>
            <a:ext cx="54864" cy="298323"/>
          </a:xfrm>
          <a:prstGeom prst="rect">
            <a:avLst/>
          </a:prstGeom>
          <a:solidFill>
            <a:srgbClr val="00D4FF"/>
          </a:solidFill>
          <a:ln>
            <a:noFill/>
          </a:ln>
        </p:spPr>
      </p:sp>
      <p:sp>
        <p:nvSpPr>
          <p:cNvPr id="61" name="t5486404125087"/>
          <p:cNvSpPr txBox="1"/>
          <p:nvPr/>
        </p:nvSpPr>
        <p:spPr>
          <a:xfrm>
            <a:off x="548640" y="4125087"/>
            <a:ext cx="8046720" cy="277749"/>
          </a:xfrm>
          <a:prstGeom prst="rect">
            <a:avLst/>
          </a:prstGeom>
          <a:noFill/>
          <a:ln>
            <a:noFill/>
          </a:ln>
        </p:spPr>
        <p:txBody>
          <a:bodyPr wrap="square" rtlCol="0" anchor="ctr">
            <a:normAutofit/>
          </a:bodyPr>
          <a:lstStyle/>
          <a:p>
            <a:pPr marL="0" indent="0" algn="l">
              <a:buNone/>
            </a:pPr>
            <a:r>
              <a:rPr lang="en-US" sz="900" b="0" kern="0" dirty="0">
                <a:solidFill>
                  <a:srgbClr val="7EC8E3"/>
                </a:solidFill>
                <a:latin typeface="Calibri" pitchFamily="34" charset="0"/>
              </a:rPr>
              <a:t>Source: NIST Cybersecurity Framework v2.0  ·  Applied to SME threat identification, protection, and recovery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60E2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r00"/>
          <p:cNvSpPr/>
          <p:nvPr/>
        </p:nvSpPr>
        <p:spPr>
          <a:xfrm>
            <a:off x="0" y="0"/>
            <a:ext cx="64008" cy="5143500"/>
          </a:xfrm>
          <a:prstGeom prst="rect">
            <a:avLst/>
          </a:prstGeom>
          <a:solidFill>
            <a:srgbClr val="00D4FF"/>
          </a:solidFill>
          <a:ln>
            <a:noFill/>
          </a:ln>
        </p:spPr>
      </p:sp>
      <p:sp>
        <p:nvSpPr>
          <p:cNvPr id="2" name="r00"/>
          <p:cNvSpPr/>
          <p:nvPr/>
        </p:nvSpPr>
        <p:spPr>
          <a:xfrm>
            <a:off x="0" y="0"/>
            <a:ext cx="9144000" cy="41148"/>
          </a:xfrm>
          <a:prstGeom prst="rect">
            <a:avLst/>
          </a:prstGeom>
          <a:solidFill>
            <a:srgbClr val="00D4FF">
              <a:alpha val="40000"/>
            </a:srgbClr>
          </a:solidFill>
          <a:ln>
            <a:noFill/>
          </a:ln>
        </p:spPr>
      </p:sp>
      <p:sp>
        <p:nvSpPr>
          <p:cNvPr id="3" name="r04526280"/>
          <p:cNvSpPr/>
          <p:nvPr/>
        </p:nvSpPr>
        <p:spPr>
          <a:xfrm>
            <a:off x="0" y="4526280"/>
            <a:ext cx="9144000" cy="617220"/>
          </a:xfrm>
          <a:prstGeom prst="rect">
            <a:avLst/>
          </a:prstGeom>
          <a:solidFill>
            <a:srgbClr val="001040"/>
          </a:solidFill>
          <a:ln>
            <a:noFill/>
          </a:ln>
        </p:spPr>
      </p:sp>
      <p:sp>
        <p:nvSpPr>
          <p:cNvPr id="4" name="r04526280"/>
          <p:cNvSpPr/>
          <p:nvPr/>
        </p:nvSpPr>
        <p:spPr>
          <a:xfrm>
            <a:off x="0" y="4526280"/>
            <a:ext cx="64008" cy="617220"/>
          </a:xfrm>
          <a:prstGeom prst="rect">
            <a:avLst/>
          </a:prstGeom>
          <a:solidFill>
            <a:srgbClr val="00D4FF"/>
          </a:solidFill>
          <a:ln>
            <a:noFill/>
          </a:ln>
        </p:spPr>
      </p:sp>
      <p:sp>
        <p:nvSpPr>
          <p:cNvPr id="5" name="r182880308610"/>
          <p:cNvSpPr/>
          <p:nvPr/>
        </p:nvSpPr>
        <p:spPr>
          <a:xfrm>
            <a:off x="182880" y="308610"/>
            <a:ext cx="8778240" cy="668655"/>
          </a:xfrm>
          <a:prstGeom prst="rect">
            <a:avLst/>
          </a:prstGeom>
          <a:solidFill>
            <a:srgbClr val="0A1640"/>
          </a:solidFill>
          <a:ln>
            <a:noFill/>
          </a:ln>
        </p:spPr>
      </p:sp>
      <p:sp>
        <p:nvSpPr>
          <p:cNvPr id="51" name="t457200334327"/>
          <p:cNvSpPr txBox="1"/>
          <p:nvPr/>
        </p:nvSpPr>
        <p:spPr>
          <a:xfrm>
            <a:off x="457200" y="334327"/>
            <a:ext cx="8046720" cy="617220"/>
          </a:xfrm>
          <a:prstGeom prst="rect">
            <a:avLst/>
          </a:prstGeom>
          <a:noFill/>
          <a:ln>
            <a:noFill/>
          </a:ln>
        </p:spPr>
        <p:txBody>
          <a:bodyPr wrap="square" rtlCol="0" anchor="ctr">
            <a:normAutofit/>
          </a:bodyPr>
          <a:lstStyle/>
          <a:p>
            <a:pPr marL="0" indent="0" algn="l">
              <a:buNone/>
            </a:pPr>
            <a:r>
              <a:rPr lang="en-US" sz="2200" b="1" kern="0" spc="200" dirty="0">
                <a:solidFill>
                  <a:srgbClr val="00D4FF"/>
                </a:solidFill>
                <a:latin typeface="Calibri" pitchFamily="34" charset="0"/>
              </a:rPr>
              <a:t>Risk Heat Map — Threat Severity Matrix</a:t>
            </a:r>
          </a:p>
        </p:txBody>
      </p:sp>
      <p:sp>
        <p:nvSpPr>
          <p:cNvPr id="6" name="t457200951547"/>
          <p:cNvSpPr txBox="1"/>
          <p:nvPr/>
        </p:nvSpPr>
        <p:spPr>
          <a:xfrm>
            <a:off x="457200" y="951547"/>
            <a:ext cx="8046720" cy="308610"/>
          </a:xfrm>
          <a:prstGeom prst="rect">
            <a:avLst/>
          </a:prstGeom>
          <a:noFill/>
          <a:ln>
            <a:noFill/>
          </a:ln>
        </p:spPr>
        <p:txBody>
          <a:bodyPr wrap="square" rtlCol="0" anchor="ctr">
            <a:normAutofit/>
          </a:bodyPr>
          <a:lstStyle/>
          <a:p>
            <a:pPr marL="0" indent="0" algn="l">
              <a:buNone/>
            </a:pPr>
            <a:r>
              <a:rPr lang="en-US" sz="1000" b="0" kern="0" dirty="0">
                <a:solidFill>
                  <a:srgbClr val="7EC8E3"/>
                </a:solidFill>
                <a:latin typeface="Calibri" pitchFamily="34" charset="0"/>
              </a:rPr>
              <a:t>Visual ranking of SME cybersecurity threats by Likelihood vs Impact</a:t>
            </a:r>
          </a:p>
        </p:txBody>
      </p:sp>
      <p:sp>
        <p:nvSpPr>
          <p:cNvPr id="7" name="t3657604603432"/>
          <p:cNvSpPr txBox="1"/>
          <p:nvPr/>
        </p:nvSpPr>
        <p:spPr>
          <a:xfrm>
            <a:off x="365760" y="4603432"/>
            <a:ext cx="5486400" cy="308610"/>
          </a:xfrm>
          <a:prstGeom prst="rect">
            <a:avLst/>
          </a:prstGeom>
          <a:noFill/>
          <a:ln>
            <a:noFill/>
          </a:ln>
        </p:spPr>
        <p:txBody>
          <a:bodyPr wrap="square" rtlCol="0" anchor="ctr">
            <a:normAutofit/>
          </a:bodyPr>
          <a:lstStyle/>
          <a:p>
            <a:pPr marL="0" indent="0" algn="l">
              <a:buNone/>
            </a:pPr>
            <a:r>
              <a:rPr lang="en-US" sz="900" b="0" kern="0" dirty="0">
                <a:solidFill>
                  <a:srgbClr val="7EC8E3"/>
                </a:solidFill>
                <a:latin typeface="Calibri" pitchFamily="34" charset="0"/>
              </a:rPr>
              <a:t>Cybersecurity Risk Assessment Framework  ·  Minor Project I</a:t>
            </a:r>
          </a:p>
        </p:txBody>
      </p:sp>
      <p:sp>
        <p:nvSpPr>
          <p:cNvPr id="8" name="r16459201080135"/>
          <p:cNvSpPr/>
          <p:nvPr/>
        </p:nvSpPr>
        <p:spPr>
          <a:xfrm>
            <a:off x="1645920" y="1080135"/>
            <a:ext cx="1170432" cy="627507"/>
          </a:xfrm>
          <a:prstGeom prst="rect">
            <a:avLst/>
          </a:prstGeom>
          <a:solidFill>
            <a:srgbClr val="1A5C00"/>
          </a:solidFill>
          <a:ln>
            <a:noFill/>
          </a:ln>
        </p:spPr>
      </p:sp>
      <p:sp>
        <p:nvSpPr>
          <p:cNvPr id="9" name="ro16459221080137"/>
          <p:cNvSpPr/>
          <p:nvPr/>
        </p:nvSpPr>
        <p:spPr>
          <a:xfrm>
            <a:off x="1645922" y="1080137"/>
            <a:ext cx="1170428" cy="627503"/>
          </a:xfrm>
          <a:prstGeom prst="roundRect">
            <a:avLst>
              <a:gd name="adj" fmla="val 8000"/>
            </a:avLst>
          </a:prstGeom>
          <a:noFill/>
          <a:ln w="9525">
            <a:solidFill>
              <a:srgbClr val="FFFFFF"/>
            </a:solidFill>
          </a:ln>
        </p:spPr>
      </p:sp>
      <p:sp>
        <p:nvSpPr>
          <p:cNvPr id="10" name="t16459201080135"/>
          <p:cNvSpPr txBox="1"/>
          <p:nvPr/>
        </p:nvSpPr>
        <p:spPr>
          <a:xfrm>
            <a:off x="1645920" y="1080135"/>
            <a:ext cx="1170432" cy="627507"/>
          </a:xfrm>
          <a:prstGeom prst="rect">
            <a:avLst/>
          </a:prstGeom>
          <a:noFill/>
          <a:ln>
            <a:noFill/>
          </a:ln>
        </p:spPr>
        <p:txBody>
          <a:bodyPr wrap="square" rtlCol="0" anchor="ctr">
            <a:normAutofit/>
          </a:bodyPr>
          <a:lstStyle/>
          <a:p>
            <a:pPr marL="0" indent="0" algn="ctr">
              <a:buNone/>
            </a:pPr>
            <a:r>
              <a:rPr lang="en-US" sz="1200" b="1" kern="0" dirty="0">
                <a:solidFill>
                  <a:srgbClr val="FFFFFF"/>
                </a:solidFill>
                <a:latin typeface="Calibri" pitchFamily="34" charset="0"/>
              </a:rPr>
              <a:t>5</a:t>
            </a:r>
          </a:p>
        </p:txBody>
      </p:sp>
      <p:sp>
        <p:nvSpPr>
          <p:cNvPr id="11" name="r28163521080135"/>
          <p:cNvSpPr/>
          <p:nvPr/>
        </p:nvSpPr>
        <p:spPr>
          <a:xfrm>
            <a:off x="2816352" y="1080135"/>
            <a:ext cx="1170432" cy="627507"/>
          </a:xfrm>
          <a:prstGeom prst="rect">
            <a:avLst/>
          </a:prstGeom>
          <a:solidFill>
            <a:srgbClr val="7A6800"/>
          </a:solidFill>
          <a:ln>
            <a:noFill/>
          </a:ln>
        </p:spPr>
      </p:sp>
      <p:sp>
        <p:nvSpPr>
          <p:cNvPr id="12" name="ro28163541080137"/>
          <p:cNvSpPr/>
          <p:nvPr/>
        </p:nvSpPr>
        <p:spPr>
          <a:xfrm>
            <a:off x="2816354" y="1080137"/>
            <a:ext cx="1170428" cy="627503"/>
          </a:xfrm>
          <a:prstGeom prst="roundRect">
            <a:avLst>
              <a:gd name="adj" fmla="val 8000"/>
            </a:avLst>
          </a:prstGeom>
          <a:noFill/>
          <a:ln w="9525">
            <a:solidFill>
              <a:srgbClr val="FFFFFF"/>
            </a:solidFill>
          </a:ln>
        </p:spPr>
      </p:sp>
      <p:sp>
        <p:nvSpPr>
          <p:cNvPr id="13" name="t28163521080135"/>
          <p:cNvSpPr txBox="1"/>
          <p:nvPr/>
        </p:nvSpPr>
        <p:spPr>
          <a:xfrm>
            <a:off x="2816352" y="1080135"/>
            <a:ext cx="1170432" cy="627507"/>
          </a:xfrm>
          <a:prstGeom prst="rect">
            <a:avLst/>
          </a:prstGeom>
          <a:noFill/>
          <a:ln>
            <a:noFill/>
          </a:ln>
        </p:spPr>
        <p:txBody>
          <a:bodyPr wrap="square" rtlCol="0" anchor="ctr">
            <a:normAutofit/>
          </a:bodyPr>
          <a:lstStyle/>
          <a:p>
            <a:pPr marL="0" indent="0" algn="ctr">
              <a:buNone/>
            </a:pPr>
            <a:r>
              <a:rPr lang="en-US" sz="1200" b="1" kern="0" dirty="0">
                <a:solidFill>
                  <a:srgbClr val="FFFFFF"/>
                </a:solidFill>
                <a:latin typeface="Calibri" pitchFamily="34" charset="0"/>
              </a:rPr>
              <a:t>10</a:t>
            </a:r>
          </a:p>
        </p:txBody>
      </p:sp>
      <p:sp>
        <p:nvSpPr>
          <p:cNvPr id="14" name="r39867841080135"/>
          <p:cNvSpPr/>
          <p:nvPr/>
        </p:nvSpPr>
        <p:spPr>
          <a:xfrm>
            <a:off x="3986784" y="1080135"/>
            <a:ext cx="1170432" cy="627507"/>
          </a:xfrm>
          <a:prstGeom prst="rect">
            <a:avLst/>
          </a:prstGeom>
          <a:solidFill>
            <a:srgbClr val="B85C00"/>
          </a:solidFill>
          <a:ln>
            <a:noFill/>
          </a:ln>
        </p:spPr>
      </p:sp>
      <p:sp>
        <p:nvSpPr>
          <p:cNvPr id="15" name="ro39867861080137"/>
          <p:cNvSpPr/>
          <p:nvPr/>
        </p:nvSpPr>
        <p:spPr>
          <a:xfrm>
            <a:off x="3986786" y="1080137"/>
            <a:ext cx="1170428" cy="627503"/>
          </a:xfrm>
          <a:prstGeom prst="roundRect">
            <a:avLst>
              <a:gd name="adj" fmla="val 8000"/>
            </a:avLst>
          </a:prstGeom>
          <a:noFill/>
          <a:ln w="9525">
            <a:solidFill>
              <a:srgbClr val="FFFFFF"/>
            </a:solidFill>
          </a:ln>
        </p:spPr>
      </p:sp>
      <p:sp>
        <p:nvSpPr>
          <p:cNvPr id="16" name="t39867841080135"/>
          <p:cNvSpPr txBox="1"/>
          <p:nvPr/>
        </p:nvSpPr>
        <p:spPr>
          <a:xfrm>
            <a:off x="3986784" y="1080135"/>
            <a:ext cx="1170432" cy="627507"/>
          </a:xfrm>
          <a:prstGeom prst="rect">
            <a:avLst/>
          </a:prstGeom>
          <a:noFill/>
          <a:ln>
            <a:noFill/>
          </a:ln>
        </p:spPr>
        <p:txBody>
          <a:bodyPr wrap="square" rtlCol="0" anchor="ctr">
            <a:normAutofit/>
          </a:bodyPr>
          <a:lstStyle/>
          <a:p>
            <a:pPr marL="0" indent="0" algn="ctr">
              <a:buNone/>
            </a:pPr>
            <a:r>
              <a:rPr lang="en-US" sz="1200" b="1" kern="0" dirty="0">
                <a:solidFill>
                  <a:srgbClr val="FFFFFF"/>
                </a:solidFill>
                <a:latin typeface="Calibri" pitchFamily="34" charset="0"/>
              </a:rPr>
              <a:t>15</a:t>
            </a:r>
          </a:p>
        </p:txBody>
      </p:sp>
      <p:sp>
        <p:nvSpPr>
          <p:cNvPr id="17" name="r51572161080135"/>
          <p:cNvSpPr/>
          <p:nvPr/>
        </p:nvSpPr>
        <p:spPr>
          <a:xfrm>
            <a:off x="5157216" y="1080135"/>
            <a:ext cx="1170432" cy="627507"/>
          </a:xfrm>
          <a:prstGeom prst="rect">
            <a:avLst/>
          </a:prstGeom>
          <a:solidFill>
            <a:srgbClr val="CC0000"/>
          </a:solidFill>
          <a:ln>
            <a:noFill/>
          </a:ln>
        </p:spPr>
      </p:sp>
      <p:sp>
        <p:nvSpPr>
          <p:cNvPr id="18" name="ro51572181080137"/>
          <p:cNvSpPr/>
          <p:nvPr/>
        </p:nvSpPr>
        <p:spPr>
          <a:xfrm>
            <a:off x="5157218" y="1080137"/>
            <a:ext cx="1170428" cy="627503"/>
          </a:xfrm>
          <a:prstGeom prst="roundRect">
            <a:avLst>
              <a:gd name="adj" fmla="val 8000"/>
            </a:avLst>
          </a:prstGeom>
          <a:noFill/>
          <a:ln w="9525">
            <a:solidFill>
              <a:srgbClr val="FFFFFF"/>
            </a:solidFill>
          </a:ln>
        </p:spPr>
      </p:sp>
      <p:sp>
        <p:nvSpPr>
          <p:cNvPr id="19" name="t51572161080135"/>
          <p:cNvSpPr txBox="1"/>
          <p:nvPr/>
        </p:nvSpPr>
        <p:spPr>
          <a:xfrm>
            <a:off x="5157216" y="1080135"/>
            <a:ext cx="1170432" cy="627507"/>
          </a:xfrm>
          <a:prstGeom prst="rect">
            <a:avLst/>
          </a:prstGeom>
          <a:noFill/>
          <a:ln>
            <a:noFill/>
          </a:ln>
        </p:spPr>
        <p:txBody>
          <a:bodyPr wrap="square" rtlCol="0" anchor="ctr">
            <a:normAutofit/>
          </a:bodyPr>
          <a:lstStyle/>
          <a:p>
            <a:pPr marL="0" indent="0" algn="ctr">
              <a:buNone/>
            </a:pPr>
            <a:r>
              <a:rPr lang="en-US" sz="1200" b="1" kern="0" dirty="0">
                <a:solidFill>
                  <a:srgbClr val="FFFFFF"/>
                </a:solidFill>
                <a:latin typeface="Calibri" pitchFamily="34" charset="0"/>
              </a:rPr>
              <a:t>20</a:t>
            </a:r>
          </a:p>
        </p:txBody>
      </p:sp>
      <p:sp>
        <p:nvSpPr>
          <p:cNvPr id="20" name="r63276481080135"/>
          <p:cNvSpPr/>
          <p:nvPr/>
        </p:nvSpPr>
        <p:spPr>
          <a:xfrm>
            <a:off x="6327648" y="1080135"/>
            <a:ext cx="1170432" cy="627507"/>
          </a:xfrm>
          <a:prstGeom prst="rect">
            <a:avLst/>
          </a:prstGeom>
          <a:solidFill>
            <a:srgbClr val="CC0000"/>
          </a:solidFill>
          <a:ln>
            <a:noFill/>
          </a:ln>
        </p:spPr>
      </p:sp>
      <p:sp>
        <p:nvSpPr>
          <p:cNvPr id="21" name="ro63276501080137"/>
          <p:cNvSpPr/>
          <p:nvPr/>
        </p:nvSpPr>
        <p:spPr>
          <a:xfrm>
            <a:off x="6327650" y="1080137"/>
            <a:ext cx="1170428" cy="627503"/>
          </a:xfrm>
          <a:prstGeom prst="roundRect">
            <a:avLst>
              <a:gd name="adj" fmla="val 8000"/>
            </a:avLst>
          </a:prstGeom>
          <a:noFill/>
          <a:ln w="9525">
            <a:solidFill>
              <a:srgbClr val="FFFFFF"/>
            </a:solidFill>
          </a:ln>
        </p:spPr>
      </p:sp>
      <p:sp>
        <p:nvSpPr>
          <p:cNvPr id="22" name="t63276481080135"/>
          <p:cNvSpPr txBox="1"/>
          <p:nvPr/>
        </p:nvSpPr>
        <p:spPr>
          <a:xfrm>
            <a:off x="6327648" y="1080135"/>
            <a:ext cx="1170432" cy="627507"/>
          </a:xfrm>
          <a:prstGeom prst="rect">
            <a:avLst/>
          </a:prstGeom>
          <a:noFill/>
          <a:ln>
            <a:noFill/>
          </a:ln>
        </p:spPr>
        <p:txBody>
          <a:bodyPr wrap="square" rtlCol="0" anchor="ctr">
            <a:normAutofit/>
          </a:bodyPr>
          <a:lstStyle/>
          <a:p>
            <a:pPr marL="0" indent="0" algn="ctr">
              <a:buNone/>
            </a:pPr>
            <a:r>
              <a:rPr lang="en-US" sz="1200" b="1" kern="0" dirty="0">
                <a:solidFill>
                  <a:srgbClr val="FFFFFF"/>
                </a:solidFill>
                <a:latin typeface="Calibri" pitchFamily="34" charset="0"/>
              </a:rPr>
              <a:t>25</a:t>
            </a:r>
          </a:p>
        </p:txBody>
      </p:sp>
      <p:sp>
        <p:nvSpPr>
          <p:cNvPr id="23" name="r16459201707642"/>
          <p:cNvSpPr/>
          <p:nvPr/>
        </p:nvSpPr>
        <p:spPr>
          <a:xfrm>
            <a:off x="1645920" y="1707642"/>
            <a:ext cx="1170432" cy="627507"/>
          </a:xfrm>
          <a:prstGeom prst="rect">
            <a:avLst/>
          </a:prstGeom>
          <a:solidFill>
            <a:srgbClr val="0A3D0A"/>
          </a:solidFill>
          <a:ln>
            <a:noFill/>
          </a:ln>
        </p:spPr>
      </p:sp>
      <p:sp>
        <p:nvSpPr>
          <p:cNvPr id="24" name="ro16459221707644"/>
          <p:cNvSpPr/>
          <p:nvPr/>
        </p:nvSpPr>
        <p:spPr>
          <a:xfrm>
            <a:off x="1645922" y="1707644"/>
            <a:ext cx="1170428" cy="627503"/>
          </a:xfrm>
          <a:prstGeom prst="roundRect">
            <a:avLst>
              <a:gd name="adj" fmla="val 8000"/>
            </a:avLst>
          </a:prstGeom>
          <a:noFill/>
          <a:ln w="9525">
            <a:solidFill>
              <a:srgbClr val="FFFFFF"/>
            </a:solidFill>
          </a:ln>
        </p:spPr>
      </p:sp>
      <p:sp>
        <p:nvSpPr>
          <p:cNvPr id="25" name="t16459201707642"/>
          <p:cNvSpPr txBox="1"/>
          <p:nvPr/>
        </p:nvSpPr>
        <p:spPr>
          <a:xfrm>
            <a:off x="1645920" y="1707642"/>
            <a:ext cx="1170432" cy="627507"/>
          </a:xfrm>
          <a:prstGeom prst="rect">
            <a:avLst/>
          </a:prstGeom>
          <a:noFill/>
          <a:ln>
            <a:noFill/>
          </a:ln>
        </p:spPr>
        <p:txBody>
          <a:bodyPr wrap="square" rtlCol="0" anchor="ctr">
            <a:normAutofit/>
          </a:bodyPr>
          <a:lstStyle/>
          <a:p>
            <a:pPr marL="0" indent="0" algn="ctr">
              <a:buNone/>
            </a:pPr>
            <a:r>
              <a:rPr lang="en-US" sz="1200" b="1" kern="0" dirty="0">
                <a:solidFill>
                  <a:srgbClr val="FFFFFF"/>
                </a:solidFill>
                <a:latin typeface="Calibri" pitchFamily="34" charset="0"/>
              </a:rPr>
              <a:t>4</a:t>
            </a:r>
          </a:p>
        </p:txBody>
      </p:sp>
      <p:sp>
        <p:nvSpPr>
          <p:cNvPr id="26" name="r28163521707642"/>
          <p:cNvSpPr/>
          <p:nvPr/>
        </p:nvSpPr>
        <p:spPr>
          <a:xfrm>
            <a:off x="2816352" y="1707642"/>
            <a:ext cx="1170432" cy="627507"/>
          </a:xfrm>
          <a:prstGeom prst="rect">
            <a:avLst/>
          </a:prstGeom>
          <a:solidFill>
            <a:srgbClr val="1A5C00"/>
          </a:solidFill>
          <a:ln>
            <a:noFill/>
          </a:ln>
        </p:spPr>
      </p:sp>
      <p:sp>
        <p:nvSpPr>
          <p:cNvPr id="27" name="ro28163541707644"/>
          <p:cNvSpPr/>
          <p:nvPr/>
        </p:nvSpPr>
        <p:spPr>
          <a:xfrm>
            <a:off x="2816354" y="1707644"/>
            <a:ext cx="1170428" cy="627503"/>
          </a:xfrm>
          <a:prstGeom prst="roundRect">
            <a:avLst>
              <a:gd name="adj" fmla="val 8000"/>
            </a:avLst>
          </a:prstGeom>
          <a:noFill/>
          <a:ln w="9525">
            <a:solidFill>
              <a:srgbClr val="FFFFFF"/>
            </a:solidFill>
          </a:ln>
        </p:spPr>
      </p:sp>
      <p:sp>
        <p:nvSpPr>
          <p:cNvPr id="28" name="t28163521707642"/>
          <p:cNvSpPr txBox="1"/>
          <p:nvPr/>
        </p:nvSpPr>
        <p:spPr>
          <a:xfrm>
            <a:off x="2816352" y="1707642"/>
            <a:ext cx="1170432" cy="627507"/>
          </a:xfrm>
          <a:prstGeom prst="rect">
            <a:avLst/>
          </a:prstGeom>
          <a:noFill/>
          <a:ln>
            <a:noFill/>
          </a:ln>
        </p:spPr>
        <p:txBody>
          <a:bodyPr wrap="square" rtlCol="0" anchor="ctr">
            <a:normAutofit/>
          </a:bodyPr>
          <a:lstStyle/>
          <a:p>
            <a:pPr marL="0" indent="0" algn="ctr">
              <a:buNone/>
            </a:pPr>
            <a:r>
              <a:rPr lang="en-US" sz="1200" b="1" kern="0" dirty="0">
                <a:solidFill>
                  <a:srgbClr val="FFFFFF"/>
                </a:solidFill>
                <a:latin typeface="Calibri" pitchFamily="34" charset="0"/>
              </a:rPr>
              <a:t>8</a:t>
            </a:r>
          </a:p>
        </p:txBody>
      </p:sp>
      <p:sp>
        <p:nvSpPr>
          <p:cNvPr id="29" name="r39867841707642"/>
          <p:cNvSpPr/>
          <p:nvPr/>
        </p:nvSpPr>
        <p:spPr>
          <a:xfrm>
            <a:off x="3986784" y="1707642"/>
            <a:ext cx="1170432" cy="627507"/>
          </a:xfrm>
          <a:prstGeom prst="rect">
            <a:avLst/>
          </a:prstGeom>
          <a:solidFill>
            <a:srgbClr val="7A6800"/>
          </a:solidFill>
          <a:ln>
            <a:noFill/>
          </a:ln>
        </p:spPr>
      </p:sp>
      <p:sp>
        <p:nvSpPr>
          <p:cNvPr id="30" name="ro39867861707644"/>
          <p:cNvSpPr/>
          <p:nvPr/>
        </p:nvSpPr>
        <p:spPr>
          <a:xfrm>
            <a:off x="3986786" y="1707644"/>
            <a:ext cx="1170428" cy="627503"/>
          </a:xfrm>
          <a:prstGeom prst="roundRect">
            <a:avLst>
              <a:gd name="adj" fmla="val 8000"/>
            </a:avLst>
          </a:prstGeom>
          <a:noFill/>
          <a:ln w="9525">
            <a:solidFill>
              <a:srgbClr val="FFFFFF"/>
            </a:solidFill>
          </a:ln>
        </p:spPr>
      </p:sp>
      <p:sp>
        <p:nvSpPr>
          <p:cNvPr id="31" name="t39867841707642"/>
          <p:cNvSpPr txBox="1"/>
          <p:nvPr/>
        </p:nvSpPr>
        <p:spPr>
          <a:xfrm>
            <a:off x="3986784" y="1707642"/>
            <a:ext cx="1170432" cy="627507"/>
          </a:xfrm>
          <a:prstGeom prst="rect">
            <a:avLst/>
          </a:prstGeom>
          <a:noFill/>
          <a:ln>
            <a:noFill/>
          </a:ln>
        </p:spPr>
        <p:txBody>
          <a:bodyPr wrap="square" rtlCol="0" anchor="ctr">
            <a:normAutofit/>
          </a:bodyPr>
          <a:lstStyle/>
          <a:p>
            <a:pPr marL="0" indent="0" algn="ctr">
              <a:buNone/>
            </a:pPr>
            <a:r>
              <a:rPr lang="en-US" sz="1200" b="1" kern="0" dirty="0">
                <a:solidFill>
                  <a:srgbClr val="FFFFFF"/>
                </a:solidFill>
                <a:latin typeface="Calibri" pitchFamily="34" charset="0"/>
              </a:rPr>
              <a:t>12</a:t>
            </a:r>
          </a:p>
        </p:txBody>
      </p:sp>
      <p:sp>
        <p:nvSpPr>
          <p:cNvPr id="32" name="r51572161707642"/>
          <p:cNvSpPr/>
          <p:nvPr/>
        </p:nvSpPr>
        <p:spPr>
          <a:xfrm>
            <a:off x="5157216" y="1707642"/>
            <a:ext cx="1170432" cy="627507"/>
          </a:xfrm>
          <a:prstGeom prst="rect">
            <a:avLst/>
          </a:prstGeom>
          <a:solidFill>
            <a:srgbClr val="B85C00"/>
          </a:solidFill>
          <a:ln>
            <a:noFill/>
          </a:ln>
        </p:spPr>
      </p:sp>
      <p:sp>
        <p:nvSpPr>
          <p:cNvPr id="33" name="ro51572181707644"/>
          <p:cNvSpPr/>
          <p:nvPr/>
        </p:nvSpPr>
        <p:spPr>
          <a:xfrm>
            <a:off x="5157218" y="1707644"/>
            <a:ext cx="1170428" cy="627503"/>
          </a:xfrm>
          <a:prstGeom prst="roundRect">
            <a:avLst>
              <a:gd name="adj" fmla="val 8000"/>
            </a:avLst>
          </a:prstGeom>
          <a:noFill/>
          <a:ln w="9525">
            <a:solidFill>
              <a:srgbClr val="FFFFFF"/>
            </a:solidFill>
          </a:ln>
        </p:spPr>
      </p:sp>
      <p:sp>
        <p:nvSpPr>
          <p:cNvPr id="34" name="t51572161707642"/>
          <p:cNvSpPr txBox="1"/>
          <p:nvPr/>
        </p:nvSpPr>
        <p:spPr>
          <a:xfrm>
            <a:off x="5157216" y="1707642"/>
            <a:ext cx="1170432" cy="627507"/>
          </a:xfrm>
          <a:prstGeom prst="rect">
            <a:avLst/>
          </a:prstGeom>
          <a:noFill/>
          <a:ln>
            <a:noFill/>
          </a:ln>
        </p:spPr>
        <p:txBody>
          <a:bodyPr wrap="square" rtlCol="0" anchor="ctr">
            <a:normAutofit/>
          </a:bodyPr>
          <a:lstStyle/>
          <a:p>
            <a:pPr marL="0" indent="0" algn="ctr">
              <a:buNone/>
            </a:pPr>
            <a:r>
              <a:rPr lang="en-US" sz="1200" b="1" kern="0" dirty="0">
                <a:solidFill>
                  <a:srgbClr val="FFFFFF"/>
                </a:solidFill>
                <a:latin typeface="Calibri" pitchFamily="34" charset="0"/>
              </a:rPr>
              <a:t>16</a:t>
            </a:r>
          </a:p>
        </p:txBody>
      </p:sp>
      <p:sp>
        <p:nvSpPr>
          <p:cNvPr id="35" name="r63276481707642"/>
          <p:cNvSpPr/>
          <p:nvPr/>
        </p:nvSpPr>
        <p:spPr>
          <a:xfrm>
            <a:off x="6327648" y="1707642"/>
            <a:ext cx="1170432" cy="627507"/>
          </a:xfrm>
          <a:prstGeom prst="rect">
            <a:avLst/>
          </a:prstGeom>
          <a:solidFill>
            <a:srgbClr val="CC0000"/>
          </a:solidFill>
          <a:ln>
            <a:noFill/>
          </a:ln>
        </p:spPr>
      </p:sp>
      <p:sp>
        <p:nvSpPr>
          <p:cNvPr id="36" name="ro63276501707644"/>
          <p:cNvSpPr/>
          <p:nvPr/>
        </p:nvSpPr>
        <p:spPr>
          <a:xfrm>
            <a:off x="6327650" y="1707644"/>
            <a:ext cx="1170428" cy="627503"/>
          </a:xfrm>
          <a:prstGeom prst="roundRect">
            <a:avLst>
              <a:gd name="adj" fmla="val 8000"/>
            </a:avLst>
          </a:prstGeom>
          <a:noFill/>
          <a:ln w="9525">
            <a:solidFill>
              <a:srgbClr val="FFFFFF"/>
            </a:solidFill>
          </a:ln>
        </p:spPr>
      </p:sp>
      <p:sp>
        <p:nvSpPr>
          <p:cNvPr id="37" name="t63276481707642"/>
          <p:cNvSpPr txBox="1"/>
          <p:nvPr/>
        </p:nvSpPr>
        <p:spPr>
          <a:xfrm>
            <a:off x="6327648" y="1707642"/>
            <a:ext cx="1170432" cy="627507"/>
          </a:xfrm>
          <a:prstGeom prst="rect">
            <a:avLst/>
          </a:prstGeom>
          <a:noFill/>
          <a:ln>
            <a:noFill/>
          </a:ln>
        </p:spPr>
        <p:txBody>
          <a:bodyPr wrap="square" rtlCol="0" anchor="ctr">
            <a:normAutofit/>
          </a:bodyPr>
          <a:lstStyle/>
          <a:p>
            <a:pPr marL="0" indent="0" algn="ctr">
              <a:buNone/>
            </a:pPr>
            <a:r>
              <a:rPr lang="en-US" sz="1200" b="1" kern="0" dirty="0">
                <a:solidFill>
                  <a:srgbClr val="FFFFFF"/>
                </a:solidFill>
                <a:latin typeface="Calibri" pitchFamily="34" charset="0"/>
              </a:rPr>
              <a:t>20</a:t>
            </a:r>
          </a:p>
        </p:txBody>
      </p:sp>
      <p:sp>
        <p:nvSpPr>
          <p:cNvPr id="38" name="r16459202335149"/>
          <p:cNvSpPr/>
          <p:nvPr/>
        </p:nvSpPr>
        <p:spPr>
          <a:xfrm>
            <a:off x="1645920" y="2335149"/>
            <a:ext cx="1170432" cy="627507"/>
          </a:xfrm>
          <a:prstGeom prst="rect">
            <a:avLst/>
          </a:prstGeom>
          <a:solidFill>
            <a:srgbClr val="0A3D0A"/>
          </a:solidFill>
          <a:ln>
            <a:noFill/>
          </a:ln>
        </p:spPr>
      </p:sp>
      <p:sp>
        <p:nvSpPr>
          <p:cNvPr id="39" name="ro16459222335151"/>
          <p:cNvSpPr/>
          <p:nvPr/>
        </p:nvSpPr>
        <p:spPr>
          <a:xfrm>
            <a:off x="1645922" y="2335151"/>
            <a:ext cx="1170428" cy="627503"/>
          </a:xfrm>
          <a:prstGeom prst="roundRect">
            <a:avLst>
              <a:gd name="adj" fmla="val 8000"/>
            </a:avLst>
          </a:prstGeom>
          <a:noFill/>
          <a:ln w="9525">
            <a:solidFill>
              <a:srgbClr val="FFFFFF"/>
            </a:solidFill>
          </a:ln>
        </p:spPr>
      </p:sp>
      <p:sp>
        <p:nvSpPr>
          <p:cNvPr id="40" name="t16459202335149"/>
          <p:cNvSpPr txBox="1"/>
          <p:nvPr/>
        </p:nvSpPr>
        <p:spPr>
          <a:xfrm>
            <a:off x="1645920" y="2335149"/>
            <a:ext cx="1170432" cy="627507"/>
          </a:xfrm>
          <a:prstGeom prst="rect">
            <a:avLst/>
          </a:prstGeom>
          <a:noFill/>
          <a:ln>
            <a:noFill/>
          </a:ln>
        </p:spPr>
        <p:txBody>
          <a:bodyPr wrap="square" rtlCol="0" anchor="ctr">
            <a:normAutofit/>
          </a:bodyPr>
          <a:lstStyle/>
          <a:p>
            <a:pPr marL="0" indent="0" algn="ctr">
              <a:buNone/>
            </a:pPr>
            <a:r>
              <a:rPr lang="en-US" sz="1200" b="1" kern="0" dirty="0">
                <a:solidFill>
                  <a:srgbClr val="FFFFFF"/>
                </a:solidFill>
                <a:latin typeface="Calibri" pitchFamily="34" charset="0"/>
              </a:rPr>
              <a:t>3</a:t>
            </a:r>
          </a:p>
        </p:txBody>
      </p:sp>
      <p:sp>
        <p:nvSpPr>
          <p:cNvPr id="41" name="r28163522335149"/>
          <p:cNvSpPr/>
          <p:nvPr/>
        </p:nvSpPr>
        <p:spPr>
          <a:xfrm>
            <a:off x="2816352" y="2335149"/>
            <a:ext cx="1170432" cy="627507"/>
          </a:xfrm>
          <a:prstGeom prst="rect">
            <a:avLst/>
          </a:prstGeom>
          <a:solidFill>
            <a:srgbClr val="1A5C00"/>
          </a:solidFill>
          <a:ln>
            <a:noFill/>
          </a:ln>
        </p:spPr>
      </p:sp>
      <p:sp>
        <p:nvSpPr>
          <p:cNvPr id="42" name="ro28163542335151"/>
          <p:cNvSpPr/>
          <p:nvPr/>
        </p:nvSpPr>
        <p:spPr>
          <a:xfrm>
            <a:off x="2816354" y="2335151"/>
            <a:ext cx="1170428" cy="627503"/>
          </a:xfrm>
          <a:prstGeom prst="roundRect">
            <a:avLst>
              <a:gd name="adj" fmla="val 8000"/>
            </a:avLst>
          </a:prstGeom>
          <a:noFill/>
          <a:ln w="9525">
            <a:solidFill>
              <a:srgbClr val="FFFFFF"/>
            </a:solidFill>
          </a:ln>
        </p:spPr>
      </p:sp>
      <p:sp>
        <p:nvSpPr>
          <p:cNvPr id="43" name="t28163522335149"/>
          <p:cNvSpPr txBox="1"/>
          <p:nvPr/>
        </p:nvSpPr>
        <p:spPr>
          <a:xfrm>
            <a:off x="2816352" y="2335149"/>
            <a:ext cx="1170432" cy="627507"/>
          </a:xfrm>
          <a:prstGeom prst="rect">
            <a:avLst/>
          </a:prstGeom>
          <a:noFill/>
          <a:ln>
            <a:noFill/>
          </a:ln>
        </p:spPr>
        <p:txBody>
          <a:bodyPr wrap="square" rtlCol="0" anchor="ctr">
            <a:normAutofit/>
          </a:bodyPr>
          <a:lstStyle/>
          <a:p>
            <a:pPr marL="0" indent="0" algn="ctr">
              <a:buNone/>
            </a:pPr>
            <a:r>
              <a:rPr lang="en-US" sz="1200" b="1" kern="0" dirty="0">
                <a:solidFill>
                  <a:srgbClr val="FFFFFF"/>
                </a:solidFill>
                <a:latin typeface="Calibri" pitchFamily="34" charset="0"/>
              </a:rPr>
              <a:t>6</a:t>
            </a:r>
          </a:p>
        </p:txBody>
      </p:sp>
      <p:sp>
        <p:nvSpPr>
          <p:cNvPr id="44" name="r39867842335149"/>
          <p:cNvSpPr/>
          <p:nvPr/>
        </p:nvSpPr>
        <p:spPr>
          <a:xfrm>
            <a:off x="3986784" y="2335149"/>
            <a:ext cx="1170432" cy="627507"/>
          </a:xfrm>
          <a:prstGeom prst="rect">
            <a:avLst/>
          </a:prstGeom>
          <a:solidFill>
            <a:srgbClr val="1A5C00"/>
          </a:solidFill>
          <a:ln>
            <a:noFill/>
          </a:ln>
        </p:spPr>
      </p:sp>
      <p:sp>
        <p:nvSpPr>
          <p:cNvPr id="45" name="ro39867862335151"/>
          <p:cNvSpPr/>
          <p:nvPr/>
        </p:nvSpPr>
        <p:spPr>
          <a:xfrm>
            <a:off x="3986786" y="2335151"/>
            <a:ext cx="1170428" cy="627503"/>
          </a:xfrm>
          <a:prstGeom prst="roundRect">
            <a:avLst>
              <a:gd name="adj" fmla="val 8000"/>
            </a:avLst>
          </a:prstGeom>
          <a:noFill/>
          <a:ln w="9525">
            <a:solidFill>
              <a:srgbClr val="FFFFFF"/>
            </a:solidFill>
          </a:ln>
        </p:spPr>
      </p:sp>
      <p:sp>
        <p:nvSpPr>
          <p:cNvPr id="46" name="t39867842335149"/>
          <p:cNvSpPr txBox="1"/>
          <p:nvPr/>
        </p:nvSpPr>
        <p:spPr>
          <a:xfrm>
            <a:off x="3986784" y="2335149"/>
            <a:ext cx="1170432" cy="627507"/>
          </a:xfrm>
          <a:prstGeom prst="rect">
            <a:avLst/>
          </a:prstGeom>
          <a:noFill/>
          <a:ln>
            <a:noFill/>
          </a:ln>
        </p:spPr>
        <p:txBody>
          <a:bodyPr wrap="square" rtlCol="0" anchor="ctr">
            <a:normAutofit/>
          </a:bodyPr>
          <a:lstStyle/>
          <a:p>
            <a:pPr marL="0" indent="0" algn="ctr">
              <a:buNone/>
            </a:pPr>
            <a:r>
              <a:rPr lang="en-US" sz="1200" b="1" kern="0" dirty="0">
                <a:solidFill>
                  <a:srgbClr val="FFFFFF"/>
                </a:solidFill>
                <a:latin typeface="Calibri" pitchFamily="34" charset="0"/>
              </a:rPr>
              <a:t>9</a:t>
            </a:r>
          </a:p>
        </p:txBody>
      </p:sp>
      <p:sp>
        <p:nvSpPr>
          <p:cNvPr id="47" name="r51572162335149"/>
          <p:cNvSpPr/>
          <p:nvPr/>
        </p:nvSpPr>
        <p:spPr>
          <a:xfrm>
            <a:off x="5157216" y="2335149"/>
            <a:ext cx="1170432" cy="627507"/>
          </a:xfrm>
          <a:prstGeom prst="rect">
            <a:avLst/>
          </a:prstGeom>
          <a:solidFill>
            <a:srgbClr val="7A6800"/>
          </a:solidFill>
          <a:ln>
            <a:noFill/>
          </a:ln>
        </p:spPr>
      </p:sp>
      <p:sp>
        <p:nvSpPr>
          <p:cNvPr id="48" name="ro51572182335151"/>
          <p:cNvSpPr/>
          <p:nvPr/>
        </p:nvSpPr>
        <p:spPr>
          <a:xfrm>
            <a:off x="5157218" y="2335151"/>
            <a:ext cx="1170428" cy="627503"/>
          </a:xfrm>
          <a:prstGeom prst="roundRect">
            <a:avLst>
              <a:gd name="adj" fmla="val 8000"/>
            </a:avLst>
          </a:prstGeom>
          <a:noFill/>
          <a:ln w="9525">
            <a:solidFill>
              <a:srgbClr val="FFFFFF"/>
            </a:solidFill>
          </a:ln>
        </p:spPr>
      </p:sp>
      <p:sp>
        <p:nvSpPr>
          <p:cNvPr id="49" name="t51572162335149"/>
          <p:cNvSpPr txBox="1"/>
          <p:nvPr/>
        </p:nvSpPr>
        <p:spPr>
          <a:xfrm>
            <a:off x="5157216" y="2335149"/>
            <a:ext cx="1170432" cy="627507"/>
          </a:xfrm>
          <a:prstGeom prst="rect">
            <a:avLst/>
          </a:prstGeom>
          <a:noFill/>
          <a:ln>
            <a:noFill/>
          </a:ln>
        </p:spPr>
        <p:txBody>
          <a:bodyPr wrap="square" rtlCol="0" anchor="ctr">
            <a:normAutofit/>
          </a:bodyPr>
          <a:lstStyle/>
          <a:p>
            <a:pPr marL="0" indent="0" algn="ctr">
              <a:buNone/>
            </a:pPr>
            <a:r>
              <a:rPr lang="en-US" sz="1200" b="1" kern="0" dirty="0">
                <a:solidFill>
                  <a:srgbClr val="FFFFFF"/>
                </a:solidFill>
                <a:latin typeface="Calibri" pitchFamily="34" charset="0"/>
              </a:rPr>
              <a:t>12</a:t>
            </a:r>
          </a:p>
        </p:txBody>
      </p:sp>
      <p:sp>
        <p:nvSpPr>
          <p:cNvPr id="53" name="r63276482335149"/>
          <p:cNvSpPr/>
          <p:nvPr/>
        </p:nvSpPr>
        <p:spPr>
          <a:xfrm>
            <a:off x="6327648" y="2335149"/>
            <a:ext cx="1170432" cy="627507"/>
          </a:xfrm>
          <a:prstGeom prst="rect">
            <a:avLst/>
          </a:prstGeom>
          <a:solidFill>
            <a:srgbClr val="B85C00"/>
          </a:solidFill>
          <a:ln>
            <a:noFill/>
          </a:ln>
        </p:spPr>
      </p:sp>
      <p:sp>
        <p:nvSpPr>
          <p:cNvPr id="54" name="ro63276502335151"/>
          <p:cNvSpPr/>
          <p:nvPr/>
        </p:nvSpPr>
        <p:spPr>
          <a:xfrm>
            <a:off x="6327650" y="2335151"/>
            <a:ext cx="1170428" cy="627503"/>
          </a:xfrm>
          <a:prstGeom prst="roundRect">
            <a:avLst>
              <a:gd name="adj" fmla="val 8000"/>
            </a:avLst>
          </a:prstGeom>
          <a:noFill/>
          <a:ln w="9525">
            <a:solidFill>
              <a:srgbClr val="FFFFFF"/>
            </a:solidFill>
          </a:ln>
        </p:spPr>
      </p:sp>
      <p:sp>
        <p:nvSpPr>
          <p:cNvPr id="55" name="t63276482335149"/>
          <p:cNvSpPr txBox="1"/>
          <p:nvPr/>
        </p:nvSpPr>
        <p:spPr>
          <a:xfrm>
            <a:off x="6327648" y="2335149"/>
            <a:ext cx="1170432" cy="627507"/>
          </a:xfrm>
          <a:prstGeom prst="rect">
            <a:avLst/>
          </a:prstGeom>
          <a:noFill/>
          <a:ln>
            <a:noFill/>
          </a:ln>
        </p:spPr>
        <p:txBody>
          <a:bodyPr wrap="square" rtlCol="0" anchor="ctr">
            <a:normAutofit/>
          </a:bodyPr>
          <a:lstStyle/>
          <a:p>
            <a:pPr marL="0" indent="0" algn="ctr">
              <a:buNone/>
            </a:pPr>
            <a:r>
              <a:rPr lang="en-US" sz="1200" b="1" kern="0" dirty="0">
                <a:solidFill>
                  <a:srgbClr val="FFFFFF"/>
                </a:solidFill>
                <a:latin typeface="Calibri" pitchFamily="34" charset="0"/>
              </a:rPr>
              <a:t>15</a:t>
            </a:r>
          </a:p>
        </p:txBody>
      </p:sp>
      <p:sp>
        <p:nvSpPr>
          <p:cNvPr id="56" name="r16459202962656"/>
          <p:cNvSpPr/>
          <p:nvPr/>
        </p:nvSpPr>
        <p:spPr>
          <a:xfrm>
            <a:off x="1645920" y="2962656"/>
            <a:ext cx="1170432" cy="627507"/>
          </a:xfrm>
          <a:prstGeom prst="rect">
            <a:avLst/>
          </a:prstGeom>
          <a:solidFill>
            <a:srgbClr val="0A3D0A"/>
          </a:solidFill>
          <a:ln>
            <a:noFill/>
          </a:ln>
        </p:spPr>
      </p:sp>
      <p:sp>
        <p:nvSpPr>
          <p:cNvPr id="57" name="ro16459222962658"/>
          <p:cNvSpPr/>
          <p:nvPr/>
        </p:nvSpPr>
        <p:spPr>
          <a:xfrm>
            <a:off x="1645922" y="2962658"/>
            <a:ext cx="1170428" cy="627503"/>
          </a:xfrm>
          <a:prstGeom prst="roundRect">
            <a:avLst>
              <a:gd name="adj" fmla="val 8000"/>
            </a:avLst>
          </a:prstGeom>
          <a:noFill/>
          <a:ln w="9525">
            <a:solidFill>
              <a:srgbClr val="FFFFFF"/>
            </a:solidFill>
          </a:ln>
        </p:spPr>
      </p:sp>
      <p:sp>
        <p:nvSpPr>
          <p:cNvPr id="58" name="t16459202962656"/>
          <p:cNvSpPr txBox="1"/>
          <p:nvPr/>
        </p:nvSpPr>
        <p:spPr>
          <a:xfrm>
            <a:off x="1645920" y="2962656"/>
            <a:ext cx="1170432" cy="627507"/>
          </a:xfrm>
          <a:prstGeom prst="rect">
            <a:avLst/>
          </a:prstGeom>
          <a:noFill/>
          <a:ln>
            <a:noFill/>
          </a:ln>
        </p:spPr>
        <p:txBody>
          <a:bodyPr wrap="square" rtlCol="0" anchor="ctr">
            <a:normAutofit/>
          </a:bodyPr>
          <a:lstStyle/>
          <a:p>
            <a:pPr marL="0" indent="0" algn="ctr">
              <a:buNone/>
            </a:pPr>
            <a:r>
              <a:rPr lang="en-US" sz="1200" b="1" kern="0" dirty="0">
                <a:solidFill>
                  <a:srgbClr val="FFFFFF"/>
                </a:solidFill>
                <a:latin typeface="Calibri" pitchFamily="34" charset="0"/>
              </a:rPr>
              <a:t>2</a:t>
            </a:r>
          </a:p>
        </p:txBody>
      </p:sp>
      <p:sp>
        <p:nvSpPr>
          <p:cNvPr id="59" name="r28163522962656"/>
          <p:cNvSpPr/>
          <p:nvPr/>
        </p:nvSpPr>
        <p:spPr>
          <a:xfrm>
            <a:off x="2816352" y="2962656"/>
            <a:ext cx="1170432" cy="627507"/>
          </a:xfrm>
          <a:prstGeom prst="rect">
            <a:avLst/>
          </a:prstGeom>
          <a:solidFill>
            <a:srgbClr val="0A3D0A"/>
          </a:solidFill>
          <a:ln>
            <a:noFill/>
          </a:ln>
        </p:spPr>
      </p:sp>
      <p:sp>
        <p:nvSpPr>
          <p:cNvPr id="60" name="ro28163542962658"/>
          <p:cNvSpPr/>
          <p:nvPr/>
        </p:nvSpPr>
        <p:spPr>
          <a:xfrm>
            <a:off x="2816354" y="2962658"/>
            <a:ext cx="1170428" cy="627503"/>
          </a:xfrm>
          <a:prstGeom prst="roundRect">
            <a:avLst>
              <a:gd name="adj" fmla="val 8000"/>
            </a:avLst>
          </a:prstGeom>
          <a:noFill/>
          <a:ln w="9525">
            <a:solidFill>
              <a:srgbClr val="FFFFFF"/>
            </a:solidFill>
          </a:ln>
        </p:spPr>
      </p:sp>
      <p:sp>
        <p:nvSpPr>
          <p:cNvPr id="61" name="t28163522962656"/>
          <p:cNvSpPr txBox="1"/>
          <p:nvPr/>
        </p:nvSpPr>
        <p:spPr>
          <a:xfrm>
            <a:off x="2816352" y="2962656"/>
            <a:ext cx="1170432" cy="627507"/>
          </a:xfrm>
          <a:prstGeom prst="rect">
            <a:avLst/>
          </a:prstGeom>
          <a:noFill/>
          <a:ln>
            <a:noFill/>
          </a:ln>
        </p:spPr>
        <p:txBody>
          <a:bodyPr wrap="square" rtlCol="0" anchor="ctr">
            <a:normAutofit/>
          </a:bodyPr>
          <a:lstStyle/>
          <a:p>
            <a:pPr marL="0" indent="0" algn="ctr">
              <a:buNone/>
            </a:pPr>
            <a:r>
              <a:rPr lang="en-US" sz="1200" b="1" kern="0" dirty="0">
                <a:solidFill>
                  <a:srgbClr val="FFFFFF"/>
                </a:solidFill>
                <a:latin typeface="Calibri" pitchFamily="34" charset="0"/>
              </a:rPr>
              <a:t>4</a:t>
            </a:r>
          </a:p>
        </p:txBody>
      </p:sp>
      <p:sp>
        <p:nvSpPr>
          <p:cNvPr id="62" name="r39867842962656"/>
          <p:cNvSpPr/>
          <p:nvPr/>
        </p:nvSpPr>
        <p:spPr>
          <a:xfrm>
            <a:off x="3986784" y="2962656"/>
            <a:ext cx="1170432" cy="627507"/>
          </a:xfrm>
          <a:prstGeom prst="rect">
            <a:avLst/>
          </a:prstGeom>
          <a:solidFill>
            <a:srgbClr val="1A5C00"/>
          </a:solidFill>
          <a:ln>
            <a:noFill/>
          </a:ln>
        </p:spPr>
      </p:sp>
      <p:sp>
        <p:nvSpPr>
          <p:cNvPr id="63" name="ro39867862962658"/>
          <p:cNvSpPr/>
          <p:nvPr/>
        </p:nvSpPr>
        <p:spPr>
          <a:xfrm>
            <a:off x="3986786" y="2962658"/>
            <a:ext cx="1170428" cy="627503"/>
          </a:xfrm>
          <a:prstGeom prst="roundRect">
            <a:avLst>
              <a:gd name="adj" fmla="val 8000"/>
            </a:avLst>
          </a:prstGeom>
          <a:noFill/>
          <a:ln w="9525">
            <a:solidFill>
              <a:srgbClr val="FFFFFF"/>
            </a:solidFill>
          </a:ln>
        </p:spPr>
      </p:sp>
      <p:sp>
        <p:nvSpPr>
          <p:cNvPr id="64" name="t39867842962656"/>
          <p:cNvSpPr txBox="1"/>
          <p:nvPr/>
        </p:nvSpPr>
        <p:spPr>
          <a:xfrm>
            <a:off x="3986784" y="2962656"/>
            <a:ext cx="1170432" cy="627507"/>
          </a:xfrm>
          <a:prstGeom prst="rect">
            <a:avLst/>
          </a:prstGeom>
          <a:noFill/>
          <a:ln>
            <a:noFill/>
          </a:ln>
        </p:spPr>
        <p:txBody>
          <a:bodyPr wrap="square" rtlCol="0" anchor="ctr">
            <a:normAutofit/>
          </a:bodyPr>
          <a:lstStyle/>
          <a:p>
            <a:pPr marL="0" indent="0" algn="ctr">
              <a:buNone/>
            </a:pPr>
            <a:r>
              <a:rPr lang="en-US" sz="1200" b="1" kern="0" dirty="0">
                <a:solidFill>
                  <a:srgbClr val="FFFFFF"/>
                </a:solidFill>
                <a:latin typeface="Calibri" pitchFamily="34" charset="0"/>
              </a:rPr>
              <a:t>6</a:t>
            </a:r>
          </a:p>
        </p:txBody>
      </p:sp>
      <p:sp>
        <p:nvSpPr>
          <p:cNvPr id="65" name="r51572162962656"/>
          <p:cNvSpPr/>
          <p:nvPr/>
        </p:nvSpPr>
        <p:spPr>
          <a:xfrm>
            <a:off x="5157216" y="2962656"/>
            <a:ext cx="1170432" cy="627507"/>
          </a:xfrm>
          <a:prstGeom prst="rect">
            <a:avLst/>
          </a:prstGeom>
          <a:solidFill>
            <a:srgbClr val="1A5C00"/>
          </a:solidFill>
          <a:ln>
            <a:noFill/>
          </a:ln>
        </p:spPr>
      </p:sp>
      <p:sp>
        <p:nvSpPr>
          <p:cNvPr id="66" name="ro51572182962658"/>
          <p:cNvSpPr/>
          <p:nvPr/>
        </p:nvSpPr>
        <p:spPr>
          <a:xfrm>
            <a:off x="5157218" y="2962658"/>
            <a:ext cx="1170428" cy="627503"/>
          </a:xfrm>
          <a:prstGeom prst="roundRect">
            <a:avLst>
              <a:gd name="adj" fmla="val 8000"/>
            </a:avLst>
          </a:prstGeom>
          <a:noFill/>
          <a:ln w="9525">
            <a:solidFill>
              <a:srgbClr val="FFFFFF"/>
            </a:solidFill>
          </a:ln>
        </p:spPr>
      </p:sp>
      <p:sp>
        <p:nvSpPr>
          <p:cNvPr id="67" name="t51572162962656"/>
          <p:cNvSpPr txBox="1"/>
          <p:nvPr/>
        </p:nvSpPr>
        <p:spPr>
          <a:xfrm>
            <a:off x="5157216" y="2962656"/>
            <a:ext cx="1170432" cy="627507"/>
          </a:xfrm>
          <a:prstGeom prst="rect">
            <a:avLst/>
          </a:prstGeom>
          <a:noFill/>
          <a:ln>
            <a:noFill/>
          </a:ln>
        </p:spPr>
        <p:txBody>
          <a:bodyPr wrap="square" rtlCol="0" anchor="ctr">
            <a:normAutofit/>
          </a:bodyPr>
          <a:lstStyle/>
          <a:p>
            <a:pPr marL="0" indent="0" algn="ctr">
              <a:buNone/>
            </a:pPr>
            <a:r>
              <a:rPr lang="en-US" sz="1200" b="1" kern="0" dirty="0">
                <a:solidFill>
                  <a:srgbClr val="FFFFFF"/>
                </a:solidFill>
                <a:latin typeface="Calibri" pitchFamily="34" charset="0"/>
              </a:rPr>
              <a:t>8</a:t>
            </a:r>
          </a:p>
        </p:txBody>
      </p:sp>
      <p:sp>
        <p:nvSpPr>
          <p:cNvPr id="68" name="r63276482962656"/>
          <p:cNvSpPr/>
          <p:nvPr/>
        </p:nvSpPr>
        <p:spPr>
          <a:xfrm>
            <a:off x="6327648" y="2962656"/>
            <a:ext cx="1170432" cy="627507"/>
          </a:xfrm>
          <a:prstGeom prst="rect">
            <a:avLst/>
          </a:prstGeom>
          <a:solidFill>
            <a:srgbClr val="7A6800"/>
          </a:solidFill>
          <a:ln>
            <a:noFill/>
          </a:ln>
        </p:spPr>
      </p:sp>
      <p:sp>
        <p:nvSpPr>
          <p:cNvPr id="69" name="ro63276502962658"/>
          <p:cNvSpPr/>
          <p:nvPr/>
        </p:nvSpPr>
        <p:spPr>
          <a:xfrm>
            <a:off x="6327650" y="2962658"/>
            <a:ext cx="1170428" cy="627503"/>
          </a:xfrm>
          <a:prstGeom prst="roundRect">
            <a:avLst>
              <a:gd name="adj" fmla="val 8000"/>
            </a:avLst>
          </a:prstGeom>
          <a:noFill/>
          <a:ln w="9525">
            <a:solidFill>
              <a:srgbClr val="FFFFFF"/>
            </a:solidFill>
          </a:ln>
        </p:spPr>
      </p:sp>
      <p:sp>
        <p:nvSpPr>
          <p:cNvPr id="70" name="t63276482962656"/>
          <p:cNvSpPr txBox="1"/>
          <p:nvPr/>
        </p:nvSpPr>
        <p:spPr>
          <a:xfrm>
            <a:off x="6327648" y="2962656"/>
            <a:ext cx="1170432" cy="627507"/>
          </a:xfrm>
          <a:prstGeom prst="rect">
            <a:avLst/>
          </a:prstGeom>
          <a:noFill/>
          <a:ln>
            <a:noFill/>
          </a:ln>
        </p:spPr>
        <p:txBody>
          <a:bodyPr wrap="square" rtlCol="0" anchor="ctr">
            <a:normAutofit/>
          </a:bodyPr>
          <a:lstStyle/>
          <a:p>
            <a:pPr marL="0" indent="0" algn="ctr">
              <a:buNone/>
            </a:pPr>
            <a:r>
              <a:rPr lang="en-US" sz="1200" b="1" kern="0" dirty="0">
                <a:solidFill>
                  <a:srgbClr val="FFFFFF"/>
                </a:solidFill>
                <a:latin typeface="Calibri" pitchFamily="34" charset="0"/>
              </a:rPr>
              <a:t>10</a:t>
            </a:r>
          </a:p>
        </p:txBody>
      </p:sp>
      <p:sp>
        <p:nvSpPr>
          <p:cNvPr id="71" name="r16459203590163"/>
          <p:cNvSpPr/>
          <p:nvPr/>
        </p:nvSpPr>
        <p:spPr>
          <a:xfrm>
            <a:off x="1645920" y="3590163"/>
            <a:ext cx="1170432" cy="627507"/>
          </a:xfrm>
          <a:prstGeom prst="rect">
            <a:avLst/>
          </a:prstGeom>
          <a:solidFill>
            <a:srgbClr val="0A3D0A"/>
          </a:solidFill>
          <a:ln>
            <a:noFill/>
          </a:ln>
        </p:spPr>
      </p:sp>
      <p:sp>
        <p:nvSpPr>
          <p:cNvPr id="72" name="ro16459223590165"/>
          <p:cNvSpPr/>
          <p:nvPr/>
        </p:nvSpPr>
        <p:spPr>
          <a:xfrm>
            <a:off x="1645922" y="3590165"/>
            <a:ext cx="1170428" cy="627503"/>
          </a:xfrm>
          <a:prstGeom prst="roundRect">
            <a:avLst>
              <a:gd name="adj" fmla="val 8000"/>
            </a:avLst>
          </a:prstGeom>
          <a:noFill/>
          <a:ln w="9525">
            <a:solidFill>
              <a:srgbClr val="FFFFFF"/>
            </a:solidFill>
          </a:ln>
        </p:spPr>
      </p:sp>
      <p:sp>
        <p:nvSpPr>
          <p:cNvPr id="73" name="t16459203590163"/>
          <p:cNvSpPr txBox="1"/>
          <p:nvPr/>
        </p:nvSpPr>
        <p:spPr>
          <a:xfrm>
            <a:off x="1645920" y="3590163"/>
            <a:ext cx="1170432" cy="627507"/>
          </a:xfrm>
          <a:prstGeom prst="rect">
            <a:avLst/>
          </a:prstGeom>
          <a:noFill/>
          <a:ln>
            <a:noFill/>
          </a:ln>
        </p:spPr>
        <p:txBody>
          <a:bodyPr wrap="square" rtlCol="0" anchor="ctr">
            <a:normAutofit/>
          </a:bodyPr>
          <a:lstStyle/>
          <a:p>
            <a:pPr marL="0" indent="0" algn="ctr">
              <a:buNone/>
            </a:pPr>
            <a:r>
              <a:rPr lang="en-US" sz="1200" b="1" kern="0" dirty="0">
                <a:solidFill>
                  <a:srgbClr val="FFFFFF"/>
                </a:solidFill>
                <a:latin typeface="Calibri" pitchFamily="34" charset="0"/>
              </a:rPr>
              <a:t>1</a:t>
            </a:r>
          </a:p>
        </p:txBody>
      </p:sp>
      <p:sp>
        <p:nvSpPr>
          <p:cNvPr id="74" name="r28163523590163"/>
          <p:cNvSpPr/>
          <p:nvPr/>
        </p:nvSpPr>
        <p:spPr>
          <a:xfrm>
            <a:off x="2816352" y="3590163"/>
            <a:ext cx="1170432" cy="627507"/>
          </a:xfrm>
          <a:prstGeom prst="rect">
            <a:avLst/>
          </a:prstGeom>
          <a:solidFill>
            <a:srgbClr val="0A3D0A"/>
          </a:solidFill>
          <a:ln>
            <a:noFill/>
          </a:ln>
        </p:spPr>
      </p:sp>
      <p:sp>
        <p:nvSpPr>
          <p:cNvPr id="75" name="ro28163543590165"/>
          <p:cNvSpPr/>
          <p:nvPr/>
        </p:nvSpPr>
        <p:spPr>
          <a:xfrm>
            <a:off x="2816354" y="3590165"/>
            <a:ext cx="1170428" cy="627503"/>
          </a:xfrm>
          <a:prstGeom prst="roundRect">
            <a:avLst>
              <a:gd name="adj" fmla="val 8000"/>
            </a:avLst>
          </a:prstGeom>
          <a:noFill/>
          <a:ln w="9525">
            <a:solidFill>
              <a:srgbClr val="FFFFFF"/>
            </a:solidFill>
          </a:ln>
        </p:spPr>
      </p:sp>
      <p:sp>
        <p:nvSpPr>
          <p:cNvPr id="76" name="t28163523590163"/>
          <p:cNvSpPr txBox="1"/>
          <p:nvPr/>
        </p:nvSpPr>
        <p:spPr>
          <a:xfrm>
            <a:off x="2816352" y="3590163"/>
            <a:ext cx="1170432" cy="627507"/>
          </a:xfrm>
          <a:prstGeom prst="rect">
            <a:avLst/>
          </a:prstGeom>
          <a:noFill/>
          <a:ln>
            <a:noFill/>
          </a:ln>
        </p:spPr>
        <p:txBody>
          <a:bodyPr wrap="square" rtlCol="0" anchor="ctr">
            <a:normAutofit/>
          </a:bodyPr>
          <a:lstStyle/>
          <a:p>
            <a:pPr marL="0" indent="0" algn="ctr">
              <a:buNone/>
            </a:pPr>
            <a:r>
              <a:rPr lang="en-US" sz="1200" b="1" kern="0" dirty="0">
                <a:solidFill>
                  <a:srgbClr val="FFFFFF"/>
                </a:solidFill>
                <a:latin typeface="Calibri" pitchFamily="34" charset="0"/>
              </a:rPr>
              <a:t>2</a:t>
            </a:r>
          </a:p>
        </p:txBody>
      </p:sp>
      <p:sp>
        <p:nvSpPr>
          <p:cNvPr id="77" name="r39867843590163"/>
          <p:cNvSpPr/>
          <p:nvPr/>
        </p:nvSpPr>
        <p:spPr>
          <a:xfrm>
            <a:off x="3986784" y="3590163"/>
            <a:ext cx="1170432" cy="627507"/>
          </a:xfrm>
          <a:prstGeom prst="rect">
            <a:avLst/>
          </a:prstGeom>
          <a:solidFill>
            <a:srgbClr val="0A3D0A"/>
          </a:solidFill>
          <a:ln>
            <a:noFill/>
          </a:ln>
        </p:spPr>
      </p:sp>
      <p:sp>
        <p:nvSpPr>
          <p:cNvPr id="78" name="ro39867863590165"/>
          <p:cNvSpPr/>
          <p:nvPr/>
        </p:nvSpPr>
        <p:spPr>
          <a:xfrm>
            <a:off x="3986786" y="3590165"/>
            <a:ext cx="1170428" cy="627503"/>
          </a:xfrm>
          <a:prstGeom prst="roundRect">
            <a:avLst>
              <a:gd name="adj" fmla="val 8000"/>
            </a:avLst>
          </a:prstGeom>
          <a:noFill/>
          <a:ln w="9525">
            <a:solidFill>
              <a:srgbClr val="FFFFFF"/>
            </a:solidFill>
          </a:ln>
        </p:spPr>
      </p:sp>
      <p:sp>
        <p:nvSpPr>
          <p:cNvPr id="79" name="t39867843590163"/>
          <p:cNvSpPr txBox="1"/>
          <p:nvPr/>
        </p:nvSpPr>
        <p:spPr>
          <a:xfrm>
            <a:off x="3986784" y="3590163"/>
            <a:ext cx="1170432" cy="627507"/>
          </a:xfrm>
          <a:prstGeom prst="rect">
            <a:avLst/>
          </a:prstGeom>
          <a:noFill/>
          <a:ln>
            <a:noFill/>
          </a:ln>
        </p:spPr>
        <p:txBody>
          <a:bodyPr wrap="square" rtlCol="0" anchor="ctr">
            <a:normAutofit/>
          </a:bodyPr>
          <a:lstStyle/>
          <a:p>
            <a:pPr marL="0" indent="0" algn="ctr">
              <a:buNone/>
            </a:pPr>
            <a:r>
              <a:rPr lang="en-US" sz="1200" b="1" kern="0" dirty="0">
                <a:solidFill>
                  <a:srgbClr val="FFFFFF"/>
                </a:solidFill>
                <a:latin typeface="Calibri" pitchFamily="34" charset="0"/>
              </a:rPr>
              <a:t>3</a:t>
            </a:r>
          </a:p>
        </p:txBody>
      </p:sp>
      <p:sp>
        <p:nvSpPr>
          <p:cNvPr id="80" name="r51572163590163"/>
          <p:cNvSpPr/>
          <p:nvPr/>
        </p:nvSpPr>
        <p:spPr>
          <a:xfrm>
            <a:off x="5157216" y="3590163"/>
            <a:ext cx="1170432" cy="627507"/>
          </a:xfrm>
          <a:prstGeom prst="rect">
            <a:avLst/>
          </a:prstGeom>
          <a:solidFill>
            <a:srgbClr val="0A3D0A"/>
          </a:solidFill>
          <a:ln>
            <a:noFill/>
          </a:ln>
        </p:spPr>
      </p:sp>
      <p:sp>
        <p:nvSpPr>
          <p:cNvPr id="81" name="ro51572183590165"/>
          <p:cNvSpPr/>
          <p:nvPr/>
        </p:nvSpPr>
        <p:spPr>
          <a:xfrm>
            <a:off x="5157218" y="3590165"/>
            <a:ext cx="1170428" cy="627503"/>
          </a:xfrm>
          <a:prstGeom prst="roundRect">
            <a:avLst>
              <a:gd name="adj" fmla="val 8000"/>
            </a:avLst>
          </a:prstGeom>
          <a:noFill/>
          <a:ln w="9525">
            <a:solidFill>
              <a:srgbClr val="FFFFFF"/>
            </a:solidFill>
          </a:ln>
        </p:spPr>
      </p:sp>
      <p:sp>
        <p:nvSpPr>
          <p:cNvPr id="82" name="t51572163590163"/>
          <p:cNvSpPr txBox="1"/>
          <p:nvPr/>
        </p:nvSpPr>
        <p:spPr>
          <a:xfrm>
            <a:off x="5157216" y="3590163"/>
            <a:ext cx="1170432" cy="627507"/>
          </a:xfrm>
          <a:prstGeom prst="rect">
            <a:avLst/>
          </a:prstGeom>
          <a:noFill/>
          <a:ln>
            <a:noFill/>
          </a:ln>
        </p:spPr>
        <p:txBody>
          <a:bodyPr wrap="square" rtlCol="0" anchor="ctr">
            <a:normAutofit/>
          </a:bodyPr>
          <a:lstStyle/>
          <a:p>
            <a:pPr marL="0" indent="0" algn="ctr">
              <a:buNone/>
            </a:pPr>
            <a:r>
              <a:rPr lang="en-US" sz="1200" b="1" kern="0" dirty="0">
                <a:solidFill>
                  <a:srgbClr val="FFFFFF"/>
                </a:solidFill>
                <a:latin typeface="Calibri" pitchFamily="34" charset="0"/>
              </a:rPr>
              <a:t>4</a:t>
            </a:r>
          </a:p>
        </p:txBody>
      </p:sp>
      <p:sp>
        <p:nvSpPr>
          <p:cNvPr id="83" name="r63276483590163"/>
          <p:cNvSpPr/>
          <p:nvPr/>
        </p:nvSpPr>
        <p:spPr>
          <a:xfrm>
            <a:off x="6327648" y="3590163"/>
            <a:ext cx="1170432" cy="627507"/>
          </a:xfrm>
          <a:prstGeom prst="rect">
            <a:avLst/>
          </a:prstGeom>
          <a:solidFill>
            <a:srgbClr val="1A5C00"/>
          </a:solidFill>
          <a:ln>
            <a:noFill/>
          </a:ln>
        </p:spPr>
      </p:sp>
      <p:sp>
        <p:nvSpPr>
          <p:cNvPr id="84" name="ro63276503590165"/>
          <p:cNvSpPr/>
          <p:nvPr/>
        </p:nvSpPr>
        <p:spPr>
          <a:xfrm>
            <a:off x="6327650" y="3590165"/>
            <a:ext cx="1170428" cy="627503"/>
          </a:xfrm>
          <a:prstGeom prst="roundRect">
            <a:avLst>
              <a:gd name="adj" fmla="val 8000"/>
            </a:avLst>
          </a:prstGeom>
          <a:noFill/>
          <a:ln w="9525">
            <a:solidFill>
              <a:srgbClr val="FFFFFF"/>
            </a:solidFill>
          </a:ln>
        </p:spPr>
      </p:sp>
      <p:sp>
        <p:nvSpPr>
          <p:cNvPr id="85" name="t63276483590163"/>
          <p:cNvSpPr txBox="1"/>
          <p:nvPr/>
        </p:nvSpPr>
        <p:spPr>
          <a:xfrm>
            <a:off x="6327648" y="3590163"/>
            <a:ext cx="1170432" cy="627507"/>
          </a:xfrm>
          <a:prstGeom prst="rect">
            <a:avLst/>
          </a:prstGeom>
          <a:noFill/>
          <a:ln>
            <a:noFill/>
          </a:ln>
        </p:spPr>
        <p:txBody>
          <a:bodyPr wrap="square" rtlCol="0" anchor="ctr">
            <a:normAutofit/>
          </a:bodyPr>
          <a:lstStyle/>
          <a:p>
            <a:pPr marL="0" indent="0" algn="ctr">
              <a:buNone/>
            </a:pPr>
            <a:r>
              <a:rPr lang="en-US" sz="1200" b="1" kern="0" dirty="0">
                <a:solidFill>
                  <a:srgbClr val="FFFFFF"/>
                </a:solidFill>
                <a:latin typeface="Calibri" pitchFamily="34" charset="0"/>
              </a:rPr>
              <a:t>5</a:t>
            </a:r>
          </a:p>
        </p:txBody>
      </p:sp>
      <p:sp>
        <p:nvSpPr>
          <p:cNvPr id="86" name="t16459204269105"/>
          <p:cNvSpPr txBox="1"/>
          <p:nvPr/>
        </p:nvSpPr>
        <p:spPr>
          <a:xfrm>
            <a:off x="1645920" y="4269105"/>
            <a:ext cx="1170432" cy="257175"/>
          </a:xfrm>
          <a:prstGeom prst="rect">
            <a:avLst/>
          </a:prstGeom>
          <a:noFill/>
          <a:ln>
            <a:noFill/>
          </a:ln>
        </p:spPr>
        <p:txBody>
          <a:bodyPr wrap="square" rtlCol="0" anchor="ctr">
            <a:normAutofit/>
          </a:bodyPr>
          <a:lstStyle/>
          <a:p>
            <a:pPr marL="0" indent="0" algn="ctr">
              <a:buNone/>
            </a:pPr>
            <a:r>
              <a:rPr lang="en-US" sz="1000" b="1" kern="0" dirty="0">
                <a:solidFill>
                  <a:srgbClr val="7EC8E3"/>
                </a:solidFill>
                <a:latin typeface="Calibri" pitchFamily="34" charset="0"/>
              </a:rPr>
              <a:t>1</a:t>
            </a:r>
          </a:p>
        </p:txBody>
      </p:sp>
      <p:sp>
        <p:nvSpPr>
          <p:cNvPr id="87" name="t28163524269105"/>
          <p:cNvSpPr txBox="1"/>
          <p:nvPr/>
        </p:nvSpPr>
        <p:spPr>
          <a:xfrm>
            <a:off x="2816352" y="4269105"/>
            <a:ext cx="1170432" cy="257175"/>
          </a:xfrm>
          <a:prstGeom prst="rect">
            <a:avLst/>
          </a:prstGeom>
          <a:noFill/>
          <a:ln>
            <a:noFill/>
          </a:ln>
        </p:spPr>
        <p:txBody>
          <a:bodyPr wrap="square" rtlCol="0" anchor="ctr">
            <a:normAutofit/>
          </a:bodyPr>
          <a:lstStyle/>
          <a:p>
            <a:pPr marL="0" indent="0" algn="ctr">
              <a:buNone/>
            </a:pPr>
            <a:r>
              <a:rPr lang="en-US" sz="1000" b="1" kern="0" dirty="0">
                <a:solidFill>
                  <a:srgbClr val="7EC8E3"/>
                </a:solidFill>
                <a:latin typeface="Calibri" pitchFamily="34" charset="0"/>
              </a:rPr>
              <a:t>2</a:t>
            </a:r>
          </a:p>
        </p:txBody>
      </p:sp>
      <p:sp>
        <p:nvSpPr>
          <p:cNvPr id="88" name="t39867844269105"/>
          <p:cNvSpPr txBox="1"/>
          <p:nvPr/>
        </p:nvSpPr>
        <p:spPr>
          <a:xfrm>
            <a:off x="3986784" y="4269105"/>
            <a:ext cx="1170432" cy="257175"/>
          </a:xfrm>
          <a:prstGeom prst="rect">
            <a:avLst/>
          </a:prstGeom>
          <a:noFill/>
          <a:ln>
            <a:noFill/>
          </a:ln>
        </p:spPr>
        <p:txBody>
          <a:bodyPr wrap="square" rtlCol="0" anchor="ctr">
            <a:normAutofit/>
          </a:bodyPr>
          <a:lstStyle/>
          <a:p>
            <a:pPr marL="0" indent="0" algn="ctr">
              <a:buNone/>
            </a:pPr>
            <a:r>
              <a:rPr lang="en-US" sz="1000" b="1" kern="0" dirty="0">
                <a:solidFill>
                  <a:srgbClr val="7EC8E3"/>
                </a:solidFill>
                <a:latin typeface="Calibri" pitchFamily="34" charset="0"/>
              </a:rPr>
              <a:t>3</a:t>
            </a:r>
          </a:p>
        </p:txBody>
      </p:sp>
      <p:sp>
        <p:nvSpPr>
          <p:cNvPr id="89" name="t51572164269105"/>
          <p:cNvSpPr txBox="1"/>
          <p:nvPr/>
        </p:nvSpPr>
        <p:spPr>
          <a:xfrm>
            <a:off x="5157216" y="4269105"/>
            <a:ext cx="1170432" cy="257175"/>
          </a:xfrm>
          <a:prstGeom prst="rect">
            <a:avLst/>
          </a:prstGeom>
          <a:noFill/>
          <a:ln>
            <a:noFill/>
          </a:ln>
        </p:spPr>
        <p:txBody>
          <a:bodyPr wrap="square" rtlCol="0" anchor="ctr">
            <a:normAutofit/>
          </a:bodyPr>
          <a:lstStyle/>
          <a:p>
            <a:pPr marL="0" indent="0" algn="ctr">
              <a:buNone/>
            </a:pPr>
            <a:r>
              <a:rPr lang="en-US" sz="1000" b="1" kern="0" dirty="0">
                <a:solidFill>
                  <a:srgbClr val="7EC8E3"/>
                </a:solidFill>
                <a:latin typeface="Calibri" pitchFamily="34" charset="0"/>
              </a:rPr>
              <a:t>4</a:t>
            </a:r>
          </a:p>
        </p:txBody>
      </p:sp>
      <p:sp>
        <p:nvSpPr>
          <p:cNvPr id="90" name="t63276484269105"/>
          <p:cNvSpPr txBox="1"/>
          <p:nvPr/>
        </p:nvSpPr>
        <p:spPr>
          <a:xfrm>
            <a:off x="6327648" y="4269105"/>
            <a:ext cx="1170432" cy="257175"/>
          </a:xfrm>
          <a:prstGeom prst="rect">
            <a:avLst/>
          </a:prstGeom>
          <a:noFill/>
          <a:ln>
            <a:noFill/>
          </a:ln>
        </p:spPr>
        <p:txBody>
          <a:bodyPr wrap="square" rtlCol="0" anchor="ctr">
            <a:normAutofit/>
          </a:bodyPr>
          <a:lstStyle/>
          <a:p>
            <a:pPr marL="0" indent="0" algn="ctr">
              <a:buNone/>
            </a:pPr>
            <a:r>
              <a:rPr lang="en-US" sz="1000" b="1" kern="0" dirty="0">
                <a:solidFill>
                  <a:srgbClr val="7EC8E3"/>
                </a:solidFill>
                <a:latin typeface="Calibri" pitchFamily="34" charset="0"/>
              </a:rPr>
              <a:t>5</a:t>
            </a:r>
          </a:p>
        </p:txBody>
      </p:sp>
      <p:sp>
        <p:nvSpPr>
          <p:cNvPr id="91" name="t16459204551997"/>
          <p:cNvSpPr txBox="1"/>
          <p:nvPr/>
        </p:nvSpPr>
        <p:spPr>
          <a:xfrm>
            <a:off x="1645920" y="4551997"/>
            <a:ext cx="5852160" cy="257175"/>
          </a:xfrm>
          <a:prstGeom prst="rect">
            <a:avLst/>
          </a:prstGeom>
          <a:noFill/>
          <a:ln>
            <a:noFill/>
          </a:ln>
        </p:spPr>
        <p:txBody>
          <a:bodyPr wrap="square" rtlCol="0" anchor="ctr">
            <a:normAutofit/>
          </a:bodyPr>
          <a:lstStyle/>
          <a:p>
            <a:pPr marL="0" indent="0" algn="ctr">
              <a:buNone/>
            </a:pPr>
            <a:r>
              <a:rPr lang="en-US" sz="1000" b="1" kern="0" spc="300" dirty="0">
                <a:solidFill>
                  <a:srgbClr val="00D4FF"/>
                </a:solidFill>
                <a:latin typeface="Calibri" pitchFamily="34" charset="0"/>
              </a:rPr>
              <a:t>LIKELIHOOD  →</a:t>
            </a:r>
          </a:p>
        </p:txBody>
      </p:sp>
      <p:sp>
        <p:nvSpPr>
          <p:cNvPr id="92" name="t10972801080135"/>
          <p:cNvSpPr txBox="1"/>
          <p:nvPr/>
        </p:nvSpPr>
        <p:spPr>
          <a:xfrm>
            <a:off x="1097280" y="1080135"/>
            <a:ext cx="502920" cy="627507"/>
          </a:xfrm>
          <a:prstGeom prst="rect">
            <a:avLst/>
          </a:prstGeom>
          <a:noFill/>
          <a:ln>
            <a:noFill/>
          </a:ln>
        </p:spPr>
        <p:txBody>
          <a:bodyPr wrap="square" rtlCol="0" anchor="ctr">
            <a:normAutofit/>
          </a:bodyPr>
          <a:lstStyle/>
          <a:p>
            <a:pPr marL="0" indent="0" algn="ctr">
              <a:buNone/>
            </a:pPr>
            <a:r>
              <a:rPr lang="en-US" sz="1000" b="1" kern="0" dirty="0">
                <a:solidFill>
                  <a:srgbClr val="7EC8E3"/>
                </a:solidFill>
                <a:latin typeface="Calibri" pitchFamily="34" charset="0"/>
              </a:rPr>
              <a:t>5</a:t>
            </a:r>
          </a:p>
        </p:txBody>
      </p:sp>
      <p:sp>
        <p:nvSpPr>
          <p:cNvPr id="93" name="t10972801707642"/>
          <p:cNvSpPr txBox="1"/>
          <p:nvPr/>
        </p:nvSpPr>
        <p:spPr>
          <a:xfrm>
            <a:off x="1097280" y="1707642"/>
            <a:ext cx="502920" cy="627507"/>
          </a:xfrm>
          <a:prstGeom prst="rect">
            <a:avLst/>
          </a:prstGeom>
          <a:noFill/>
          <a:ln>
            <a:noFill/>
          </a:ln>
        </p:spPr>
        <p:txBody>
          <a:bodyPr wrap="square" rtlCol="0" anchor="ctr">
            <a:normAutofit/>
          </a:bodyPr>
          <a:lstStyle/>
          <a:p>
            <a:pPr marL="0" indent="0" algn="ctr">
              <a:buNone/>
            </a:pPr>
            <a:r>
              <a:rPr lang="en-US" sz="1000" b="1" kern="0" dirty="0">
                <a:solidFill>
                  <a:srgbClr val="7EC8E3"/>
                </a:solidFill>
                <a:latin typeface="Calibri" pitchFamily="34" charset="0"/>
              </a:rPr>
              <a:t>4</a:t>
            </a:r>
          </a:p>
        </p:txBody>
      </p:sp>
      <p:sp>
        <p:nvSpPr>
          <p:cNvPr id="94" name="t10972802335149"/>
          <p:cNvSpPr txBox="1"/>
          <p:nvPr/>
        </p:nvSpPr>
        <p:spPr>
          <a:xfrm>
            <a:off x="1097280" y="2335149"/>
            <a:ext cx="502920" cy="627507"/>
          </a:xfrm>
          <a:prstGeom prst="rect">
            <a:avLst/>
          </a:prstGeom>
          <a:noFill/>
          <a:ln>
            <a:noFill/>
          </a:ln>
        </p:spPr>
        <p:txBody>
          <a:bodyPr wrap="square" rtlCol="0" anchor="ctr">
            <a:normAutofit/>
          </a:bodyPr>
          <a:lstStyle/>
          <a:p>
            <a:pPr marL="0" indent="0" algn="ctr">
              <a:buNone/>
            </a:pPr>
            <a:r>
              <a:rPr lang="en-US" sz="1000" b="1" kern="0" dirty="0">
                <a:solidFill>
                  <a:srgbClr val="7EC8E3"/>
                </a:solidFill>
                <a:latin typeface="Calibri" pitchFamily="34" charset="0"/>
              </a:rPr>
              <a:t>3</a:t>
            </a:r>
          </a:p>
        </p:txBody>
      </p:sp>
      <p:sp>
        <p:nvSpPr>
          <p:cNvPr id="95" name="t10972802962656"/>
          <p:cNvSpPr txBox="1"/>
          <p:nvPr/>
        </p:nvSpPr>
        <p:spPr>
          <a:xfrm>
            <a:off x="1097280" y="2962656"/>
            <a:ext cx="502920" cy="627507"/>
          </a:xfrm>
          <a:prstGeom prst="rect">
            <a:avLst/>
          </a:prstGeom>
          <a:noFill/>
          <a:ln>
            <a:noFill/>
          </a:ln>
        </p:spPr>
        <p:txBody>
          <a:bodyPr wrap="square" rtlCol="0" anchor="ctr">
            <a:normAutofit/>
          </a:bodyPr>
          <a:lstStyle/>
          <a:p>
            <a:pPr marL="0" indent="0" algn="ctr">
              <a:buNone/>
            </a:pPr>
            <a:r>
              <a:rPr lang="en-US" sz="1000" b="1" kern="0" dirty="0">
                <a:solidFill>
                  <a:srgbClr val="7EC8E3"/>
                </a:solidFill>
                <a:latin typeface="Calibri" pitchFamily="34" charset="0"/>
              </a:rPr>
              <a:t>2</a:t>
            </a:r>
          </a:p>
        </p:txBody>
      </p:sp>
      <p:sp>
        <p:nvSpPr>
          <p:cNvPr id="96" name="t10972803590163"/>
          <p:cNvSpPr txBox="1"/>
          <p:nvPr/>
        </p:nvSpPr>
        <p:spPr>
          <a:xfrm>
            <a:off x="1097280" y="3590163"/>
            <a:ext cx="502920" cy="627507"/>
          </a:xfrm>
          <a:prstGeom prst="rect">
            <a:avLst/>
          </a:prstGeom>
          <a:noFill/>
          <a:ln>
            <a:noFill/>
          </a:ln>
        </p:spPr>
        <p:txBody>
          <a:bodyPr wrap="square" rtlCol="0" anchor="ctr">
            <a:normAutofit/>
          </a:bodyPr>
          <a:lstStyle/>
          <a:p>
            <a:pPr marL="0" indent="0" algn="ctr">
              <a:buNone/>
            </a:pPr>
            <a:r>
              <a:rPr lang="en-US" sz="1000" b="1" kern="0" dirty="0">
                <a:solidFill>
                  <a:srgbClr val="7EC8E3"/>
                </a:solidFill>
                <a:latin typeface="Calibri" pitchFamily="34" charset="0"/>
              </a:rPr>
              <a:t>1</a:t>
            </a:r>
          </a:p>
        </p:txBody>
      </p:sp>
      <p:sp>
        <p:nvSpPr>
          <p:cNvPr id="97" name="t5943601080135"/>
          <p:cNvSpPr txBox="1"/>
          <p:nvPr/>
        </p:nvSpPr>
        <p:spPr>
          <a:xfrm>
            <a:off x="594360" y="1080135"/>
            <a:ext cx="548640" cy="3137535"/>
          </a:xfrm>
          <a:prstGeom prst="rect">
            <a:avLst/>
          </a:prstGeom>
          <a:noFill/>
          <a:ln>
            <a:noFill/>
          </a:ln>
        </p:spPr>
        <p:txBody>
          <a:bodyPr wrap="square" rtlCol="0" anchor="ctr">
            <a:normAutofit/>
          </a:bodyPr>
          <a:lstStyle/>
          <a:p>
            <a:pPr marL="0" indent="0" algn="ctr">
              <a:buNone/>
            </a:pPr>
            <a:r>
              <a:rPr lang="en-US" sz="900" b="1" kern="0" spc="100" dirty="0">
                <a:solidFill>
                  <a:srgbClr val="00D4FF"/>
                </a:solidFill>
                <a:latin typeface="Calibri" pitchFamily="34" charset="0"/>
              </a:rPr>
              <a:t>↑
I
M
P
A
C
T</a:t>
            </a:r>
          </a:p>
        </p:txBody>
      </p:sp>
      <p:sp>
        <p:nvSpPr>
          <p:cNvPr id="98" name="t7863840977265"/>
          <p:cNvSpPr txBox="1"/>
          <p:nvPr/>
        </p:nvSpPr>
        <p:spPr>
          <a:xfrm>
            <a:off x="7863840" y="977265"/>
            <a:ext cx="2011680" cy="205740"/>
          </a:xfrm>
          <a:prstGeom prst="rect">
            <a:avLst/>
          </a:prstGeom>
          <a:noFill/>
          <a:ln>
            <a:noFill/>
          </a:ln>
        </p:spPr>
        <p:txBody>
          <a:bodyPr wrap="square" rtlCol="0" anchor="ctr">
            <a:normAutofit fontScale="92500" lnSpcReduction="20000"/>
          </a:bodyPr>
          <a:lstStyle/>
          <a:p>
            <a:pPr marL="0" indent="0" algn="l">
              <a:buNone/>
            </a:pPr>
            <a:r>
              <a:rPr lang="en-US" sz="1000" b="1" kern="0" spc="300" dirty="0">
                <a:solidFill>
                  <a:srgbClr val="00D4FF"/>
                </a:solidFill>
                <a:latin typeface="Calibri" pitchFamily="34" charset="0"/>
              </a:rPr>
              <a:t>RISK LEVEL</a:t>
            </a:r>
          </a:p>
        </p:txBody>
      </p:sp>
      <p:sp>
        <p:nvSpPr>
          <p:cNvPr id="99" name="r78638401183005"/>
          <p:cNvSpPr/>
          <p:nvPr/>
        </p:nvSpPr>
        <p:spPr>
          <a:xfrm>
            <a:off x="7863840" y="1183005"/>
            <a:ext cx="365760" cy="360045"/>
          </a:xfrm>
          <a:prstGeom prst="rect">
            <a:avLst/>
          </a:prstGeom>
          <a:solidFill>
            <a:srgbClr val="CC0000"/>
          </a:solidFill>
          <a:ln>
            <a:noFill/>
          </a:ln>
        </p:spPr>
      </p:sp>
      <p:sp>
        <p:nvSpPr>
          <p:cNvPr id="100" name="t83210401183005"/>
          <p:cNvSpPr txBox="1"/>
          <p:nvPr/>
        </p:nvSpPr>
        <p:spPr>
          <a:xfrm>
            <a:off x="8321040" y="1183005"/>
            <a:ext cx="1463040" cy="195453"/>
          </a:xfrm>
          <a:prstGeom prst="rect">
            <a:avLst/>
          </a:prstGeom>
          <a:noFill/>
          <a:ln>
            <a:noFill/>
          </a:ln>
        </p:spPr>
        <p:txBody>
          <a:bodyPr wrap="square" rtlCol="0" anchor="ctr">
            <a:normAutofit fontScale="85000" lnSpcReduction="20000"/>
          </a:bodyPr>
          <a:lstStyle/>
          <a:p>
            <a:pPr marL="0" indent="0" algn="l">
              <a:buNone/>
            </a:pPr>
            <a:r>
              <a:rPr lang="en-US" sz="950" b="1" kern="0" dirty="0">
                <a:solidFill>
                  <a:srgbClr val="FFFFFF"/>
                </a:solidFill>
                <a:latin typeface="Calibri" pitchFamily="34" charset="0"/>
              </a:rPr>
              <a:t>CRITICAL</a:t>
            </a:r>
          </a:p>
        </p:txBody>
      </p:sp>
      <p:sp>
        <p:nvSpPr>
          <p:cNvPr id="101" name="t83210401378458"/>
          <p:cNvSpPr txBox="1"/>
          <p:nvPr/>
        </p:nvSpPr>
        <p:spPr>
          <a:xfrm>
            <a:off x="8321040" y="1378458"/>
            <a:ext cx="1463040" cy="174879"/>
          </a:xfrm>
          <a:prstGeom prst="rect">
            <a:avLst/>
          </a:prstGeom>
          <a:noFill/>
          <a:ln>
            <a:noFill/>
          </a:ln>
        </p:spPr>
        <p:txBody>
          <a:bodyPr wrap="square" rtlCol="0" anchor="ctr">
            <a:normAutofit fontScale="77500" lnSpcReduction="20000"/>
          </a:bodyPr>
          <a:lstStyle/>
          <a:p>
            <a:pPr marL="0" indent="0" algn="l">
              <a:buNone/>
            </a:pPr>
            <a:r>
              <a:rPr lang="en-US" sz="800" b="0" kern="0" dirty="0">
                <a:solidFill>
                  <a:srgbClr val="8BAED6"/>
                </a:solidFill>
                <a:latin typeface="Calibri" pitchFamily="34" charset="0"/>
              </a:rPr>
              <a:t>Score: 20–25</a:t>
            </a:r>
          </a:p>
        </p:txBody>
      </p:sp>
      <p:sp>
        <p:nvSpPr>
          <p:cNvPr id="102" name="r78638401671637"/>
          <p:cNvSpPr/>
          <p:nvPr/>
        </p:nvSpPr>
        <p:spPr>
          <a:xfrm>
            <a:off x="7863840" y="1671637"/>
            <a:ext cx="365760" cy="360045"/>
          </a:xfrm>
          <a:prstGeom prst="rect">
            <a:avLst/>
          </a:prstGeom>
          <a:solidFill>
            <a:srgbClr val="B85C00"/>
          </a:solidFill>
          <a:ln>
            <a:noFill/>
          </a:ln>
        </p:spPr>
      </p:sp>
      <p:sp>
        <p:nvSpPr>
          <p:cNvPr id="103" name="t83210401671637"/>
          <p:cNvSpPr txBox="1"/>
          <p:nvPr/>
        </p:nvSpPr>
        <p:spPr>
          <a:xfrm>
            <a:off x="8321040" y="1671637"/>
            <a:ext cx="1463040" cy="195453"/>
          </a:xfrm>
          <a:prstGeom prst="rect">
            <a:avLst/>
          </a:prstGeom>
          <a:noFill/>
          <a:ln>
            <a:noFill/>
          </a:ln>
        </p:spPr>
        <p:txBody>
          <a:bodyPr wrap="square" rtlCol="0" anchor="ctr">
            <a:normAutofit fontScale="85000" lnSpcReduction="20000"/>
          </a:bodyPr>
          <a:lstStyle/>
          <a:p>
            <a:pPr marL="0" indent="0" algn="l">
              <a:buNone/>
            </a:pPr>
            <a:r>
              <a:rPr lang="en-US" sz="950" b="1" kern="0" dirty="0">
                <a:solidFill>
                  <a:srgbClr val="FFFFFF"/>
                </a:solidFill>
                <a:latin typeface="Calibri" pitchFamily="34" charset="0"/>
              </a:rPr>
              <a:t>HIGH</a:t>
            </a:r>
          </a:p>
        </p:txBody>
      </p:sp>
      <p:sp>
        <p:nvSpPr>
          <p:cNvPr id="104" name="t83210401867090"/>
          <p:cNvSpPr txBox="1"/>
          <p:nvPr/>
        </p:nvSpPr>
        <p:spPr>
          <a:xfrm>
            <a:off x="8321040" y="1867090"/>
            <a:ext cx="1463040" cy="174879"/>
          </a:xfrm>
          <a:prstGeom prst="rect">
            <a:avLst/>
          </a:prstGeom>
          <a:noFill/>
          <a:ln>
            <a:noFill/>
          </a:ln>
        </p:spPr>
        <p:txBody>
          <a:bodyPr wrap="square" rtlCol="0" anchor="ctr">
            <a:normAutofit fontScale="77500" lnSpcReduction="20000"/>
          </a:bodyPr>
          <a:lstStyle/>
          <a:p>
            <a:pPr marL="0" indent="0" algn="l">
              <a:buNone/>
            </a:pPr>
            <a:r>
              <a:rPr lang="en-US" sz="800" b="0" kern="0" dirty="0">
                <a:solidFill>
                  <a:srgbClr val="8BAED6"/>
                </a:solidFill>
                <a:latin typeface="Calibri" pitchFamily="34" charset="0"/>
              </a:rPr>
              <a:t>Score: 15–19</a:t>
            </a:r>
          </a:p>
        </p:txBody>
      </p:sp>
      <p:sp>
        <p:nvSpPr>
          <p:cNvPr id="105" name="r78638402160269"/>
          <p:cNvSpPr/>
          <p:nvPr/>
        </p:nvSpPr>
        <p:spPr>
          <a:xfrm>
            <a:off x="7863840" y="2160269"/>
            <a:ext cx="365760" cy="360045"/>
          </a:xfrm>
          <a:prstGeom prst="rect">
            <a:avLst/>
          </a:prstGeom>
          <a:solidFill>
            <a:srgbClr val="7A6800"/>
          </a:solidFill>
          <a:ln>
            <a:noFill/>
          </a:ln>
        </p:spPr>
      </p:sp>
      <p:sp>
        <p:nvSpPr>
          <p:cNvPr id="106" name="t83210402160269"/>
          <p:cNvSpPr txBox="1"/>
          <p:nvPr/>
        </p:nvSpPr>
        <p:spPr>
          <a:xfrm>
            <a:off x="8321040" y="2160269"/>
            <a:ext cx="1463040" cy="195453"/>
          </a:xfrm>
          <a:prstGeom prst="rect">
            <a:avLst/>
          </a:prstGeom>
          <a:noFill/>
          <a:ln>
            <a:noFill/>
          </a:ln>
        </p:spPr>
        <p:txBody>
          <a:bodyPr wrap="square" rtlCol="0" anchor="ctr">
            <a:normAutofit fontScale="85000" lnSpcReduction="20000"/>
          </a:bodyPr>
          <a:lstStyle/>
          <a:p>
            <a:pPr marL="0" indent="0" algn="l">
              <a:buNone/>
            </a:pPr>
            <a:r>
              <a:rPr lang="en-US" sz="950" b="1" kern="0" dirty="0">
                <a:solidFill>
                  <a:srgbClr val="FFFFFF"/>
                </a:solidFill>
                <a:latin typeface="Calibri" pitchFamily="34" charset="0"/>
              </a:rPr>
              <a:t>MEDIUM</a:t>
            </a:r>
          </a:p>
        </p:txBody>
      </p:sp>
      <p:sp>
        <p:nvSpPr>
          <p:cNvPr id="107" name="t83210402355722"/>
          <p:cNvSpPr txBox="1"/>
          <p:nvPr/>
        </p:nvSpPr>
        <p:spPr>
          <a:xfrm>
            <a:off x="8321040" y="2355722"/>
            <a:ext cx="1463040" cy="174879"/>
          </a:xfrm>
          <a:prstGeom prst="rect">
            <a:avLst/>
          </a:prstGeom>
          <a:noFill/>
          <a:ln>
            <a:noFill/>
          </a:ln>
        </p:spPr>
        <p:txBody>
          <a:bodyPr wrap="square" rtlCol="0" anchor="ctr">
            <a:normAutofit fontScale="77500" lnSpcReduction="20000"/>
          </a:bodyPr>
          <a:lstStyle/>
          <a:p>
            <a:pPr marL="0" indent="0" algn="l">
              <a:buNone/>
            </a:pPr>
            <a:r>
              <a:rPr lang="en-US" sz="800" b="0" kern="0" dirty="0">
                <a:solidFill>
                  <a:srgbClr val="8BAED6"/>
                </a:solidFill>
                <a:latin typeface="Calibri" pitchFamily="34" charset="0"/>
              </a:rPr>
              <a:t>Score: 10–14</a:t>
            </a:r>
          </a:p>
        </p:txBody>
      </p:sp>
      <p:sp>
        <p:nvSpPr>
          <p:cNvPr id="108" name="r78638402648901"/>
          <p:cNvSpPr/>
          <p:nvPr/>
        </p:nvSpPr>
        <p:spPr>
          <a:xfrm>
            <a:off x="7863840" y="2648901"/>
            <a:ext cx="365760" cy="360045"/>
          </a:xfrm>
          <a:prstGeom prst="rect">
            <a:avLst/>
          </a:prstGeom>
          <a:solidFill>
            <a:srgbClr val="1A5C00"/>
          </a:solidFill>
          <a:ln>
            <a:noFill/>
          </a:ln>
        </p:spPr>
      </p:sp>
      <p:sp>
        <p:nvSpPr>
          <p:cNvPr id="109" name="t83210402648901"/>
          <p:cNvSpPr txBox="1"/>
          <p:nvPr/>
        </p:nvSpPr>
        <p:spPr>
          <a:xfrm>
            <a:off x="8321040" y="2648901"/>
            <a:ext cx="1463040" cy="195453"/>
          </a:xfrm>
          <a:prstGeom prst="rect">
            <a:avLst/>
          </a:prstGeom>
          <a:noFill/>
          <a:ln>
            <a:noFill/>
          </a:ln>
        </p:spPr>
        <p:txBody>
          <a:bodyPr wrap="square" rtlCol="0" anchor="ctr">
            <a:normAutofit fontScale="85000" lnSpcReduction="20000"/>
          </a:bodyPr>
          <a:lstStyle/>
          <a:p>
            <a:pPr marL="0" indent="0" algn="l">
              <a:buNone/>
            </a:pPr>
            <a:r>
              <a:rPr lang="en-US" sz="950" b="1" kern="0" dirty="0">
                <a:solidFill>
                  <a:srgbClr val="FFFFFF"/>
                </a:solidFill>
                <a:latin typeface="Calibri" pitchFamily="34" charset="0"/>
              </a:rPr>
              <a:t>LOW-MED</a:t>
            </a:r>
          </a:p>
        </p:txBody>
      </p:sp>
      <p:sp>
        <p:nvSpPr>
          <p:cNvPr id="110" name="t83210402844354"/>
          <p:cNvSpPr txBox="1"/>
          <p:nvPr/>
        </p:nvSpPr>
        <p:spPr>
          <a:xfrm>
            <a:off x="8321040" y="2844354"/>
            <a:ext cx="1463040" cy="174879"/>
          </a:xfrm>
          <a:prstGeom prst="rect">
            <a:avLst/>
          </a:prstGeom>
          <a:noFill/>
          <a:ln>
            <a:noFill/>
          </a:ln>
        </p:spPr>
        <p:txBody>
          <a:bodyPr wrap="square" rtlCol="0" anchor="ctr">
            <a:normAutofit fontScale="77500" lnSpcReduction="20000"/>
          </a:bodyPr>
          <a:lstStyle/>
          <a:p>
            <a:pPr marL="0" indent="0" algn="l">
              <a:buNone/>
            </a:pPr>
            <a:r>
              <a:rPr lang="en-US" sz="800" b="0" kern="0" dirty="0">
                <a:solidFill>
                  <a:srgbClr val="8BAED6"/>
                </a:solidFill>
                <a:latin typeface="Calibri" pitchFamily="34" charset="0"/>
              </a:rPr>
              <a:t>Score: 5–9</a:t>
            </a:r>
          </a:p>
        </p:txBody>
      </p:sp>
      <p:sp>
        <p:nvSpPr>
          <p:cNvPr id="111" name="r78638403137533"/>
          <p:cNvSpPr/>
          <p:nvPr/>
        </p:nvSpPr>
        <p:spPr>
          <a:xfrm>
            <a:off x="7863840" y="3137533"/>
            <a:ext cx="365760" cy="360045"/>
          </a:xfrm>
          <a:prstGeom prst="rect">
            <a:avLst/>
          </a:prstGeom>
          <a:solidFill>
            <a:srgbClr val="0A3D0A"/>
          </a:solidFill>
          <a:ln>
            <a:noFill/>
          </a:ln>
        </p:spPr>
      </p:sp>
      <p:sp>
        <p:nvSpPr>
          <p:cNvPr id="112" name="t83210403137533"/>
          <p:cNvSpPr txBox="1"/>
          <p:nvPr/>
        </p:nvSpPr>
        <p:spPr>
          <a:xfrm>
            <a:off x="8321040" y="3137533"/>
            <a:ext cx="1463040" cy="195453"/>
          </a:xfrm>
          <a:prstGeom prst="rect">
            <a:avLst/>
          </a:prstGeom>
          <a:noFill/>
          <a:ln>
            <a:noFill/>
          </a:ln>
        </p:spPr>
        <p:txBody>
          <a:bodyPr wrap="square" rtlCol="0" anchor="ctr">
            <a:normAutofit fontScale="85000" lnSpcReduction="20000"/>
          </a:bodyPr>
          <a:lstStyle/>
          <a:p>
            <a:pPr marL="0" indent="0" algn="l">
              <a:buNone/>
            </a:pPr>
            <a:r>
              <a:rPr lang="en-US" sz="950" b="1" kern="0" dirty="0">
                <a:solidFill>
                  <a:srgbClr val="FFFFFF"/>
                </a:solidFill>
                <a:latin typeface="Calibri" pitchFamily="34" charset="0"/>
              </a:rPr>
              <a:t>LOW</a:t>
            </a:r>
          </a:p>
        </p:txBody>
      </p:sp>
      <p:sp>
        <p:nvSpPr>
          <p:cNvPr id="113" name="t83210403332986"/>
          <p:cNvSpPr txBox="1"/>
          <p:nvPr/>
        </p:nvSpPr>
        <p:spPr>
          <a:xfrm>
            <a:off x="8321040" y="3332986"/>
            <a:ext cx="1463040" cy="174879"/>
          </a:xfrm>
          <a:prstGeom prst="rect">
            <a:avLst/>
          </a:prstGeom>
          <a:noFill/>
          <a:ln>
            <a:noFill/>
          </a:ln>
        </p:spPr>
        <p:txBody>
          <a:bodyPr wrap="square" rtlCol="0" anchor="ctr">
            <a:normAutofit fontScale="77500" lnSpcReduction="20000"/>
          </a:bodyPr>
          <a:lstStyle/>
          <a:p>
            <a:pPr marL="0" indent="0" algn="l">
              <a:buNone/>
            </a:pPr>
            <a:r>
              <a:rPr lang="en-US" sz="800" b="0" kern="0" dirty="0">
                <a:solidFill>
                  <a:srgbClr val="8BAED6"/>
                </a:solidFill>
                <a:latin typeface="Calibri" pitchFamily="34" charset="0"/>
              </a:rPr>
              <a:t>Score: 1–4</a:t>
            </a:r>
          </a:p>
        </p:txBody>
      </p:sp>
      <p:sp>
        <p:nvSpPr>
          <p:cNvPr id="52" name="c69128642021395"/>
          <p:cNvSpPr/>
          <p:nvPr/>
        </p:nvSpPr>
        <p:spPr>
          <a:xfrm>
            <a:off x="6768846" y="1877377"/>
            <a:ext cx="288036" cy="288036"/>
          </a:xfrm>
          <a:prstGeom prst="ellipse">
            <a:avLst/>
          </a:prstGeom>
          <a:solidFill>
            <a:srgbClr val="FFD700"/>
          </a:solidFill>
          <a:ln>
            <a:noFill/>
          </a:ln>
        </p:spPr>
      </p:sp>
      <p:sp>
        <p:nvSpPr>
          <p:cNvPr id="114" name="t64556642175700"/>
          <p:cNvSpPr txBox="1"/>
          <p:nvPr/>
        </p:nvSpPr>
        <p:spPr>
          <a:xfrm>
            <a:off x="6455664" y="2175700"/>
            <a:ext cx="914400" cy="205740"/>
          </a:xfrm>
          <a:prstGeom prst="rect">
            <a:avLst/>
          </a:prstGeom>
          <a:noFill/>
          <a:ln>
            <a:noFill/>
          </a:ln>
        </p:spPr>
        <p:txBody>
          <a:bodyPr wrap="square" rtlCol="0" anchor="ctr">
            <a:normAutofit/>
          </a:bodyPr>
          <a:lstStyle/>
          <a:p>
            <a:pPr marL="0" indent="0" algn="ctr">
              <a:buNone/>
            </a:pPr>
            <a:r>
              <a:rPr lang="en-US" sz="650" b="0" kern="0" dirty="0">
                <a:solidFill>
                  <a:srgbClr val="FFD700"/>
                </a:solidFill>
                <a:latin typeface="Calibri" pitchFamily="34" charset="0"/>
              </a:rPr>
              <a:t>Phishing</a:t>
            </a:r>
          </a:p>
        </p:txBody>
      </p:sp>
      <p:sp>
        <p:nvSpPr>
          <p:cNvPr id="115" name="c57424321393888"/>
          <p:cNvSpPr/>
          <p:nvPr/>
        </p:nvSpPr>
        <p:spPr>
          <a:xfrm>
            <a:off x="5598414" y="1249870"/>
            <a:ext cx="288036" cy="288036"/>
          </a:xfrm>
          <a:prstGeom prst="ellipse">
            <a:avLst/>
          </a:prstGeom>
          <a:solidFill>
            <a:srgbClr val="FF8C00"/>
          </a:solidFill>
          <a:ln>
            <a:noFill/>
          </a:ln>
        </p:spPr>
      </p:sp>
      <p:sp>
        <p:nvSpPr>
          <p:cNvPr id="116" name="t52852321548193"/>
          <p:cNvSpPr txBox="1"/>
          <p:nvPr/>
        </p:nvSpPr>
        <p:spPr>
          <a:xfrm>
            <a:off x="5285232" y="1548193"/>
            <a:ext cx="914400" cy="205740"/>
          </a:xfrm>
          <a:prstGeom prst="rect">
            <a:avLst/>
          </a:prstGeom>
          <a:noFill/>
          <a:ln>
            <a:noFill/>
          </a:ln>
        </p:spPr>
        <p:txBody>
          <a:bodyPr wrap="square" rtlCol="0" anchor="ctr">
            <a:normAutofit/>
          </a:bodyPr>
          <a:lstStyle/>
          <a:p>
            <a:pPr marL="0" indent="0" algn="ctr">
              <a:buNone/>
            </a:pPr>
            <a:r>
              <a:rPr lang="en-US" sz="650" b="0" kern="0" dirty="0">
                <a:solidFill>
                  <a:srgbClr val="FF8C00"/>
                </a:solidFill>
                <a:latin typeface="Calibri" pitchFamily="34" charset="0"/>
              </a:rPr>
              <a:t>Ransomware</a:t>
            </a:r>
          </a:p>
        </p:txBody>
      </p:sp>
      <p:sp>
        <p:nvSpPr>
          <p:cNvPr id="117" name="c69128642021395"/>
          <p:cNvSpPr/>
          <p:nvPr/>
        </p:nvSpPr>
        <p:spPr>
          <a:xfrm>
            <a:off x="6768846" y="1877377"/>
            <a:ext cx="288036" cy="288036"/>
          </a:xfrm>
          <a:prstGeom prst="ellipse">
            <a:avLst/>
          </a:prstGeom>
          <a:solidFill>
            <a:srgbClr val="FF4500"/>
          </a:solidFill>
          <a:ln>
            <a:noFill/>
          </a:ln>
        </p:spPr>
      </p:sp>
      <p:sp>
        <p:nvSpPr>
          <p:cNvPr id="118" name="t64556642175700"/>
          <p:cNvSpPr txBox="1"/>
          <p:nvPr/>
        </p:nvSpPr>
        <p:spPr>
          <a:xfrm>
            <a:off x="6455664" y="2175700"/>
            <a:ext cx="914400" cy="205740"/>
          </a:xfrm>
          <a:prstGeom prst="rect">
            <a:avLst/>
          </a:prstGeom>
          <a:noFill/>
          <a:ln>
            <a:noFill/>
          </a:ln>
        </p:spPr>
        <p:txBody>
          <a:bodyPr wrap="square" rtlCol="0" anchor="ctr">
            <a:normAutofit/>
          </a:bodyPr>
          <a:lstStyle/>
          <a:p>
            <a:pPr marL="0" indent="0" algn="ctr">
              <a:buNone/>
            </a:pPr>
            <a:r>
              <a:rPr lang="en-US" sz="650" b="0" kern="0" dirty="0">
                <a:solidFill>
                  <a:srgbClr val="FF4500"/>
                </a:solidFill>
                <a:latin typeface="Calibri" pitchFamily="34" charset="0"/>
              </a:rPr>
              <a:t>Weak Pwd</a:t>
            </a:r>
          </a:p>
        </p:txBody>
      </p:sp>
      <p:sp>
        <p:nvSpPr>
          <p:cNvPr id="119" name="c45720001393888"/>
          <p:cNvSpPr/>
          <p:nvPr/>
        </p:nvSpPr>
        <p:spPr>
          <a:xfrm>
            <a:off x="4427982" y="1249870"/>
            <a:ext cx="288036" cy="288036"/>
          </a:xfrm>
          <a:prstGeom prst="ellipse">
            <a:avLst/>
          </a:prstGeom>
          <a:solidFill>
            <a:srgbClr val="DA70D6"/>
          </a:solidFill>
          <a:ln>
            <a:noFill/>
          </a:ln>
        </p:spPr>
      </p:sp>
      <p:sp>
        <p:nvSpPr>
          <p:cNvPr id="120" name="t41148001548193"/>
          <p:cNvSpPr txBox="1"/>
          <p:nvPr/>
        </p:nvSpPr>
        <p:spPr>
          <a:xfrm>
            <a:off x="4114800" y="1548193"/>
            <a:ext cx="914400" cy="205740"/>
          </a:xfrm>
          <a:prstGeom prst="rect">
            <a:avLst/>
          </a:prstGeom>
          <a:noFill/>
          <a:ln>
            <a:noFill/>
          </a:ln>
        </p:spPr>
        <p:txBody>
          <a:bodyPr wrap="square" rtlCol="0" anchor="ctr">
            <a:normAutofit/>
          </a:bodyPr>
          <a:lstStyle/>
          <a:p>
            <a:pPr marL="0" indent="0" algn="ctr">
              <a:buNone/>
            </a:pPr>
            <a:r>
              <a:rPr lang="en-US" sz="650" b="0" kern="0" dirty="0">
                <a:solidFill>
                  <a:srgbClr val="DA70D6"/>
                </a:solidFill>
                <a:latin typeface="Calibri" pitchFamily="34" charset="0"/>
              </a:rPr>
              <a:t>Insider</a:t>
            </a:r>
          </a:p>
        </p:txBody>
      </p:sp>
      <p:sp>
        <p:nvSpPr>
          <p:cNvPr id="121" name="c57424322021395"/>
          <p:cNvSpPr/>
          <p:nvPr/>
        </p:nvSpPr>
        <p:spPr>
          <a:xfrm>
            <a:off x="5598414" y="1877377"/>
            <a:ext cx="288036" cy="288036"/>
          </a:xfrm>
          <a:prstGeom prst="ellipse">
            <a:avLst/>
          </a:prstGeom>
          <a:solidFill>
            <a:srgbClr val="00CED1"/>
          </a:solidFill>
          <a:ln>
            <a:noFill/>
          </a:ln>
        </p:spPr>
      </p:sp>
      <p:sp>
        <p:nvSpPr>
          <p:cNvPr id="122" name="t52852322175700"/>
          <p:cNvSpPr txBox="1"/>
          <p:nvPr/>
        </p:nvSpPr>
        <p:spPr>
          <a:xfrm>
            <a:off x="5285232" y="2175700"/>
            <a:ext cx="914400" cy="205740"/>
          </a:xfrm>
          <a:prstGeom prst="rect">
            <a:avLst/>
          </a:prstGeom>
          <a:noFill/>
          <a:ln>
            <a:noFill/>
          </a:ln>
        </p:spPr>
        <p:txBody>
          <a:bodyPr wrap="square" rtlCol="0" anchor="ctr">
            <a:normAutofit/>
          </a:bodyPr>
          <a:lstStyle/>
          <a:p>
            <a:pPr marL="0" indent="0" algn="ctr">
              <a:buNone/>
            </a:pPr>
            <a:r>
              <a:rPr lang="en-US" sz="650" b="0" kern="0" dirty="0">
                <a:solidFill>
                  <a:srgbClr val="00CED1"/>
                </a:solidFill>
                <a:latin typeface="Calibri" pitchFamily="34" charset="0"/>
              </a:rPr>
              <a:t>Unpatched SW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4F6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1A2B5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Risk Assessment Process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457200" y="822960"/>
            <a:ext cx="1097280" cy="36576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57200" y="1051560"/>
            <a:ext cx="1828800" cy="1645920"/>
          </a:xfrm>
          <a:prstGeom prst="rect">
            <a:avLst/>
          </a:prstGeom>
          <a:solidFill>
            <a:srgbClr val="FFFFFF"/>
          </a:solidFill>
          <a:ln w="12700">
            <a:solidFill>
              <a:srgbClr val="1E5FA8"/>
            </a:solidFill>
            <a:prstDash val="solid"/>
          </a:ln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57200" y="1051560"/>
            <a:ext cx="1828800" cy="384048"/>
          </a:xfrm>
          <a:prstGeom prst="rect">
            <a:avLst/>
          </a:prstGeom>
          <a:solidFill>
            <a:srgbClr val="1A2B5F"/>
          </a:solidFill>
          <a:ln w="12700">
            <a:solidFill>
              <a:srgbClr val="1A2B5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105156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859536" y="1078992"/>
            <a:ext cx="1371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Identify Risks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548640" y="1508760"/>
            <a:ext cx="164592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Identify cybersecurity risks facing the SME.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2606040" y="1051560"/>
            <a:ext cx="1828800" cy="1645920"/>
          </a:xfrm>
          <a:prstGeom prst="rect">
            <a:avLst/>
          </a:prstGeom>
          <a:solidFill>
            <a:srgbClr val="FFFFFF"/>
          </a:solidFill>
          <a:ln w="12700">
            <a:solidFill>
              <a:srgbClr val="1E5FA8"/>
            </a:solidFill>
            <a:prstDash val="solid"/>
          </a:ln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2606040" y="1051560"/>
            <a:ext cx="1828800" cy="384048"/>
          </a:xfrm>
          <a:prstGeom prst="rect">
            <a:avLst/>
          </a:prstGeom>
          <a:solidFill>
            <a:srgbClr val="1A2B5F"/>
          </a:solidFill>
          <a:ln w="12700">
            <a:solidFill>
              <a:srgbClr val="1A2B5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606040" y="105156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3008376" y="1078992"/>
            <a:ext cx="1371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Assess Likelihood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2697480" y="1508760"/>
            <a:ext cx="164592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Estimate how likely each threat is to occur.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4754880" y="1051560"/>
            <a:ext cx="1828800" cy="1645920"/>
          </a:xfrm>
          <a:prstGeom prst="rect">
            <a:avLst/>
          </a:prstGeom>
          <a:solidFill>
            <a:srgbClr val="FFFFFF"/>
          </a:solidFill>
          <a:ln w="12700">
            <a:solidFill>
              <a:srgbClr val="1E5FA8"/>
            </a:solidFill>
            <a:prstDash val="solid"/>
          </a:ln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4754880" y="1051560"/>
            <a:ext cx="1828800" cy="384048"/>
          </a:xfrm>
          <a:prstGeom prst="rect">
            <a:avLst/>
          </a:prstGeom>
          <a:solidFill>
            <a:srgbClr val="1A2B5F"/>
          </a:solidFill>
          <a:ln w="12700">
            <a:solidFill>
              <a:srgbClr val="1A2B5F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754880" y="105156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5157216" y="1078992"/>
            <a:ext cx="1371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Assess Impact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4846320" y="1508760"/>
            <a:ext cx="164592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Determine the potential damage if the risk occurs.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6903720" y="1051560"/>
            <a:ext cx="1828800" cy="1645920"/>
          </a:xfrm>
          <a:prstGeom prst="rect">
            <a:avLst/>
          </a:prstGeom>
          <a:solidFill>
            <a:srgbClr val="FFFFFF"/>
          </a:solidFill>
          <a:ln w="12700">
            <a:solidFill>
              <a:srgbClr val="1E5FA8"/>
            </a:solidFill>
            <a:prstDash val="solid"/>
          </a:ln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6903720" y="1051560"/>
            <a:ext cx="1828800" cy="384048"/>
          </a:xfrm>
          <a:prstGeom prst="rect">
            <a:avLst/>
          </a:prstGeom>
          <a:solidFill>
            <a:srgbClr val="1A2B5F"/>
          </a:solidFill>
          <a:ln w="12700">
            <a:solidFill>
              <a:srgbClr val="1A2B5F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903720" y="105156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4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7306056" y="1078992"/>
            <a:ext cx="1371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Calculate Score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6995160" y="1508760"/>
            <a:ext cx="164592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Multiply Likelihood × Impact to get the Risk Score.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457200" y="3108960"/>
            <a:ext cx="1828800" cy="1645920"/>
          </a:xfrm>
          <a:prstGeom prst="rect">
            <a:avLst/>
          </a:prstGeom>
          <a:solidFill>
            <a:srgbClr val="FFFFFF"/>
          </a:solidFill>
          <a:ln w="12700">
            <a:solidFill>
              <a:srgbClr val="1E5FA8"/>
            </a:solidFill>
            <a:prstDash val="solid"/>
          </a:ln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457200" y="3108960"/>
            <a:ext cx="1828800" cy="384048"/>
          </a:xfrm>
          <a:prstGeom prst="rect">
            <a:avLst/>
          </a:prstGeom>
          <a:solidFill>
            <a:srgbClr val="1A2B5F"/>
          </a:solidFill>
          <a:ln w="12700">
            <a:solidFill>
              <a:srgbClr val="1A2B5F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57200" y="310896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5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859536" y="3136392"/>
            <a:ext cx="1371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Prioritize Threats</a:t>
            </a:r>
            <a:endParaRPr lang="en-US" sz="1050" dirty="0"/>
          </a:p>
        </p:txBody>
      </p:sp>
      <p:sp>
        <p:nvSpPr>
          <p:cNvPr id="28" name="Text 26"/>
          <p:cNvSpPr/>
          <p:nvPr/>
        </p:nvSpPr>
        <p:spPr>
          <a:xfrm>
            <a:off x="548640" y="3566160"/>
            <a:ext cx="164592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Rank threats from Critical to Low.</a:t>
            </a:r>
            <a:endParaRPr lang="en-US" sz="1050" dirty="0"/>
          </a:p>
        </p:txBody>
      </p:sp>
      <p:sp>
        <p:nvSpPr>
          <p:cNvPr id="29" name="Shape 27"/>
          <p:cNvSpPr/>
          <p:nvPr/>
        </p:nvSpPr>
        <p:spPr>
          <a:xfrm>
            <a:off x="2606040" y="3108960"/>
            <a:ext cx="1828800" cy="1645920"/>
          </a:xfrm>
          <a:prstGeom prst="rect">
            <a:avLst/>
          </a:prstGeom>
          <a:solidFill>
            <a:srgbClr val="FFFFFF"/>
          </a:solidFill>
          <a:ln w="12700">
            <a:solidFill>
              <a:srgbClr val="1E5FA8"/>
            </a:solidFill>
            <a:prstDash val="solid"/>
          </a:ln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2606040" y="3108960"/>
            <a:ext cx="1828800" cy="384048"/>
          </a:xfrm>
          <a:prstGeom prst="rect">
            <a:avLst/>
          </a:prstGeom>
          <a:solidFill>
            <a:srgbClr val="1A2B5F"/>
          </a:solidFill>
          <a:ln w="12700">
            <a:solidFill>
              <a:srgbClr val="1A2B5F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2606040" y="310896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6</a:t>
            </a:r>
            <a:endParaRPr lang="en-US" sz="1600" dirty="0"/>
          </a:p>
        </p:txBody>
      </p:sp>
      <p:sp>
        <p:nvSpPr>
          <p:cNvPr id="32" name="Text 30"/>
          <p:cNvSpPr/>
          <p:nvPr/>
        </p:nvSpPr>
        <p:spPr>
          <a:xfrm>
            <a:off x="3008376" y="3136392"/>
            <a:ext cx="1371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Implement Controls</a:t>
            </a:r>
            <a:endParaRPr lang="en-US" sz="1050" dirty="0"/>
          </a:p>
        </p:txBody>
      </p:sp>
      <p:sp>
        <p:nvSpPr>
          <p:cNvPr id="33" name="Text 31"/>
          <p:cNvSpPr/>
          <p:nvPr/>
        </p:nvSpPr>
        <p:spPr>
          <a:xfrm>
            <a:off x="2697480" y="3566160"/>
            <a:ext cx="164592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Apply appropriate mitigation strategies.</a:t>
            </a:r>
            <a:endParaRPr lang="en-US" sz="1050" dirty="0"/>
          </a:p>
        </p:txBody>
      </p:sp>
      <p:sp>
        <p:nvSpPr>
          <p:cNvPr id="34" name="Shape 32"/>
          <p:cNvSpPr/>
          <p:nvPr/>
        </p:nvSpPr>
        <p:spPr>
          <a:xfrm>
            <a:off x="4754880" y="3108960"/>
            <a:ext cx="1828800" cy="1645920"/>
          </a:xfrm>
          <a:prstGeom prst="rect">
            <a:avLst/>
          </a:prstGeom>
          <a:solidFill>
            <a:srgbClr val="FFFFFF"/>
          </a:solidFill>
          <a:ln w="12700">
            <a:solidFill>
              <a:srgbClr val="1E5FA8"/>
            </a:solidFill>
            <a:prstDash val="solid"/>
          </a:ln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35" name="Shape 33"/>
          <p:cNvSpPr/>
          <p:nvPr/>
        </p:nvSpPr>
        <p:spPr>
          <a:xfrm>
            <a:off x="4754880" y="3108960"/>
            <a:ext cx="1828800" cy="384048"/>
          </a:xfrm>
          <a:prstGeom prst="rect">
            <a:avLst/>
          </a:prstGeom>
          <a:solidFill>
            <a:srgbClr val="1A2B5F"/>
          </a:solidFill>
          <a:ln w="12700">
            <a:solidFill>
              <a:srgbClr val="1A2B5F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4754880" y="310896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7</a:t>
            </a:r>
            <a:endParaRPr lang="en-US" sz="1600" dirty="0"/>
          </a:p>
        </p:txBody>
      </p:sp>
      <p:sp>
        <p:nvSpPr>
          <p:cNvPr id="37" name="Text 35"/>
          <p:cNvSpPr/>
          <p:nvPr/>
        </p:nvSpPr>
        <p:spPr>
          <a:xfrm>
            <a:off x="5157216" y="3136392"/>
            <a:ext cx="1371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Monitor &amp; Review</a:t>
            </a:r>
            <a:endParaRPr lang="en-US" sz="1050" dirty="0"/>
          </a:p>
        </p:txBody>
      </p:sp>
      <p:sp>
        <p:nvSpPr>
          <p:cNvPr id="38" name="Text 36"/>
          <p:cNvSpPr/>
          <p:nvPr/>
        </p:nvSpPr>
        <p:spPr>
          <a:xfrm>
            <a:off x="4846320" y="3566160"/>
            <a:ext cx="164592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Continuously review and update the model.</a:t>
            </a:r>
            <a:endParaRPr lang="en-US" sz="10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60E2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r00"/>
          <p:cNvSpPr/>
          <p:nvPr/>
        </p:nvSpPr>
        <p:spPr>
          <a:xfrm>
            <a:off x="0" y="0"/>
            <a:ext cx="64008" cy="5143500"/>
          </a:xfrm>
          <a:prstGeom prst="rect">
            <a:avLst/>
          </a:prstGeom>
          <a:solidFill>
            <a:srgbClr val="00D4FF"/>
          </a:solidFill>
          <a:ln>
            <a:noFill/>
          </a:ln>
        </p:spPr>
      </p:sp>
      <p:sp>
        <p:nvSpPr>
          <p:cNvPr id="2" name="r00"/>
          <p:cNvSpPr/>
          <p:nvPr/>
        </p:nvSpPr>
        <p:spPr>
          <a:xfrm>
            <a:off x="0" y="0"/>
            <a:ext cx="9144000" cy="41148"/>
          </a:xfrm>
          <a:prstGeom prst="rect">
            <a:avLst/>
          </a:prstGeom>
          <a:solidFill>
            <a:srgbClr val="00D4FF">
              <a:alpha val="40000"/>
            </a:srgbClr>
          </a:solidFill>
          <a:ln>
            <a:noFill/>
          </a:ln>
        </p:spPr>
      </p:sp>
      <p:sp>
        <p:nvSpPr>
          <p:cNvPr id="3" name="r04526280"/>
          <p:cNvSpPr/>
          <p:nvPr/>
        </p:nvSpPr>
        <p:spPr>
          <a:xfrm>
            <a:off x="0" y="4526280"/>
            <a:ext cx="9144000" cy="617220"/>
          </a:xfrm>
          <a:prstGeom prst="rect">
            <a:avLst/>
          </a:prstGeom>
          <a:solidFill>
            <a:srgbClr val="001040"/>
          </a:solidFill>
          <a:ln>
            <a:noFill/>
          </a:ln>
        </p:spPr>
      </p:sp>
      <p:sp>
        <p:nvSpPr>
          <p:cNvPr id="4" name="r04526280"/>
          <p:cNvSpPr/>
          <p:nvPr/>
        </p:nvSpPr>
        <p:spPr>
          <a:xfrm>
            <a:off x="0" y="4526280"/>
            <a:ext cx="64008" cy="617220"/>
          </a:xfrm>
          <a:prstGeom prst="rect">
            <a:avLst/>
          </a:prstGeom>
          <a:solidFill>
            <a:srgbClr val="00D4FF"/>
          </a:solidFill>
          <a:ln>
            <a:noFill/>
          </a:ln>
        </p:spPr>
      </p:sp>
      <p:sp>
        <p:nvSpPr>
          <p:cNvPr id="5" name="r182880308610"/>
          <p:cNvSpPr/>
          <p:nvPr/>
        </p:nvSpPr>
        <p:spPr>
          <a:xfrm>
            <a:off x="182880" y="308610"/>
            <a:ext cx="8778240" cy="668655"/>
          </a:xfrm>
          <a:prstGeom prst="rect">
            <a:avLst/>
          </a:prstGeom>
          <a:solidFill>
            <a:srgbClr val="0A1640"/>
          </a:solidFill>
          <a:ln>
            <a:noFill/>
          </a:ln>
        </p:spPr>
      </p:sp>
      <p:sp>
        <p:nvSpPr>
          <p:cNvPr id="51" name="t457200334327"/>
          <p:cNvSpPr txBox="1"/>
          <p:nvPr/>
        </p:nvSpPr>
        <p:spPr>
          <a:xfrm>
            <a:off x="457200" y="334327"/>
            <a:ext cx="8046720" cy="617220"/>
          </a:xfrm>
          <a:prstGeom prst="rect">
            <a:avLst/>
          </a:prstGeom>
          <a:noFill/>
          <a:ln>
            <a:noFill/>
          </a:ln>
        </p:spPr>
        <p:txBody>
          <a:bodyPr wrap="square" rtlCol="0" anchor="ctr">
            <a:normAutofit/>
          </a:bodyPr>
          <a:lstStyle/>
          <a:p>
            <a:pPr marL="0" indent="0" algn="l">
              <a:buNone/>
            </a:pPr>
            <a:r>
              <a:rPr lang="en-US" sz="2200" b="1" kern="0" spc="200" dirty="0">
                <a:solidFill>
                  <a:srgbClr val="00D4FF"/>
                </a:solidFill>
                <a:latin typeface="Calibri" pitchFamily="34" charset="0"/>
              </a:rPr>
              <a:t>Risk Assessment Process — Flowchart</a:t>
            </a:r>
          </a:p>
        </p:txBody>
      </p:sp>
      <p:sp>
        <p:nvSpPr>
          <p:cNvPr id="6" name="t457200951547"/>
          <p:cNvSpPr txBox="1"/>
          <p:nvPr/>
        </p:nvSpPr>
        <p:spPr>
          <a:xfrm>
            <a:off x="457200" y="951547"/>
            <a:ext cx="8046720" cy="308610"/>
          </a:xfrm>
          <a:prstGeom prst="rect">
            <a:avLst/>
          </a:prstGeom>
          <a:noFill/>
          <a:ln>
            <a:noFill/>
          </a:ln>
        </p:spPr>
        <p:txBody>
          <a:bodyPr wrap="square" rtlCol="0" anchor="ctr">
            <a:normAutofit/>
          </a:bodyPr>
          <a:lstStyle/>
          <a:p>
            <a:pPr marL="0" indent="0" algn="l">
              <a:buNone/>
            </a:pPr>
            <a:r>
              <a:rPr lang="en-US" sz="1000" b="0" kern="0" dirty="0">
                <a:solidFill>
                  <a:srgbClr val="7EC8E3"/>
                </a:solidFill>
                <a:latin typeface="Calibri" pitchFamily="34" charset="0"/>
              </a:rPr>
              <a:t>Step-by-step framework for evaluating and managing SME cybersecurity risks</a:t>
            </a:r>
          </a:p>
        </p:txBody>
      </p:sp>
      <p:sp>
        <p:nvSpPr>
          <p:cNvPr id="7" name="t3657604603432"/>
          <p:cNvSpPr txBox="1"/>
          <p:nvPr/>
        </p:nvSpPr>
        <p:spPr>
          <a:xfrm>
            <a:off x="365760" y="4603432"/>
            <a:ext cx="5486400" cy="308610"/>
          </a:xfrm>
          <a:prstGeom prst="rect">
            <a:avLst/>
          </a:prstGeom>
          <a:noFill/>
          <a:ln>
            <a:noFill/>
          </a:ln>
        </p:spPr>
        <p:txBody>
          <a:bodyPr wrap="square" rtlCol="0" anchor="ctr">
            <a:normAutofit/>
          </a:bodyPr>
          <a:lstStyle/>
          <a:p>
            <a:pPr marL="0" indent="0" algn="l">
              <a:buNone/>
            </a:pPr>
            <a:r>
              <a:rPr lang="en-US" sz="900" b="0" kern="0" dirty="0">
                <a:solidFill>
                  <a:srgbClr val="7EC8E3"/>
                </a:solidFill>
                <a:latin typeface="Calibri" pitchFamily="34" charset="0"/>
              </a:rPr>
              <a:t>Cybersecurity Risk Assessment Framework  ·  Minor Project I</a:t>
            </a:r>
          </a:p>
        </p:txBody>
      </p:sp>
      <p:sp>
        <p:nvSpPr>
          <p:cNvPr id="52" name="c22860001350168"/>
          <p:cNvSpPr/>
          <p:nvPr/>
        </p:nvSpPr>
        <p:spPr>
          <a:xfrm>
            <a:off x="2041684" y="1105852"/>
            <a:ext cx="488632" cy="488632"/>
          </a:xfrm>
          <a:prstGeom prst="ellipse">
            <a:avLst/>
          </a:prstGeom>
          <a:solidFill>
            <a:srgbClr val="00D4FF"/>
          </a:solidFill>
          <a:ln>
            <a:noFill/>
          </a:ln>
        </p:spPr>
      </p:sp>
      <p:sp>
        <p:nvSpPr>
          <p:cNvPr id="8" name="t6400801105852"/>
          <p:cNvSpPr txBox="1"/>
          <p:nvPr/>
        </p:nvSpPr>
        <p:spPr>
          <a:xfrm>
            <a:off x="640080" y="1105852"/>
            <a:ext cx="3291840" cy="488632"/>
          </a:xfrm>
          <a:prstGeom prst="rect">
            <a:avLst/>
          </a:prstGeom>
          <a:noFill/>
          <a:ln>
            <a:noFill/>
          </a:ln>
        </p:spPr>
        <p:txBody>
          <a:bodyPr wrap="square" rtlCol="0" anchor="ctr">
            <a:normAutofit/>
          </a:bodyPr>
          <a:lstStyle/>
          <a:p>
            <a:pPr marL="0" indent="0" algn="ctr">
              <a:buNone/>
            </a:pPr>
            <a:r>
              <a:rPr lang="en-US" sz="1100" b="1" kern="0" dirty="0">
                <a:solidFill>
                  <a:srgbClr val="060E2B"/>
                </a:solidFill>
                <a:latin typeface="Calibri" pitchFamily="34" charset="0"/>
              </a:rPr>
              <a:t>START</a:t>
            </a:r>
          </a:p>
        </p:txBody>
      </p:sp>
      <p:cxnSp>
        <p:nvCxnSpPr>
          <p:cNvPr id="60" name="arr22860001594484"/>
          <p:cNvCxnSpPr/>
          <p:nvPr/>
        </p:nvCxnSpPr>
        <p:spPr>
          <a:xfrm>
            <a:off x="2286000" y="1594484"/>
            <a:ext cx="1" cy="102870"/>
          </a:xfrm>
          <a:prstGeom prst="straightConnector1">
            <a:avLst/>
          </a:prstGeom>
          <a:ln w="19050">
            <a:solidFill>
              <a:srgbClr val="00D4FF"/>
            </a:solidFill>
            <a:tailEnd type="triangle" w="med" len="med"/>
          </a:ln>
        </p:spPr>
      </p:cxnSp>
      <p:sp>
        <p:nvSpPr>
          <p:cNvPr id="9" name="r6400801697354"/>
          <p:cNvSpPr/>
          <p:nvPr/>
        </p:nvSpPr>
        <p:spPr>
          <a:xfrm>
            <a:off x="640080" y="1697354"/>
            <a:ext cx="3291840" cy="488632"/>
          </a:xfrm>
          <a:prstGeom prst="roundRect">
            <a:avLst>
              <a:gd name="adj" fmla="val 8000"/>
            </a:avLst>
          </a:prstGeom>
          <a:solidFill>
            <a:srgbClr val="001F6E"/>
          </a:solidFill>
          <a:ln>
            <a:noFill/>
          </a:ln>
        </p:spPr>
      </p:sp>
      <p:sp>
        <p:nvSpPr>
          <p:cNvPr id="10" name="t7315201697354"/>
          <p:cNvSpPr txBox="1"/>
          <p:nvPr/>
        </p:nvSpPr>
        <p:spPr>
          <a:xfrm>
            <a:off x="731520" y="1697354"/>
            <a:ext cx="3200400" cy="488632"/>
          </a:xfrm>
          <a:prstGeom prst="rect">
            <a:avLst/>
          </a:prstGeom>
          <a:noFill/>
          <a:ln>
            <a:noFill/>
          </a:ln>
        </p:spPr>
        <p:txBody>
          <a:bodyPr wrap="square" rtlCol="0" anchor="ctr">
            <a:normAutofit/>
          </a:bodyPr>
          <a:lstStyle/>
          <a:p>
            <a:pPr marL="0" indent="0" algn="l">
              <a:buNone/>
            </a:pPr>
            <a:r>
              <a:rPr lang="en-US" sz="900" b="1" kern="0" dirty="0">
                <a:solidFill>
                  <a:srgbClr val="00D4FF"/>
                </a:solidFill>
                <a:latin typeface="Calibri" pitchFamily="34" charset="0"/>
              </a:rPr>
              <a:t>1. Identify Assets &amp; Threats</a:t>
            </a:r>
          </a:p>
        </p:txBody>
      </p:sp>
      <p:cxnSp>
        <p:nvCxnSpPr>
          <p:cNvPr id="11" name="arr22860002185986"/>
          <p:cNvCxnSpPr/>
          <p:nvPr/>
        </p:nvCxnSpPr>
        <p:spPr>
          <a:xfrm>
            <a:off x="2286000" y="2185986"/>
            <a:ext cx="1" cy="102870"/>
          </a:xfrm>
          <a:prstGeom prst="straightConnector1">
            <a:avLst/>
          </a:prstGeom>
          <a:ln w="19050">
            <a:solidFill>
              <a:srgbClr val="00D4FF"/>
            </a:solidFill>
            <a:tailEnd type="triangle" w="med" len="med"/>
          </a:ln>
        </p:spPr>
      </p:cxnSp>
      <p:sp>
        <p:nvSpPr>
          <p:cNvPr id="12" name="r6400802288856"/>
          <p:cNvSpPr/>
          <p:nvPr/>
        </p:nvSpPr>
        <p:spPr>
          <a:xfrm>
            <a:off x="640080" y="2288856"/>
            <a:ext cx="3291840" cy="488632"/>
          </a:xfrm>
          <a:prstGeom prst="roundRect">
            <a:avLst>
              <a:gd name="adj" fmla="val 8000"/>
            </a:avLst>
          </a:prstGeom>
          <a:solidFill>
            <a:srgbClr val="002D80"/>
          </a:solidFill>
          <a:ln>
            <a:noFill/>
          </a:ln>
        </p:spPr>
      </p:sp>
      <p:sp>
        <p:nvSpPr>
          <p:cNvPr id="13" name="t7315202288856"/>
          <p:cNvSpPr txBox="1"/>
          <p:nvPr/>
        </p:nvSpPr>
        <p:spPr>
          <a:xfrm>
            <a:off x="731520" y="2288856"/>
            <a:ext cx="3200400" cy="488632"/>
          </a:xfrm>
          <a:prstGeom prst="rect">
            <a:avLst/>
          </a:prstGeom>
          <a:noFill/>
          <a:ln>
            <a:noFill/>
          </a:ln>
        </p:spPr>
        <p:txBody>
          <a:bodyPr wrap="square" rtlCol="0" anchor="ctr">
            <a:normAutofit/>
          </a:bodyPr>
          <a:lstStyle/>
          <a:p>
            <a:pPr marL="0" indent="0" algn="l">
              <a:buNone/>
            </a:pPr>
            <a:r>
              <a:rPr lang="en-US" sz="900" b="1" kern="0" dirty="0">
                <a:solidFill>
                  <a:srgbClr val="4FC3F7"/>
                </a:solidFill>
                <a:latin typeface="Calibri" pitchFamily="34" charset="0"/>
              </a:rPr>
              <a:t>2. Assess Likelihood (1–5)</a:t>
            </a:r>
          </a:p>
        </p:txBody>
      </p:sp>
      <p:cxnSp>
        <p:nvCxnSpPr>
          <p:cNvPr id="14" name="arr22860002777488"/>
          <p:cNvCxnSpPr/>
          <p:nvPr/>
        </p:nvCxnSpPr>
        <p:spPr>
          <a:xfrm>
            <a:off x="2286000" y="2777488"/>
            <a:ext cx="1" cy="102870"/>
          </a:xfrm>
          <a:prstGeom prst="straightConnector1">
            <a:avLst/>
          </a:prstGeom>
          <a:ln w="19050">
            <a:solidFill>
              <a:srgbClr val="00D4FF"/>
            </a:solidFill>
            <a:tailEnd type="triangle" w="med" len="med"/>
          </a:ln>
        </p:spPr>
      </p:cxnSp>
      <p:sp>
        <p:nvSpPr>
          <p:cNvPr id="15" name="r6400802880358"/>
          <p:cNvSpPr/>
          <p:nvPr/>
        </p:nvSpPr>
        <p:spPr>
          <a:xfrm>
            <a:off x="640080" y="2880358"/>
            <a:ext cx="3291840" cy="488632"/>
          </a:xfrm>
          <a:prstGeom prst="roundRect">
            <a:avLst>
              <a:gd name="adj" fmla="val 8000"/>
            </a:avLst>
          </a:prstGeom>
          <a:solidFill>
            <a:srgbClr val="003D99"/>
          </a:solidFill>
          <a:ln>
            <a:noFill/>
          </a:ln>
        </p:spPr>
      </p:sp>
      <p:sp>
        <p:nvSpPr>
          <p:cNvPr id="16" name="t7315202880358"/>
          <p:cNvSpPr txBox="1"/>
          <p:nvPr/>
        </p:nvSpPr>
        <p:spPr>
          <a:xfrm>
            <a:off x="731520" y="2880358"/>
            <a:ext cx="3200400" cy="488632"/>
          </a:xfrm>
          <a:prstGeom prst="rect">
            <a:avLst/>
          </a:prstGeom>
          <a:noFill/>
          <a:ln>
            <a:noFill/>
          </a:ln>
        </p:spPr>
        <p:txBody>
          <a:bodyPr wrap="square" rtlCol="0" anchor="ctr">
            <a:normAutofit/>
          </a:bodyPr>
          <a:lstStyle/>
          <a:p>
            <a:pPr marL="0" indent="0" algn="l">
              <a:buNone/>
            </a:pPr>
            <a:r>
              <a:rPr lang="en-US" sz="900" b="1" kern="0" dirty="0">
                <a:solidFill>
                  <a:srgbClr val="80DEEA"/>
                </a:solidFill>
                <a:latin typeface="Calibri" pitchFamily="34" charset="0"/>
              </a:rPr>
              <a:t>3. Assess Impact (1–5)</a:t>
            </a:r>
          </a:p>
        </p:txBody>
      </p:sp>
      <p:cxnSp>
        <p:nvCxnSpPr>
          <p:cNvPr id="17" name="arr22860003368990"/>
          <p:cNvCxnSpPr/>
          <p:nvPr/>
        </p:nvCxnSpPr>
        <p:spPr>
          <a:xfrm>
            <a:off x="2286000" y="3368990"/>
            <a:ext cx="1" cy="102870"/>
          </a:xfrm>
          <a:prstGeom prst="straightConnector1">
            <a:avLst/>
          </a:prstGeom>
          <a:ln w="19050">
            <a:solidFill>
              <a:srgbClr val="00D4FF"/>
            </a:solidFill>
            <a:tailEnd type="triangle" w="med" len="med"/>
          </a:ln>
        </p:spPr>
      </p:cxnSp>
      <p:sp>
        <p:nvSpPr>
          <p:cNvPr id="18" name="r6400803471860"/>
          <p:cNvSpPr/>
          <p:nvPr/>
        </p:nvSpPr>
        <p:spPr>
          <a:xfrm>
            <a:off x="640080" y="3471860"/>
            <a:ext cx="3291840" cy="488632"/>
          </a:xfrm>
          <a:prstGeom prst="roundRect">
            <a:avLst>
              <a:gd name="adj" fmla="val 8000"/>
            </a:avLst>
          </a:prstGeom>
          <a:solidFill>
            <a:srgbClr val="004D80"/>
          </a:solidFill>
          <a:ln>
            <a:noFill/>
          </a:ln>
        </p:spPr>
      </p:sp>
      <p:sp>
        <p:nvSpPr>
          <p:cNvPr id="19" name="t7315203471860"/>
          <p:cNvSpPr txBox="1"/>
          <p:nvPr/>
        </p:nvSpPr>
        <p:spPr>
          <a:xfrm>
            <a:off x="731520" y="3471860"/>
            <a:ext cx="3200400" cy="488632"/>
          </a:xfrm>
          <a:prstGeom prst="rect">
            <a:avLst/>
          </a:prstGeom>
          <a:noFill/>
          <a:ln>
            <a:noFill/>
          </a:ln>
        </p:spPr>
        <p:txBody>
          <a:bodyPr wrap="square" rtlCol="0" anchor="ctr">
            <a:normAutofit/>
          </a:bodyPr>
          <a:lstStyle/>
          <a:p>
            <a:pPr marL="0" indent="0" algn="l">
              <a:buNone/>
            </a:pPr>
            <a:r>
              <a:rPr lang="en-US" sz="900" b="1" kern="0" dirty="0">
                <a:solidFill>
                  <a:srgbClr val="80CBC4"/>
                </a:solidFill>
                <a:latin typeface="Calibri" pitchFamily="34" charset="0"/>
              </a:rPr>
              <a:t>4. Calculate Risk Score
Likelihood × Impact</a:t>
            </a:r>
          </a:p>
        </p:txBody>
      </p:sp>
      <p:cxnSp>
        <p:nvCxnSpPr>
          <p:cNvPr id="20" name="arr39319203716176"/>
          <p:cNvCxnSpPr/>
          <p:nvPr/>
        </p:nvCxnSpPr>
        <p:spPr>
          <a:xfrm>
            <a:off x="3931920" y="3716176"/>
            <a:ext cx="1188720" cy="1"/>
          </a:xfrm>
          <a:prstGeom prst="straightConnector1">
            <a:avLst/>
          </a:prstGeom>
          <a:ln w="19050">
            <a:solidFill>
              <a:srgbClr val="00D4FF"/>
            </a:solidFill>
            <a:tailEnd type="triangle" w="med" len="med"/>
          </a:ln>
        </p:spPr>
      </p:cxnSp>
      <p:sp>
        <p:nvSpPr>
          <p:cNvPr id="70" name="diamond"/>
          <p:cNvSpPr/>
          <p:nvPr/>
        </p:nvSpPr>
        <p:spPr>
          <a:xfrm>
            <a:off x="5120640" y="1105852"/>
            <a:ext cx="3291840" cy="488632"/>
          </a:xfrm>
          <a:prstGeom prst="diamond">
            <a:avLst/>
          </a:prstGeom>
          <a:solidFill>
            <a:srgbClr val="3D0000"/>
          </a:solidFill>
          <a:ln w="19050">
            <a:solidFill>
              <a:srgbClr val="FF6B6B"/>
            </a:solidFill>
          </a:ln>
        </p:spPr>
      </p:sp>
      <p:sp>
        <p:nvSpPr>
          <p:cNvPr id="21" name="t51206401105852"/>
          <p:cNvSpPr txBox="1"/>
          <p:nvPr/>
        </p:nvSpPr>
        <p:spPr>
          <a:xfrm>
            <a:off x="5120640" y="1105852"/>
            <a:ext cx="3291840" cy="488632"/>
          </a:xfrm>
          <a:prstGeom prst="rect">
            <a:avLst/>
          </a:prstGeom>
          <a:noFill/>
          <a:ln>
            <a:noFill/>
          </a:ln>
        </p:spPr>
        <p:txBody>
          <a:bodyPr wrap="square" rtlCol="0" anchor="ctr">
            <a:normAutofit/>
          </a:bodyPr>
          <a:lstStyle/>
          <a:p>
            <a:pPr marL="0" indent="0" algn="ctr">
              <a:buNone/>
            </a:pPr>
            <a:r>
              <a:rPr lang="en-US" sz="900" b="1" kern="0" dirty="0">
                <a:solidFill>
                  <a:srgbClr val="FF6B6B"/>
                </a:solidFill>
                <a:latin typeface="Calibri" pitchFamily="34" charset="0"/>
              </a:rPr>
              <a:t>RISK ≥ 16?</a:t>
            </a:r>
          </a:p>
        </p:txBody>
      </p:sp>
      <p:sp>
        <p:nvSpPr>
          <p:cNvPr id="22" name="t65836801594484"/>
          <p:cNvSpPr txBox="1"/>
          <p:nvPr/>
        </p:nvSpPr>
        <p:spPr>
          <a:xfrm>
            <a:off x="6583680" y="1594484"/>
            <a:ext cx="365760" cy="154305"/>
          </a:xfrm>
          <a:prstGeom prst="rect">
            <a:avLst/>
          </a:prstGeom>
          <a:noFill/>
          <a:ln>
            <a:noFill/>
          </a:ln>
        </p:spPr>
        <p:txBody>
          <a:bodyPr wrap="square" rtlCol="0" anchor="ctr">
            <a:normAutofit fontScale="62500" lnSpcReduction="20000"/>
          </a:bodyPr>
          <a:lstStyle/>
          <a:p>
            <a:pPr marL="0" indent="0" algn="ctr">
              <a:buNone/>
            </a:pPr>
            <a:r>
              <a:rPr lang="en-US" sz="800" b="1" kern="0" dirty="0">
                <a:solidFill>
                  <a:srgbClr val="FF6B6B"/>
                </a:solidFill>
                <a:latin typeface="Calibri" pitchFamily="34" charset="0"/>
              </a:rPr>
              <a:t>YES</a:t>
            </a:r>
          </a:p>
        </p:txBody>
      </p:sp>
      <p:cxnSp>
        <p:nvCxnSpPr>
          <p:cNvPr id="23" name="arr67665601594484"/>
          <p:cNvCxnSpPr/>
          <p:nvPr/>
        </p:nvCxnSpPr>
        <p:spPr>
          <a:xfrm>
            <a:off x="6766560" y="1594484"/>
            <a:ext cx="1" cy="102870"/>
          </a:xfrm>
          <a:prstGeom prst="straightConnector1">
            <a:avLst/>
          </a:prstGeom>
          <a:ln w="19050">
            <a:solidFill>
              <a:srgbClr val="00D4FF"/>
            </a:solidFill>
            <a:tailEnd type="triangle" w="med" len="med"/>
          </a:ln>
        </p:spPr>
      </p:cxnSp>
      <p:sp>
        <p:nvSpPr>
          <p:cNvPr id="24" name="r51206401697354"/>
          <p:cNvSpPr/>
          <p:nvPr/>
        </p:nvSpPr>
        <p:spPr>
          <a:xfrm>
            <a:off x="5120640" y="1697354"/>
            <a:ext cx="3291840" cy="488632"/>
          </a:xfrm>
          <a:prstGeom prst="roundRect">
            <a:avLst>
              <a:gd name="adj" fmla="val 8000"/>
            </a:avLst>
          </a:prstGeom>
          <a:solidFill>
            <a:srgbClr val="003D30"/>
          </a:solidFill>
          <a:ln>
            <a:noFill/>
          </a:ln>
        </p:spPr>
      </p:sp>
      <p:sp>
        <p:nvSpPr>
          <p:cNvPr id="25" name="t52120801697354"/>
          <p:cNvSpPr txBox="1"/>
          <p:nvPr/>
        </p:nvSpPr>
        <p:spPr>
          <a:xfrm>
            <a:off x="5212080" y="1697354"/>
            <a:ext cx="3200400" cy="488632"/>
          </a:xfrm>
          <a:prstGeom prst="rect">
            <a:avLst/>
          </a:prstGeom>
          <a:noFill/>
          <a:ln>
            <a:noFill/>
          </a:ln>
        </p:spPr>
        <p:txBody>
          <a:bodyPr wrap="square" rtlCol="0" anchor="ctr">
            <a:normAutofit/>
          </a:bodyPr>
          <a:lstStyle/>
          <a:p>
            <a:pPr marL="0" indent="0" algn="l">
              <a:buNone/>
            </a:pPr>
            <a:r>
              <a:rPr lang="en-US" sz="900" b="1" kern="0" dirty="0">
                <a:solidFill>
                  <a:srgbClr val="69F0AE"/>
                </a:solidFill>
                <a:latin typeface="Calibri" pitchFamily="34" charset="0"/>
              </a:rPr>
              <a:t>5. Prioritize
&amp; Mitigate</a:t>
            </a:r>
          </a:p>
        </p:txBody>
      </p:sp>
      <p:cxnSp>
        <p:nvCxnSpPr>
          <p:cNvPr id="26" name="arr67665602185986"/>
          <p:cNvCxnSpPr/>
          <p:nvPr/>
        </p:nvCxnSpPr>
        <p:spPr>
          <a:xfrm>
            <a:off x="6766560" y="2185986"/>
            <a:ext cx="1" cy="102870"/>
          </a:xfrm>
          <a:prstGeom prst="straightConnector1">
            <a:avLst/>
          </a:prstGeom>
          <a:ln w="19050">
            <a:solidFill>
              <a:srgbClr val="00D4FF"/>
            </a:solidFill>
            <a:tailEnd type="triangle" w="med" len="med"/>
          </a:ln>
        </p:spPr>
      </p:cxnSp>
      <p:sp>
        <p:nvSpPr>
          <p:cNvPr id="27" name="r51206402288856"/>
          <p:cNvSpPr/>
          <p:nvPr/>
        </p:nvSpPr>
        <p:spPr>
          <a:xfrm>
            <a:off x="5120640" y="2288856"/>
            <a:ext cx="3291840" cy="488632"/>
          </a:xfrm>
          <a:prstGeom prst="roundRect">
            <a:avLst>
              <a:gd name="adj" fmla="val 8000"/>
            </a:avLst>
          </a:prstGeom>
          <a:solidFill>
            <a:srgbClr val="002D40"/>
          </a:solidFill>
          <a:ln>
            <a:noFill/>
          </a:ln>
        </p:spPr>
      </p:sp>
      <p:sp>
        <p:nvSpPr>
          <p:cNvPr id="28" name="t52120802288856"/>
          <p:cNvSpPr txBox="1"/>
          <p:nvPr/>
        </p:nvSpPr>
        <p:spPr>
          <a:xfrm>
            <a:off x="5212080" y="2288856"/>
            <a:ext cx="3200400" cy="488632"/>
          </a:xfrm>
          <a:prstGeom prst="rect">
            <a:avLst/>
          </a:prstGeom>
          <a:noFill/>
          <a:ln>
            <a:noFill/>
          </a:ln>
        </p:spPr>
        <p:txBody>
          <a:bodyPr wrap="square" rtlCol="0" anchor="ctr">
            <a:normAutofit/>
          </a:bodyPr>
          <a:lstStyle/>
          <a:p>
            <a:pPr marL="0" indent="0" algn="l">
              <a:buNone/>
            </a:pPr>
            <a:r>
              <a:rPr lang="en-US" sz="900" b="1" kern="0" dirty="0">
                <a:solidFill>
                  <a:srgbClr val="4FC3F7"/>
                </a:solidFill>
                <a:latin typeface="Calibri" pitchFamily="34" charset="0"/>
              </a:rPr>
              <a:t>6. Implement Controls</a:t>
            </a:r>
          </a:p>
        </p:txBody>
      </p:sp>
      <p:cxnSp>
        <p:nvCxnSpPr>
          <p:cNvPr id="29" name="arr67665602777488"/>
          <p:cNvCxnSpPr/>
          <p:nvPr/>
        </p:nvCxnSpPr>
        <p:spPr>
          <a:xfrm>
            <a:off x="6766560" y="2777488"/>
            <a:ext cx="1" cy="102870"/>
          </a:xfrm>
          <a:prstGeom prst="straightConnector1">
            <a:avLst/>
          </a:prstGeom>
          <a:ln w="19050">
            <a:solidFill>
              <a:srgbClr val="00D4FF"/>
            </a:solidFill>
            <a:tailEnd type="triangle" w="med" len="med"/>
          </a:ln>
        </p:spPr>
      </p:cxnSp>
      <p:sp>
        <p:nvSpPr>
          <p:cNvPr id="30" name="r51206402880358"/>
          <p:cNvSpPr/>
          <p:nvPr/>
        </p:nvSpPr>
        <p:spPr>
          <a:xfrm>
            <a:off x="5120640" y="2880358"/>
            <a:ext cx="3291840" cy="488632"/>
          </a:xfrm>
          <a:prstGeom prst="roundRect">
            <a:avLst>
              <a:gd name="adj" fmla="val 8000"/>
            </a:avLst>
          </a:prstGeom>
          <a:solidFill>
            <a:srgbClr val="001F4D"/>
          </a:solidFill>
          <a:ln>
            <a:noFill/>
          </a:ln>
        </p:spPr>
      </p:sp>
      <p:sp>
        <p:nvSpPr>
          <p:cNvPr id="31" name="t52120802880358"/>
          <p:cNvSpPr txBox="1"/>
          <p:nvPr/>
        </p:nvSpPr>
        <p:spPr>
          <a:xfrm>
            <a:off x="5212080" y="2880358"/>
            <a:ext cx="3200400" cy="488632"/>
          </a:xfrm>
          <a:prstGeom prst="rect">
            <a:avLst/>
          </a:prstGeom>
          <a:noFill/>
          <a:ln>
            <a:noFill/>
          </a:ln>
        </p:spPr>
        <p:txBody>
          <a:bodyPr wrap="square" rtlCol="0" anchor="ctr">
            <a:normAutofit/>
          </a:bodyPr>
          <a:lstStyle/>
          <a:p>
            <a:pPr marL="0" indent="0" algn="l">
              <a:buNone/>
            </a:pPr>
            <a:r>
              <a:rPr lang="en-US" sz="900" b="1" kern="0" dirty="0">
                <a:solidFill>
                  <a:srgbClr val="00D4FF"/>
                </a:solidFill>
                <a:latin typeface="Calibri" pitchFamily="34" charset="0"/>
              </a:rPr>
              <a:t>7. Monitor &amp; Review</a:t>
            </a:r>
          </a:p>
        </p:txBody>
      </p:sp>
      <p:cxnSp>
        <p:nvCxnSpPr>
          <p:cNvPr id="32" name="arr67665603368990"/>
          <p:cNvCxnSpPr/>
          <p:nvPr/>
        </p:nvCxnSpPr>
        <p:spPr>
          <a:xfrm>
            <a:off x="6766560" y="3368990"/>
            <a:ext cx="1" cy="102870"/>
          </a:xfrm>
          <a:prstGeom prst="straightConnector1">
            <a:avLst/>
          </a:prstGeom>
          <a:ln w="19050">
            <a:solidFill>
              <a:srgbClr val="00D4FF"/>
            </a:solidFill>
            <a:tailEnd type="triangle" w="med" len="med"/>
          </a:ln>
        </p:spPr>
      </p:cxnSp>
      <p:sp>
        <p:nvSpPr>
          <p:cNvPr id="33" name="c67665603716176"/>
          <p:cNvSpPr/>
          <p:nvPr/>
        </p:nvSpPr>
        <p:spPr>
          <a:xfrm>
            <a:off x="6522244" y="3471860"/>
            <a:ext cx="488632" cy="488632"/>
          </a:xfrm>
          <a:prstGeom prst="ellipse">
            <a:avLst/>
          </a:prstGeom>
          <a:solidFill>
            <a:srgbClr val="00D4FF"/>
          </a:solidFill>
          <a:ln>
            <a:noFill/>
          </a:ln>
        </p:spPr>
      </p:sp>
      <p:sp>
        <p:nvSpPr>
          <p:cNvPr id="34" name="t51206403471860"/>
          <p:cNvSpPr txBox="1"/>
          <p:nvPr/>
        </p:nvSpPr>
        <p:spPr>
          <a:xfrm>
            <a:off x="5120640" y="3471860"/>
            <a:ext cx="3291840" cy="488632"/>
          </a:xfrm>
          <a:prstGeom prst="rect">
            <a:avLst/>
          </a:prstGeom>
          <a:noFill/>
          <a:ln>
            <a:noFill/>
          </a:ln>
        </p:spPr>
        <p:txBody>
          <a:bodyPr wrap="square" rtlCol="0" anchor="ctr">
            <a:normAutofit/>
          </a:bodyPr>
          <a:lstStyle/>
          <a:p>
            <a:pPr marL="0" indent="0" algn="ctr">
              <a:buNone/>
            </a:pPr>
            <a:r>
              <a:rPr lang="en-US" sz="1100" b="1" kern="0" dirty="0">
                <a:solidFill>
                  <a:srgbClr val="060E2B"/>
                </a:solidFill>
                <a:latin typeface="Calibri" pitchFamily="34" charset="0"/>
              </a:rPr>
              <a:t>END</a:t>
            </a:r>
          </a:p>
        </p:txBody>
      </p:sp>
      <p:sp>
        <p:nvSpPr>
          <p:cNvPr id="35" name="t84582001105852"/>
          <p:cNvSpPr txBox="1"/>
          <p:nvPr/>
        </p:nvSpPr>
        <p:spPr>
          <a:xfrm>
            <a:off x="8458200" y="1105852"/>
            <a:ext cx="640080" cy="488632"/>
          </a:xfrm>
          <a:prstGeom prst="rect">
            <a:avLst/>
          </a:prstGeom>
          <a:noFill/>
          <a:ln>
            <a:noFill/>
          </a:ln>
        </p:spPr>
        <p:txBody>
          <a:bodyPr wrap="square" rtlCol="0" anchor="ctr">
            <a:normAutofit/>
          </a:bodyPr>
          <a:lstStyle/>
          <a:p>
            <a:pPr marL="0" indent="0" algn="l">
              <a:buNone/>
            </a:pPr>
            <a:r>
              <a:rPr lang="en-US" sz="750" b="0" kern="0" dirty="0">
                <a:solidFill>
                  <a:srgbClr val="69F0AE"/>
                </a:solidFill>
                <a:latin typeface="Calibri" pitchFamily="34" charset="0"/>
              </a:rPr>
              <a:t>NO →
Loop back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4F6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1A2B5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Risk Evaluation Metric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457200" y="822960"/>
            <a:ext cx="1097280" cy="36576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65760" y="1005840"/>
            <a:ext cx="8412480" cy="548640"/>
          </a:xfrm>
          <a:prstGeom prst="rect">
            <a:avLst/>
          </a:prstGeom>
          <a:solidFill>
            <a:srgbClr val="1A2B5F"/>
          </a:solidFill>
          <a:ln w="12700">
            <a:solidFill>
              <a:srgbClr val="1A2B5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65760" y="1005840"/>
            <a:ext cx="8412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Risk Score  =  ( 0.4 × </a:t>
            </a: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Likelihood</a:t>
            </a:r>
            <a:r>
              <a:rPr lang="en-US" sz="1600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 )  +  ( 0.6 × </a:t>
            </a:r>
            <a:r>
              <a:rPr lang="en-US" sz="1600" b="1" dirty="0">
                <a:solidFill>
                  <a:srgbClr val="F6AD5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Impact</a:t>
            </a:r>
            <a:r>
              <a:rPr lang="en-US" sz="1600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 )</a:t>
            </a:r>
            <a:endParaRPr lang="en-US" sz="1600" dirty="0"/>
          </a:p>
        </p:txBody>
      </p:sp>
      <p:graphicFrame>
        <p:nvGraphicFramePr>
          <p:cNvPr id="6" name="Chart 0"/>
          <p:cNvGraphicFramePr/>
          <p:nvPr/>
        </p:nvGraphicFramePr>
        <p:xfrm>
          <a:off x="365760" y="1691640"/>
          <a:ext cx="4572000" cy="310896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120640" y="1691640"/>
          <a:ext cx="3657600" cy="3108960"/>
        </p:xfrm>
        <a:graphic>
          <a:graphicData uri="http://schemas.openxmlformats.org/drawingml/2006/table">
            <a:tbl>
              <a:tblPr/>
              <a:tblGrid>
                <a:gridCol w="914400"/>
                <a:gridCol w="914400"/>
                <a:gridCol w="914400"/>
                <a:gridCol w="914400"/>
              </a:tblGrid>
              <a:tr h="52120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Threat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8D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8D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8D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8D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B5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Score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8D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8D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8D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8D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B5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Severity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8D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8D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8D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8D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B5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Rank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8D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8D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8D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8D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B5F"/>
                    </a:solidFill>
                  </a:tcPr>
                </a:tc>
              </a:tr>
              <a:tr h="52120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Ransomware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8D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8D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8D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8D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C039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4.6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8D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8D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8D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8D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C039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Critical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8D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8D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8D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8D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C039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#1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8D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8D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8D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8D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2120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Phishing Attacks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8D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8D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8D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8D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C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C039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4.4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8D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8D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8D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8D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C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C039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High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8D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8D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8D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8D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C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#2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8D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8D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8D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8D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CF2"/>
                    </a:solidFill>
                  </a:tcPr>
                </a:tc>
              </a:tr>
              <a:tr h="52120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Weak Passwords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8D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8D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8D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8D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C039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4.4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8D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8D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8D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8D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C039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High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8D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8D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8D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8D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#2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8D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8D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8D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8D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2120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Insider Threats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8D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8D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8D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8D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C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E67E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4.2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8D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8D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8D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8D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C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E67E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High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8D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8D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8D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8D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C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#3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8D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8D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8D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8D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CF2"/>
                    </a:solidFill>
                  </a:tcPr>
                </a:tc>
              </a:tr>
              <a:tr h="52120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Unpatched SW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8D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8D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8D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8D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1E5FA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4.0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8D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8D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8D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8D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E5FA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High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8D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8D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8D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8D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#4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8D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8D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8D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8D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4F6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1A2B5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Risk Mitigation Strategies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457200" y="822960"/>
            <a:ext cx="1097280" cy="36576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1005840"/>
          <a:ext cx="8412480" cy="3840480"/>
        </p:xfrm>
        <a:graphic>
          <a:graphicData uri="http://schemas.openxmlformats.org/drawingml/2006/table">
            <a:tbl>
              <a:tblPr/>
              <a:tblGrid>
                <a:gridCol w="2011680"/>
                <a:gridCol w="6400800"/>
              </a:tblGrid>
              <a:tr h="6400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Threat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8D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8D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8D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8D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B5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Mitigation Strategy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8D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8D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8D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8D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B5F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C039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Phishing Attacks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8D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8D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8D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8D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Employee security awareness training, email filtering, anti-phishing tools, Multi-Factor Authentication (MFA)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8D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8D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8D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8D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C039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Ransomware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8D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8D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8D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8D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C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Regular data backups, antivirus/anti-malware software, endpoint protection, software updates, network segmentation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8D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8D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8D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8D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CF2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E67E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Insider Threats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8D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8D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8D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8D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Role-based access control (RBAC), employee monitoring, security policies, least-privilege access, regular audits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8D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8D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8D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8D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E67E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Weak Passwords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8D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8D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8D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8D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C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Strong password policy, MFA, password managers, periodic password changes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8D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8D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8D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8D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CF2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1E5FA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Unpatched Software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8D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8D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8D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8D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Automated patch management, regular software updates, vulnerability scanning, asset inventory management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8D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8D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8D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8D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4F6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1A2B5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Key Security Controls for SMEs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457200" y="822960"/>
            <a:ext cx="1097280" cy="36576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65760" y="1005840"/>
            <a:ext cx="1572768" cy="169164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CF2"/>
            </a:solidFill>
            <a:prstDash val="solid"/>
          </a:ln>
          <a:effectLst>
            <a:outerShdw blurRad="50800" dist="127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365760" y="1097280"/>
            <a:ext cx="1572768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000000"/>
                </a:solidFill>
              </a:rPr>
              <a:t>🔐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365760" y="1600200"/>
            <a:ext cx="157276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A2B5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MFA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11480" y="1874520"/>
            <a:ext cx="1481328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Adds an extra layer of login security beyond passwords.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2084832" y="1005840"/>
            <a:ext cx="1572768" cy="169164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CF2"/>
            </a:solidFill>
            <a:prstDash val="solid"/>
          </a:ln>
          <a:effectLst>
            <a:outerShdw blurRad="50800" dist="127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2084832" y="1097280"/>
            <a:ext cx="1572768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000000"/>
                </a:solidFill>
              </a:rPr>
              <a:t>🛡️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2084832" y="1600200"/>
            <a:ext cx="157276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A2B5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Firewalls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2130552" y="1874520"/>
            <a:ext cx="1481328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Monitor and filter incoming and outgoing network traffic.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3803904" y="1005840"/>
            <a:ext cx="1572768" cy="169164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CF2"/>
            </a:solidFill>
            <a:prstDash val="solid"/>
          </a:ln>
          <a:effectLst>
            <a:outerShdw blurRad="50800" dist="127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3803904" y="1097280"/>
            <a:ext cx="1572768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000000"/>
                </a:solidFill>
              </a:rPr>
              <a:t>🦠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3803904" y="1600200"/>
            <a:ext cx="157276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A2B5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Antivirus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3849624" y="1874520"/>
            <a:ext cx="1481328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Detects and removes malicious software threats.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5522976" y="1005840"/>
            <a:ext cx="1572768" cy="169164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CF2"/>
            </a:solidFill>
            <a:prstDash val="solid"/>
          </a:ln>
          <a:effectLst>
            <a:outerShdw blurRad="50800" dist="127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5522976" y="1097280"/>
            <a:ext cx="1572768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000000"/>
                </a:solidFill>
              </a:rPr>
              <a:t>💾</a:t>
            </a:r>
            <a:endParaRPr lang="en-US" sz="2000" dirty="0"/>
          </a:p>
        </p:txBody>
      </p:sp>
      <p:sp>
        <p:nvSpPr>
          <p:cNvPr id="18" name="Text 16"/>
          <p:cNvSpPr/>
          <p:nvPr/>
        </p:nvSpPr>
        <p:spPr>
          <a:xfrm>
            <a:off x="5522976" y="1600200"/>
            <a:ext cx="157276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A2B5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Data Backups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5568696" y="1874520"/>
            <a:ext cx="1481328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Enables recovery after ransomware attacks or data loss.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7242048" y="1005840"/>
            <a:ext cx="1572768" cy="169164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CF2"/>
            </a:solidFill>
            <a:prstDash val="solid"/>
          </a:ln>
          <a:effectLst>
            <a:outerShdw blurRad="50800" dist="127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7242048" y="1097280"/>
            <a:ext cx="1572768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000000"/>
                </a:solidFill>
              </a:rPr>
              <a:t>👥</a:t>
            </a:r>
            <a:endParaRPr lang="en-US" sz="2000" dirty="0"/>
          </a:p>
        </p:txBody>
      </p:sp>
      <p:sp>
        <p:nvSpPr>
          <p:cNvPr id="22" name="Text 20"/>
          <p:cNvSpPr/>
          <p:nvPr/>
        </p:nvSpPr>
        <p:spPr>
          <a:xfrm>
            <a:off x="7242048" y="1600200"/>
            <a:ext cx="157276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A2B5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RBAC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7287768" y="1874520"/>
            <a:ext cx="1481328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Limits access based on user job roles.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365760" y="3017520"/>
            <a:ext cx="1572768" cy="169164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CF2"/>
            </a:solidFill>
            <a:prstDash val="solid"/>
          </a:ln>
          <a:effectLst>
            <a:outerShdw blurRad="50800" dist="127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365760" y="3108960"/>
            <a:ext cx="1572768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000000"/>
                </a:solidFill>
              </a:rPr>
              <a:t>🎓</a:t>
            </a:r>
            <a:endParaRPr lang="en-US" sz="2000" dirty="0"/>
          </a:p>
        </p:txBody>
      </p:sp>
      <p:sp>
        <p:nvSpPr>
          <p:cNvPr id="26" name="Text 24"/>
          <p:cNvSpPr/>
          <p:nvPr/>
        </p:nvSpPr>
        <p:spPr>
          <a:xfrm>
            <a:off x="365760" y="3611880"/>
            <a:ext cx="157276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A2B5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Training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411480" y="3886200"/>
            <a:ext cx="1481328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Educates employees about cyber threats and safe practices.</a:t>
            </a:r>
            <a:endParaRPr lang="en-US" sz="950" dirty="0"/>
          </a:p>
        </p:txBody>
      </p:sp>
      <p:sp>
        <p:nvSpPr>
          <p:cNvPr id="28" name="Shape 26"/>
          <p:cNvSpPr/>
          <p:nvPr/>
        </p:nvSpPr>
        <p:spPr>
          <a:xfrm>
            <a:off x="2084832" y="3017520"/>
            <a:ext cx="1572768" cy="169164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CF2"/>
            </a:solidFill>
            <a:prstDash val="solid"/>
          </a:ln>
          <a:effectLst>
            <a:outerShdw blurRad="50800" dist="127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29" name="Text 27"/>
          <p:cNvSpPr/>
          <p:nvPr/>
        </p:nvSpPr>
        <p:spPr>
          <a:xfrm>
            <a:off x="2084832" y="3108960"/>
            <a:ext cx="1572768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000000"/>
                </a:solidFill>
              </a:rPr>
              <a:t>🔒</a:t>
            </a:r>
            <a:endParaRPr lang="en-US" sz="2000" dirty="0"/>
          </a:p>
        </p:txBody>
      </p:sp>
      <p:sp>
        <p:nvSpPr>
          <p:cNvPr id="30" name="Text 28"/>
          <p:cNvSpPr/>
          <p:nvPr/>
        </p:nvSpPr>
        <p:spPr>
          <a:xfrm>
            <a:off x="2084832" y="3611880"/>
            <a:ext cx="157276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A2B5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Encryption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2130552" y="3886200"/>
            <a:ext cx="1481328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Protects sensitive data from unauthorized access.</a:t>
            </a:r>
            <a:endParaRPr lang="en-US" sz="950" dirty="0"/>
          </a:p>
        </p:txBody>
      </p:sp>
      <p:sp>
        <p:nvSpPr>
          <p:cNvPr id="32" name="Shape 30"/>
          <p:cNvSpPr/>
          <p:nvPr/>
        </p:nvSpPr>
        <p:spPr>
          <a:xfrm>
            <a:off x="3803904" y="3017520"/>
            <a:ext cx="1572768" cy="169164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CF2"/>
            </a:solidFill>
            <a:prstDash val="solid"/>
          </a:ln>
          <a:effectLst>
            <a:outerShdw blurRad="50800" dist="127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33" name="Text 31"/>
          <p:cNvSpPr/>
          <p:nvPr/>
        </p:nvSpPr>
        <p:spPr>
          <a:xfrm>
            <a:off x="3803904" y="3108960"/>
            <a:ext cx="1572768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000000"/>
                </a:solidFill>
              </a:rPr>
              <a:t>🔧</a:t>
            </a:r>
            <a:endParaRPr lang="en-US" sz="2000" dirty="0"/>
          </a:p>
        </p:txBody>
      </p:sp>
      <p:sp>
        <p:nvSpPr>
          <p:cNvPr id="34" name="Text 32"/>
          <p:cNvSpPr/>
          <p:nvPr/>
        </p:nvSpPr>
        <p:spPr>
          <a:xfrm>
            <a:off x="3803904" y="3611880"/>
            <a:ext cx="157276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A2B5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Patch Mgmt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3849624" y="3886200"/>
            <a:ext cx="1481328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Keeps systems protected against known vulnerabilities.</a:t>
            </a:r>
            <a:endParaRPr lang="en-US" sz="950" dirty="0"/>
          </a:p>
        </p:txBody>
      </p:sp>
      <p:sp>
        <p:nvSpPr>
          <p:cNvPr id="36" name="Shape 34"/>
          <p:cNvSpPr/>
          <p:nvPr/>
        </p:nvSpPr>
        <p:spPr>
          <a:xfrm>
            <a:off x="5522976" y="3017520"/>
            <a:ext cx="1572768" cy="169164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CF2"/>
            </a:solidFill>
            <a:prstDash val="solid"/>
          </a:ln>
          <a:effectLst>
            <a:outerShdw blurRad="50800" dist="127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37" name="Text 35"/>
          <p:cNvSpPr/>
          <p:nvPr/>
        </p:nvSpPr>
        <p:spPr>
          <a:xfrm>
            <a:off x="5522976" y="3108960"/>
            <a:ext cx="1572768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000000"/>
                </a:solidFill>
              </a:rPr>
              <a:t>📡</a:t>
            </a:r>
            <a:endParaRPr lang="en-US" sz="2000" dirty="0"/>
          </a:p>
        </p:txBody>
      </p:sp>
      <p:sp>
        <p:nvSpPr>
          <p:cNvPr id="38" name="Text 36"/>
          <p:cNvSpPr/>
          <p:nvPr/>
        </p:nvSpPr>
        <p:spPr>
          <a:xfrm>
            <a:off x="5522976" y="3611880"/>
            <a:ext cx="157276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A2B5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IDS</a:t>
            </a:r>
            <a:endParaRPr lang="en-US" sz="1100" dirty="0"/>
          </a:p>
        </p:txBody>
      </p:sp>
      <p:sp>
        <p:nvSpPr>
          <p:cNvPr id="39" name="Text 37"/>
          <p:cNvSpPr/>
          <p:nvPr/>
        </p:nvSpPr>
        <p:spPr>
          <a:xfrm>
            <a:off x="5568696" y="3886200"/>
            <a:ext cx="1481328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 suspicious network activities in real time.</a:t>
            </a:r>
            <a:endParaRPr lang="en-US" sz="950" dirty="0"/>
          </a:p>
        </p:txBody>
      </p:sp>
      <p:sp>
        <p:nvSpPr>
          <p:cNvPr id="40" name="Shape 38"/>
          <p:cNvSpPr/>
          <p:nvPr/>
        </p:nvSpPr>
        <p:spPr>
          <a:xfrm>
            <a:off x="7242048" y="3017520"/>
            <a:ext cx="1572768" cy="169164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CF2"/>
            </a:solidFill>
            <a:prstDash val="solid"/>
          </a:ln>
          <a:effectLst>
            <a:outerShdw blurRad="50800" dist="127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41" name="Text 39"/>
          <p:cNvSpPr/>
          <p:nvPr/>
        </p:nvSpPr>
        <p:spPr>
          <a:xfrm>
            <a:off x="7242048" y="3108960"/>
            <a:ext cx="1572768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000000"/>
                </a:solidFill>
              </a:rPr>
              <a:t>📋</a:t>
            </a:r>
            <a:endParaRPr lang="en-US" sz="2000" dirty="0"/>
          </a:p>
        </p:txBody>
      </p:sp>
      <p:sp>
        <p:nvSpPr>
          <p:cNvPr id="42" name="Text 40"/>
          <p:cNvSpPr/>
          <p:nvPr/>
        </p:nvSpPr>
        <p:spPr>
          <a:xfrm>
            <a:off x="7242048" y="3611880"/>
            <a:ext cx="157276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A2B5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Audits</a:t>
            </a:r>
            <a:endParaRPr lang="en-US" sz="1100" dirty="0"/>
          </a:p>
        </p:txBody>
      </p:sp>
      <p:sp>
        <p:nvSpPr>
          <p:cNvPr id="43" name="Text 41"/>
          <p:cNvSpPr/>
          <p:nvPr/>
        </p:nvSpPr>
        <p:spPr>
          <a:xfrm>
            <a:off x="7287768" y="3886200"/>
            <a:ext cx="1481328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Identify and address security weaknesses regularly.</a:t>
            </a:r>
            <a:endParaRPr lang="en-US" sz="95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4F6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A2B5F"/>
          </a:solidFill>
          <a:ln w="12700">
            <a:solidFill>
              <a:srgbClr val="1A2B5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457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Case Study 1: Small Retail Store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365760" y="566928"/>
            <a:ext cx="8229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 Retail Shop  ·  25 Employees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365760" y="1005840"/>
            <a:ext cx="2697480" cy="347472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11480" y="1005840"/>
            <a:ext cx="2606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🎣  Cybersecurity Issue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365760" y="1353312"/>
            <a:ext cx="2697480" cy="2944368"/>
          </a:xfrm>
          <a:prstGeom prst="rect">
            <a:avLst/>
          </a:prstGeom>
          <a:solidFill>
            <a:srgbClr val="FFFFFF"/>
          </a:solidFill>
          <a:ln w="12700">
            <a:solidFill>
              <a:srgbClr val="E8ECF2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" y="1417320"/>
            <a:ext cx="2514600" cy="2788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1A2B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Employees received phishing emails.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1A2B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employee clicked a malicious link.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1A2B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Login credentials were compromised.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3200400" y="1005840"/>
            <a:ext cx="2697480" cy="347472"/>
          </a:xfrm>
          <a:prstGeom prst="rect">
            <a:avLst/>
          </a:prstGeom>
          <a:solidFill>
            <a:srgbClr val="E67E22"/>
          </a:solidFill>
          <a:ln w="12700">
            <a:solidFill>
              <a:srgbClr val="E67E22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246120" y="1005840"/>
            <a:ext cx="2606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📊  Risk Assessment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200400" y="1353312"/>
            <a:ext cx="2697480" cy="2944368"/>
          </a:xfrm>
          <a:prstGeom prst="rect">
            <a:avLst/>
          </a:prstGeom>
          <a:solidFill>
            <a:srgbClr val="FFFFFF"/>
          </a:solidFill>
          <a:ln w="12700">
            <a:solidFill>
              <a:srgbClr val="E8ECF2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291840" y="1417320"/>
            <a:ext cx="2514600" cy="2788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1A2B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Threat: Phishing Attack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1A2B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Likelihood: 5/5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1A2B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Impact: 4/5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1A2B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 Score: 20 (High)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6035040" y="1005840"/>
            <a:ext cx="2697480" cy="34747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080760" y="1005840"/>
            <a:ext cx="2606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🛡️  Mitigation Applied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6035040" y="1353312"/>
            <a:ext cx="2697480" cy="2944368"/>
          </a:xfrm>
          <a:prstGeom prst="rect">
            <a:avLst/>
          </a:prstGeom>
          <a:solidFill>
            <a:srgbClr val="FFFFFF"/>
          </a:solidFill>
          <a:ln w="12700">
            <a:solidFill>
              <a:srgbClr val="E8ECF2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126480" y="1417320"/>
            <a:ext cx="2514600" cy="2788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1A2B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Multi-Factor Authentication (MFA)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1A2B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Employee awareness training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1A2B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Email filtering system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365760" y="4389120"/>
            <a:ext cx="8412480" cy="548640"/>
          </a:xfrm>
          <a:prstGeom prst="rect">
            <a:avLst/>
          </a:prstGeom>
          <a:solidFill>
            <a:srgbClr val="E8F5E9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57200" y="43891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Outcome: </a:t>
            </a:r>
            <a:r>
              <a:rPr lang="en-US" sz="1150" dirty="0">
                <a:solidFill>
                  <a:srgbClr val="1A2B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Phishing click rate reduced significantly. No further account compromises. Model correctly identified phishing as a high-priority risk.</a:t>
            </a:r>
            <a:endParaRPr lang="en-US" sz="115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4F6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A2B5F"/>
          </a:solidFill>
          <a:ln w="12700">
            <a:solidFill>
              <a:srgbClr val="1A2B5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457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Case Study 2: Small Healthcare Clinic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365760" y="566928"/>
            <a:ext cx="8229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Healthcare SME  ·  40 Employees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365760" y="1005840"/>
            <a:ext cx="2697480" cy="347472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11480" y="1005840"/>
            <a:ext cx="2606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💻  Cybersecurity Issue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365760" y="1353312"/>
            <a:ext cx="2697480" cy="2944368"/>
          </a:xfrm>
          <a:prstGeom prst="rect">
            <a:avLst/>
          </a:prstGeom>
          <a:solidFill>
            <a:srgbClr val="FFFFFF"/>
          </a:solidFill>
          <a:ln w="12700">
            <a:solidFill>
              <a:srgbClr val="E8ECF2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" y="1417320"/>
            <a:ext cx="2514600" cy="2788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1A2B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Systems infected with ransomware.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1A2B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Patient records became temporarily inaccessible.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3200400" y="1005840"/>
            <a:ext cx="2697480" cy="347472"/>
          </a:xfrm>
          <a:prstGeom prst="rect">
            <a:avLst/>
          </a:prstGeom>
          <a:solidFill>
            <a:srgbClr val="E67E22"/>
          </a:solidFill>
          <a:ln w="12700">
            <a:solidFill>
              <a:srgbClr val="E67E22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246120" y="1005840"/>
            <a:ext cx="2606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📊  Risk Assessment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200400" y="1353312"/>
            <a:ext cx="2697480" cy="2944368"/>
          </a:xfrm>
          <a:prstGeom prst="rect">
            <a:avLst/>
          </a:prstGeom>
          <a:solidFill>
            <a:srgbClr val="FFFFFF"/>
          </a:solidFill>
          <a:ln w="12700">
            <a:solidFill>
              <a:srgbClr val="E8ECF2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291840" y="1417320"/>
            <a:ext cx="2514600" cy="2788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1A2B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Threat: Ransomware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1A2B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Likelihood: 4/5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1A2B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Impact: 5/5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1A2B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 Score: 20 (Critical)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6035040" y="1005840"/>
            <a:ext cx="2697480" cy="34747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080760" y="1005840"/>
            <a:ext cx="2606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🛡️  Mitigation Applied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6035040" y="1353312"/>
            <a:ext cx="2697480" cy="2944368"/>
          </a:xfrm>
          <a:prstGeom prst="rect">
            <a:avLst/>
          </a:prstGeom>
          <a:solidFill>
            <a:srgbClr val="FFFFFF"/>
          </a:solidFill>
          <a:ln w="12700">
            <a:solidFill>
              <a:srgbClr val="E8ECF2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126480" y="1417320"/>
            <a:ext cx="2514600" cy="2788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1A2B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Regular offline backups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1A2B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Endpoint protection software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1A2B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Automated patch management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365760" y="4389120"/>
            <a:ext cx="8412480" cy="548640"/>
          </a:xfrm>
          <a:prstGeom prst="rect">
            <a:avLst/>
          </a:prstGeom>
          <a:solidFill>
            <a:srgbClr val="E8F5E9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57200" y="43891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Outcome: </a:t>
            </a:r>
            <a:r>
              <a:rPr lang="en-US" sz="1150" dirty="0">
                <a:solidFill>
                  <a:srgbClr val="1A2B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restored from backups. Business operations resumed quickly. Model accurately ranked ransomware as the highest-risk threat.</a:t>
            </a:r>
            <a:endParaRPr lang="en-US" sz="115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4F6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A2B5F"/>
          </a:solidFill>
          <a:ln w="12700">
            <a:solidFill>
              <a:srgbClr val="1A2B5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457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Case Study 3: Small IT Services Company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65760" y="566928"/>
            <a:ext cx="8229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Consulting Firm  ·  30 Employees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365760" y="1005840"/>
            <a:ext cx="2697480" cy="347472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11480" y="1005840"/>
            <a:ext cx="2606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👤  Cybersecurity Issue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365760" y="1353312"/>
            <a:ext cx="2697480" cy="2944368"/>
          </a:xfrm>
          <a:prstGeom prst="rect">
            <a:avLst/>
          </a:prstGeom>
          <a:solidFill>
            <a:srgbClr val="FFFFFF"/>
          </a:solidFill>
          <a:ln w="12700">
            <a:solidFill>
              <a:srgbClr val="E8ECF2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" y="1417320"/>
            <a:ext cx="2514600" cy="2788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1A2B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Former employee retained access to company files.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1A2B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Sensitive client data was exposed.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3200400" y="1005840"/>
            <a:ext cx="2697480" cy="347472"/>
          </a:xfrm>
          <a:prstGeom prst="rect">
            <a:avLst/>
          </a:prstGeom>
          <a:solidFill>
            <a:srgbClr val="E67E22"/>
          </a:solidFill>
          <a:ln w="12700">
            <a:solidFill>
              <a:srgbClr val="E67E22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246120" y="1005840"/>
            <a:ext cx="2606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📊  Risk Assessment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200400" y="1353312"/>
            <a:ext cx="2697480" cy="2944368"/>
          </a:xfrm>
          <a:prstGeom prst="rect">
            <a:avLst/>
          </a:prstGeom>
          <a:solidFill>
            <a:srgbClr val="FFFFFF"/>
          </a:solidFill>
          <a:ln w="12700">
            <a:solidFill>
              <a:srgbClr val="E8ECF2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291840" y="1417320"/>
            <a:ext cx="2514600" cy="2788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1A2B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Threat: Insider Threat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1A2B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Likelihood: 3/5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1A2B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Impact: 5/5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1A2B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 Score: 15 (High)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6035040" y="1005840"/>
            <a:ext cx="2697480" cy="34747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080760" y="1005840"/>
            <a:ext cx="2606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🛡️  Mitigation Applied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6035040" y="1353312"/>
            <a:ext cx="2697480" cy="2944368"/>
          </a:xfrm>
          <a:prstGeom prst="rect">
            <a:avLst/>
          </a:prstGeom>
          <a:solidFill>
            <a:srgbClr val="FFFFFF"/>
          </a:solidFill>
          <a:ln w="12700">
            <a:solidFill>
              <a:srgbClr val="E8ECF2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126480" y="1417320"/>
            <a:ext cx="2514600" cy="2788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1A2B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Role-Based Access Control (RBAC)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1A2B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Immediate account deactivation after employee exit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1A2B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Regular access audits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365760" y="4389120"/>
            <a:ext cx="8412480" cy="548640"/>
          </a:xfrm>
          <a:prstGeom prst="rect">
            <a:avLst/>
          </a:prstGeom>
          <a:solidFill>
            <a:srgbClr val="E8F5E9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57200" y="43891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Outcome: </a:t>
            </a:r>
            <a:r>
              <a:rPr lang="en-US" sz="1150" dirty="0">
                <a:solidFill>
                  <a:srgbClr val="1A2B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Unauthorized access incidents eliminated. Improved protection of client information. Model successfully highlighted insider threats as a major concern.</a:t>
            </a:r>
            <a:endParaRPr lang="en-US" sz="115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4F6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1A2B5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Case Study Validation Summary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457200" y="822960"/>
            <a:ext cx="1097280" cy="36576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graphicFrame>
        <p:nvGraphicFramePr>
          <p:cNvPr id="1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1051560"/>
          <a:ext cx="8412480" cy="2194560"/>
        </p:xfrm>
        <a:graphic>
          <a:graphicData uri="http://schemas.openxmlformats.org/drawingml/2006/table">
            <a:tbl>
              <a:tblPr/>
              <a:tblGrid>
                <a:gridCol w="2011680"/>
                <a:gridCol w="1463040"/>
                <a:gridCol w="1097280"/>
                <a:gridCol w="2103120"/>
                <a:gridCol w="1737360"/>
              </a:tblGrid>
              <a:tr h="5486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Business Type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8D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8D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8D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8D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B5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Main Threat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8D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8D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8D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8D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B5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Risk Level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8D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8D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8D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8D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B5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Control Used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8D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8D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8D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8D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B5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Result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8D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8D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8D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8D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B5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🛒  Retail Store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8D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8D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8D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8D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C039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Phishing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8D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8D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8D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8D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C039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High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8D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8D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8D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8D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MFA + Training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8D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8D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8D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8D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Reduced credential theft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8D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8D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8D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8D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🏥  Healthcare Clinic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8D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8D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8D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8D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C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C039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Ransomware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8D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8D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8D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8D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C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C039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Critical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8D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8D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8D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8D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C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Backups + Endpoint Security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8D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8D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8D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8D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C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Fast recovery from attack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8D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8D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8D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8D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CF2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💻  IT Services Firm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8D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8D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8D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8D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E67E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Insider Threat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8D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8D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8D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8D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E67E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High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8D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8D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8D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8D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RBAC + Access Audits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8D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8D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8D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8D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Prevented data exposure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8D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8D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8D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8D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365760" y="3429000"/>
            <a:ext cx="8412480" cy="1463040"/>
          </a:xfrm>
          <a:prstGeom prst="rect">
            <a:avLst/>
          </a:prstGeom>
          <a:solidFill>
            <a:srgbClr val="1A2B5F"/>
          </a:solidFill>
          <a:ln w="12700">
            <a:solidFill>
              <a:srgbClr val="1A2B5F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548640" y="3474720"/>
            <a:ext cx="8046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Conclusion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548640" y="3794760"/>
            <a:ext cx="804672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risk assessment model effectively identified the most severe threats.</a:t>
            </a:r>
            <a:endParaRPr lang="en-US" sz="11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Mitigation strategies reduced both the likelihood and impact of attacks.</a:t>
            </a:r>
            <a:endParaRPr lang="en-US" sz="11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model is applicable across retail, healthcare, and IT services sectors.</a:t>
            </a:r>
            <a:endParaRPr lang="en-US" sz="11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Prioritizing risks by severity helps SMEs allocate cybersecurity resources effectively.</a:t>
            </a:r>
            <a:endParaRPr lang="en-US" sz="115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4F6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1A2B5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Key Findings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457200" y="822960"/>
            <a:ext cx="1097280" cy="36576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65760" y="1051560"/>
            <a:ext cx="320040" cy="347472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65760" y="1051560"/>
            <a:ext cx="320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777240" y="1078992"/>
            <a:ext cx="79552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A2B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SMEs face significant cybersecurity risks due to limited security resources.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365760" y="1709928"/>
            <a:ext cx="320040" cy="347472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65760" y="1709928"/>
            <a:ext cx="320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777240" y="1737360"/>
            <a:ext cx="79552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A2B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Phishing attacks and ransomware are the most critical external threats.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365760" y="2368296"/>
            <a:ext cx="320040" cy="347472"/>
          </a:xfrm>
          <a:prstGeom prst="rect">
            <a:avLst/>
          </a:prstGeom>
          <a:solidFill>
            <a:srgbClr val="E67E22"/>
          </a:solidFill>
          <a:ln w="12700">
            <a:solidFill>
              <a:srgbClr val="E67E22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65760" y="2368296"/>
            <a:ext cx="320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777240" y="2395728"/>
            <a:ext cx="79552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A2B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Insider threats can cause major data breaches and operational disruptions.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365760" y="3026664"/>
            <a:ext cx="320040" cy="347472"/>
          </a:xfrm>
          <a:prstGeom prst="rect">
            <a:avLst/>
          </a:prstGeom>
          <a:solidFill>
            <a:srgbClr val="E67E22"/>
          </a:solidFill>
          <a:ln w="12700">
            <a:solidFill>
              <a:srgbClr val="E67E22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65760" y="3026664"/>
            <a:ext cx="320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4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777240" y="3054096"/>
            <a:ext cx="79552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A2B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Weak passwords and unpatched software increase vulnerability to cyberattacks.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365760" y="3685032"/>
            <a:ext cx="320040" cy="34747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65760" y="3685032"/>
            <a:ext cx="320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5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777240" y="3712464"/>
            <a:ext cx="79552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A2B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 assessment helps SMEs prioritize threats based on likelihood and impact.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365760" y="4343400"/>
            <a:ext cx="320040" cy="34747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65760" y="4343400"/>
            <a:ext cx="320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6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777240" y="4370832"/>
            <a:ext cx="79552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A2B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 controls such as MFA, firewalls, backups, and employee training effectively reduce cyber risks.</a:t>
            </a:r>
            <a:endParaRPr lang="en-US" sz="125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4F6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1A2B5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Best Practices for SME Cybersecurity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457200" y="822960"/>
            <a:ext cx="1097280" cy="36576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65760" y="1042416"/>
            <a:ext cx="256032" cy="25603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65760" y="1042416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685800" y="1005840"/>
            <a:ext cx="40233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A2B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 Multi-Factor Authentication (MFA) for all critical accounts.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365760" y="1728216"/>
            <a:ext cx="256032" cy="25603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65760" y="1728216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685800" y="1691640"/>
            <a:ext cx="40233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A2B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strong password policies and password managers.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365760" y="2414016"/>
            <a:ext cx="256032" cy="25603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65760" y="2414016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685800" y="2377440"/>
            <a:ext cx="40233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A2B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Install and maintain firewalls and antivirus software.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365760" y="3099816"/>
            <a:ext cx="256032" cy="25603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65760" y="3099816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685800" y="3063240"/>
            <a:ext cx="40233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A2B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Perform regular software updates and patch management.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365760" y="3785616"/>
            <a:ext cx="256032" cy="25603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65760" y="3785616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685800" y="3749040"/>
            <a:ext cx="40233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A2B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Conduct employee cybersecurity awareness training.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4663440" y="1042416"/>
            <a:ext cx="256032" cy="25603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663440" y="1042416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4983480" y="1005840"/>
            <a:ext cx="40233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A2B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 regular data backups and test recovery procedures.</a:t>
            </a:r>
            <a:endParaRPr lang="en-US" sz="1150" dirty="0"/>
          </a:p>
        </p:txBody>
      </p:sp>
      <p:sp>
        <p:nvSpPr>
          <p:cNvPr id="22" name="Shape 20"/>
          <p:cNvSpPr/>
          <p:nvPr/>
        </p:nvSpPr>
        <p:spPr>
          <a:xfrm>
            <a:off x="4663440" y="1728216"/>
            <a:ext cx="256032" cy="25603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663440" y="1728216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4983480" y="1691640"/>
            <a:ext cx="40233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A2B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Apply Role-Based Access Control (RBAC) and least privilege.</a:t>
            </a:r>
            <a:endParaRPr lang="en-US" sz="1150" dirty="0"/>
          </a:p>
        </p:txBody>
      </p:sp>
      <p:sp>
        <p:nvSpPr>
          <p:cNvPr id="25" name="Shape 23"/>
          <p:cNvSpPr/>
          <p:nvPr/>
        </p:nvSpPr>
        <p:spPr>
          <a:xfrm>
            <a:off x="4663440" y="2414016"/>
            <a:ext cx="256032" cy="25603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663440" y="2414016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4983480" y="2377440"/>
            <a:ext cx="40233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A2B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Encrypt sensitive business and customer data.</a:t>
            </a:r>
            <a:endParaRPr lang="en-US" sz="1150" dirty="0"/>
          </a:p>
        </p:txBody>
      </p:sp>
      <p:sp>
        <p:nvSpPr>
          <p:cNvPr id="28" name="Shape 26"/>
          <p:cNvSpPr/>
          <p:nvPr/>
        </p:nvSpPr>
        <p:spPr>
          <a:xfrm>
            <a:off x="4663440" y="3099816"/>
            <a:ext cx="256032" cy="25603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663440" y="3099816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4983480" y="3063240"/>
            <a:ext cx="40233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A2B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Monitor systems for suspicious activities and incidents.</a:t>
            </a:r>
            <a:endParaRPr lang="en-US" sz="1150" dirty="0"/>
          </a:p>
        </p:txBody>
      </p:sp>
      <p:sp>
        <p:nvSpPr>
          <p:cNvPr id="31" name="Shape 29"/>
          <p:cNvSpPr/>
          <p:nvPr/>
        </p:nvSpPr>
        <p:spPr>
          <a:xfrm>
            <a:off x="4663440" y="3785616"/>
            <a:ext cx="256032" cy="25603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663440" y="3785616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4983480" y="3749040"/>
            <a:ext cx="40233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A2B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Perform periodic security audits and risk assessments.</a:t>
            </a:r>
            <a:endParaRPr lang="en-US" sz="115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1A2B5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3566160"/>
            <a:ext cx="9144000" cy="1577340"/>
          </a:xfrm>
          <a:prstGeom prst="rect">
            <a:avLst/>
          </a:prstGeom>
          <a:solidFill>
            <a:srgbClr val="0D1D45"/>
          </a:solidFill>
          <a:ln w="12700">
            <a:solidFill>
              <a:srgbClr val="0D1D4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365760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Conclusion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914400" y="1097280"/>
            <a:ext cx="73152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proactive cybersecurity approach combining risk assessment, employee awareness, and technical controls can significantly reduce cyber threats for SMEs.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1005840" y="2194560"/>
            <a:ext cx="2103120" cy="1188720"/>
          </a:xfrm>
          <a:prstGeom prst="rect">
            <a:avLst/>
          </a:prstGeom>
          <a:solidFill>
            <a:srgbClr val="213469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05840" y="2240280"/>
            <a:ext cx="21031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</a:rPr>
              <a:t>🔍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1005840" y="2743200"/>
            <a:ext cx="2103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Risk Assessment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3566160" y="2194560"/>
            <a:ext cx="2103120" cy="1188720"/>
          </a:xfrm>
          <a:prstGeom prst="rect">
            <a:avLst/>
          </a:prstGeom>
          <a:solidFill>
            <a:srgbClr val="213469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566160" y="2240280"/>
            <a:ext cx="21031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</a:rPr>
              <a:t>🎓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3566160" y="2743200"/>
            <a:ext cx="2103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Employee Awareness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126480" y="2194560"/>
            <a:ext cx="2103120" cy="1188720"/>
          </a:xfrm>
          <a:prstGeom prst="rect">
            <a:avLst/>
          </a:prstGeom>
          <a:solidFill>
            <a:srgbClr val="213469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126480" y="2240280"/>
            <a:ext cx="21031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</a:rPr>
              <a:t>🛠️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6126480" y="2743200"/>
            <a:ext cx="2103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Technical Controls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457200" y="3657600"/>
            <a:ext cx="8229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A0B8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By implementing these best practices, SMEs can improve data protection, business continuity,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dirty="0">
                <a:solidFill>
                  <a:srgbClr val="A0B8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 customer trust while minimising financial and operational risks.</a:t>
            </a:r>
            <a:endParaRPr lang="en-US" sz="12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60E2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r0"/>
          <p:cNvSpPr/>
          <p:nvPr/>
        </p:nvSpPr>
        <p:spPr>
          <a:xfrm>
            <a:off x="0" y="0"/>
            <a:ext cx="64008" cy="5143500"/>
          </a:xfrm>
          <a:prstGeom prst="rect">
            <a:avLst/>
          </a:prstGeom>
          <a:solidFill>
            <a:srgbClr val="00D4FF"/>
          </a:solidFill>
          <a:ln>
            <a:noFill/>
          </a:ln>
        </p:spPr>
      </p:sp>
      <p:sp>
        <p:nvSpPr>
          <p:cNvPr id="2" name="r0"/>
          <p:cNvSpPr/>
          <p:nvPr/>
        </p:nvSpPr>
        <p:spPr>
          <a:xfrm>
            <a:off x="0" y="0"/>
            <a:ext cx="9144000" cy="41148"/>
          </a:xfrm>
          <a:prstGeom prst="rect">
            <a:avLst/>
          </a:prstGeom>
          <a:solidFill>
            <a:srgbClr val="00D4FF">
              <a:alpha val="40000"/>
            </a:srgbClr>
          </a:solidFill>
          <a:ln>
            <a:noFill/>
          </a:ln>
        </p:spPr>
      </p:sp>
      <p:sp>
        <p:nvSpPr>
          <p:cNvPr id="3" name="r0"/>
          <p:cNvSpPr/>
          <p:nvPr/>
        </p:nvSpPr>
        <p:spPr>
          <a:xfrm>
            <a:off x="0" y="4526280"/>
            <a:ext cx="9144000" cy="617220"/>
          </a:xfrm>
          <a:prstGeom prst="rect">
            <a:avLst/>
          </a:prstGeom>
          <a:solidFill>
            <a:srgbClr val="001040"/>
          </a:solidFill>
          <a:ln>
            <a:noFill/>
          </a:ln>
        </p:spPr>
      </p:sp>
      <p:sp>
        <p:nvSpPr>
          <p:cNvPr id="4" name="r0"/>
          <p:cNvSpPr/>
          <p:nvPr/>
        </p:nvSpPr>
        <p:spPr>
          <a:xfrm>
            <a:off x="0" y="4526280"/>
            <a:ext cx="64008" cy="617220"/>
          </a:xfrm>
          <a:prstGeom prst="rect">
            <a:avLst/>
          </a:prstGeom>
          <a:solidFill>
            <a:srgbClr val="00D4FF"/>
          </a:solidFill>
          <a:ln>
            <a:noFill/>
          </a:ln>
        </p:spPr>
      </p:sp>
      <p:sp>
        <p:nvSpPr>
          <p:cNvPr id="5" name="r182880"/>
          <p:cNvSpPr/>
          <p:nvPr/>
        </p:nvSpPr>
        <p:spPr>
          <a:xfrm>
            <a:off x="182880" y="308610"/>
            <a:ext cx="8778240" cy="668655"/>
          </a:xfrm>
          <a:prstGeom prst="rect">
            <a:avLst/>
          </a:prstGeom>
          <a:solidFill>
            <a:srgbClr val="0A1640"/>
          </a:solidFill>
          <a:ln>
            <a:noFill/>
          </a:ln>
        </p:spPr>
      </p:sp>
      <p:sp>
        <p:nvSpPr>
          <p:cNvPr id="51" name="t457200"/>
          <p:cNvSpPr txBox="1"/>
          <p:nvPr/>
        </p:nvSpPr>
        <p:spPr>
          <a:xfrm>
            <a:off x="457200" y="334327"/>
            <a:ext cx="8046720" cy="617220"/>
          </a:xfrm>
          <a:prstGeom prst="rect">
            <a:avLst/>
          </a:prstGeom>
          <a:noFill/>
          <a:ln>
            <a:noFill/>
          </a:ln>
        </p:spPr>
        <p:txBody>
          <a:bodyPr wrap="square" rtlCol="0" anchor="ctr">
            <a:normAutofit/>
          </a:bodyPr>
          <a:lstStyle/>
          <a:p>
            <a:pPr marL="0" indent="0" algn="l">
              <a:buNone/>
            </a:pPr>
            <a:r>
              <a:rPr lang="en-US" sz="2200" b="1" kern="0" spc="200" dirty="0">
                <a:solidFill>
                  <a:srgbClr val="00D4FF"/>
                </a:solidFill>
                <a:latin typeface="Calibri" pitchFamily="34" charset="0"/>
              </a:rPr>
              <a:t>Limitations &amp; Future Scope</a:t>
            </a:r>
          </a:p>
        </p:txBody>
      </p:sp>
      <p:sp>
        <p:nvSpPr>
          <p:cNvPr id="6" name="r365760"/>
          <p:cNvSpPr/>
          <p:nvPr/>
        </p:nvSpPr>
        <p:spPr>
          <a:xfrm>
            <a:off x="365760" y="1105852"/>
            <a:ext cx="3931920" cy="282892"/>
          </a:xfrm>
          <a:prstGeom prst="rect">
            <a:avLst/>
          </a:prstGeom>
          <a:solidFill>
            <a:srgbClr val="001F6E"/>
          </a:solidFill>
          <a:ln>
            <a:noFill/>
          </a:ln>
        </p:spPr>
      </p:sp>
      <p:sp>
        <p:nvSpPr>
          <p:cNvPr id="7" name="t457200"/>
          <p:cNvSpPr txBox="1"/>
          <p:nvPr/>
        </p:nvSpPr>
        <p:spPr>
          <a:xfrm>
            <a:off x="457200" y="1116139"/>
            <a:ext cx="3657600" cy="257175"/>
          </a:xfrm>
          <a:prstGeom prst="rect">
            <a:avLst/>
          </a:prstGeom>
          <a:noFill/>
          <a:ln>
            <a:noFill/>
          </a:ln>
        </p:spPr>
        <p:txBody>
          <a:bodyPr wrap="square" rtlCol="0" anchor="ctr">
            <a:normAutofit lnSpcReduction="10000"/>
          </a:bodyPr>
          <a:lstStyle/>
          <a:p>
            <a:pPr marL="0" indent="0" algn="l">
              <a:buNone/>
            </a:pPr>
            <a:r>
              <a:rPr lang="en-US" sz="1100" b="1" kern="0" spc="300" dirty="0">
                <a:solidFill>
                  <a:srgbClr val="00D4FF"/>
                </a:solidFill>
                <a:latin typeface="Calibri" pitchFamily="34" charset="0"/>
              </a:rPr>
              <a:t>LIMITATIONS</a:t>
            </a:r>
          </a:p>
        </p:txBody>
      </p:sp>
      <p:sp>
        <p:nvSpPr>
          <p:cNvPr id="8" name="r365760"/>
          <p:cNvSpPr/>
          <p:nvPr/>
        </p:nvSpPr>
        <p:spPr>
          <a:xfrm>
            <a:off x="365760" y="1517332"/>
            <a:ext cx="4023360" cy="617220"/>
          </a:xfrm>
          <a:prstGeom prst="rect">
            <a:avLst/>
          </a:prstGeom>
          <a:solidFill>
            <a:srgbClr val="0A1640"/>
          </a:solidFill>
          <a:ln>
            <a:noFill/>
          </a:ln>
        </p:spPr>
      </p:sp>
      <p:sp>
        <p:nvSpPr>
          <p:cNvPr id="9" name="r365760"/>
          <p:cNvSpPr/>
          <p:nvPr/>
        </p:nvSpPr>
        <p:spPr>
          <a:xfrm>
            <a:off x="365760" y="1517332"/>
            <a:ext cx="54864" cy="617220"/>
          </a:xfrm>
          <a:prstGeom prst="rect">
            <a:avLst/>
          </a:prstGeom>
          <a:solidFill>
            <a:srgbClr val="FF6B6B"/>
          </a:solidFill>
          <a:ln>
            <a:noFill/>
          </a:ln>
        </p:spPr>
      </p:sp>
      <p:sp>
        <p:nvSpPr>
          <p:cNvPr id="10" name="t530352"/>
          <p:cNvSpPr txBox="1"/>
          <p:nvPr/>
        </p:nvSpPr>
        <p:spPr>
          <a:xfrm>
            <a:off x="530352" y="1594484"/>
            <a:ext cx="3657600" cy="488632"/>
          </a:xfrm>
          <a:prstGeom prst="rect">
            <a:avLst/>
          </a:prstGeom>
          <a:noFill/>
          <a:ln>
            <a:noFill/>
          </a:ln>
        </p:spPr>
        <p:txBody>
          <a:bodyPr wrap="square" rtlCol="0" anchor="ctr">
            <a:normAutofit/>
          </a:bodyPr>
          <a:lstStyle/>
          <a:p>
            <a:pPr marL="0" indent="0" algn="l">
              <a:buNone/>
            </a:pPr>
            <a:r>
              <a:rPr lang="en-US" sz="900" b="0" kern="0" dirty="0">
                <a:solidFill>
                  <a:srgbClr val="D0D8E8"/>
                </a:solidFill>
                <a:latin typeface="Calibri" pitchFamily="34" charset="0"/>
              </a:rPr>
              <a:t>Study limited to 3 SME case studies; broader validation across industries is needed.</a:t>
            </a:r>
          </a:p>
        </p:txBody>
      </p:sp>
      <p:sp>
        <p:nvSpPr>
          <p:cNvPr id="11" name="r365760"/>
          <p:cNvSpPr/>
          <p:nvPr/>
        </p:nvSpPr>
        <p:spPr>
          <a:xfrm>
            <a:off x="365760" y="2211704"/>
            <a:ext cx="4023360" cy="617220"/>
          </a:xfrm>
          <a:prstGeom prst="rect">
            <a:avLst/>
          </a:prstGeom>
          <a:solidFill>
            <a:srgbClr val="0A1640"/>
          </a:solidFill>
          <a:ln>
            <a:noFill/>
          </a:ln>
        </p:spPr>
      </p:sp>
      <p:sp>
        <p:nvSpPr>
          <p:cNvPr id="12" name="r365760"/>
          <p:cNvSpPr/>
          <p:nvPr/>
        </p:nvSpPr>
        <p:spPr>
          <a:xfrm>
            <a:off x="365760" y="2211704"/>
            <a:ext cx="54864" cy="617220"/>
          </a:xfrm>
          <a:prstGeom prst="rect">
            <a:avLst/>
          </a:prstGeom>
          <a:solidFill>
            <a:srgbClr val="FF6B6B"/>
          </a:solidFill>
          <a:ln>
            <a:noFill/>
          </a:ln>
        </p:spPr>
      </p:sp>
      <p:sp>
        <p:nvSpPr>
          <p:cNvPr id="13" name="t530352"/>
          <p:cNvSpPr txBox="1"/>
          <p:nvPr/>
        </p:nvSpPr>
        <p:spPr>
          <a:xfrm>
            <a:off x="530352" y="2288856"/>
            <a:ext cx="3657600" cy="488632"/>
          </a:xfrm>
          <a:prstGeom prst="rect">
            <a:avLst/>
          </a:prstGeom>
          <a:noFill/>
          <a:ln>
            <a:noFill/>
          </a:ln>
        </p:spPr>
        <p:txBody>
          <a:bodyPr wrap="square" rtlCol="0" anchor="ctr">
            <a:normAutofit/>
          </a:bodyPr>
          <a:lstStyle/>
          <a:p>
            <a:pPr marL="0" indent="0" algn="l">
              <a:buNone/>
            </a:pPr>
            <a:r>
              <a:rPr lang="en-US" sz="900" b="0" kern="0" dirty="0">
                <a:solidFill>
                  <a:srgbClr val="D0D8E8"/>
                </a:solidFill>
                <a:latin typeface="Calibri" pitchFamily="34" charset="0"/>
              </a:rPr>
              <a:t>The risk model uses a simplified Likelihood × Impact formula — advanced weighted scoring could improve precision.</a:t>
            </a:r>
          </a:p>
        </p:txBody>
      </p:sp>
      <p:sp>
        <p:nvSpPr>
          <p:cNvPr id="14" name="r365760"/>
          <p:cNvSpPr/>
          <p:nvPr/>
        </p:nvSpPr>
        <p:spPr>
          <a:xfrm>
            <a:off x="365760" y="2906076"/>
            <a:ext cx="4023360" cy="617220"/>
          </a:xfrm>
          <a:prstGeom prst="rect">
            <a:avLst/>
          </a:prstGeom>
          <a:solidFill>
            <a:srgbClr val="0A1640"/>
          </a:solidFill>
          <a:ln>
            <a:noFill/>
          </a:ln>
        </p:spPr>
      </p:sp>
      <p:sp>
        <p:nvSpPr>
          <p:cNvPr id="15" name="r365760"/>
          <p:cNvSpPr/>
          <p:nvPr/>
        </p:nvSpPr>
        <p:spPr>
          <a:xfrm>
            <a:off x="365760" y="2906076"/>
            <a:ext cx="54864" cy="617220"/>
          </a:xfrm>
          <a:prstGeom prst="rect">
            <a:avLst/>
          </a:prstGeom>
          <a:solidFill>
            <a:srgbClr val="FF6B6B"/>
          </a:solidFill>
          <a:ln>
            <a:noFill/>
          </a:ln>
        </p:spPr>
      </p:sp>
      <p:sp>
        <p:nvSpPr>
          <p:cNvPr id="16" name="t530352"/>
          <p:cNvSpPr txBox="1"/>
          <p:nvPr/>
        </p:nvSpPr>
        <p:spPr>
          <a:xfrm>
            <a:off x="530352" y="2983228"/>
            <a:ext cx="3657600" cy="488632"/>
          </a:xfrm>
          <a:prstGeom prst="rect">
            <a:avLst/>
          </a:prstGeom>
          <a:noFill/>
          <a:ln>
            <a:noFill/>
          </a:ln>
        </p:spPr>
        <p:txBody>
          <a:bodyPr wrap="square" rtlCol="0" anchor="ctr">
            <a:normAutofit/>
          </a:bodyPr>
          <a:lstStyle/>
          <a:p>
            <a:pPr marL="0" indent="0" algn="l">
              <a:buNone/>
            </a:pPr>
            <a:r>
              <a:rPr lang="en-US" sz="900" b="0" kern="0" dirty="0">
                <a:solidFill>
                  <a:srgbClr val="D0D8E8"/>
                </a:solidFill>
                <a:latin typeface="Calibri" pitchFamily="34" charset="0"/>
              </a:rPr>
              <a:t>Framework has not been tested on large enterprises or multinational organisations.</a:t>
            </a:r>
          </a:p>
        </p:txBody>
      </p:sp>
      <p:sp>
        <p:nvSpPr>
          <p:cNvPr id="17" name="r365760"/>
          <p:cNvSpPr/>
          <p:nvPr/>
        </p:nvSpPr>
        <p:spPr>
          <a:xfrm>
            <a:off x="365760" y="3600448"/>
            <a:ext cx="4023360" cy="617220"/>
          </a:xfrm>
          <a:prstGeom prst="rect">
            <a:avLst/>
          </a:prstGeom>
          <a:solidFill>
            <a:srgbClr val="0A1640"/>
          </a:solidFill>
          <a:ln>
            <a:noFill/>
          </a:ln>
        </p:spPr>
      </p:sp>
      <p:sp>
        <p:nvSpPr>
          <p:cNvPr id="18" name="r365760"/>
          <p:cNvSpPr/>
          <p:nvPr/>
        </p:nvSpPr>
        <p:spPr>
          <a:xfrm>
            <a:off x="365760" y="3600448"/>
            <a:ext cx="54864" cy="617220"/>
          </a:xfrm>
          <a:prstGeom prst="rect">
            <a:avLst/>
          </a:prstGeom>
          <a:solidFill>
            <a:srgbClr val="FF6B6B"/>
          </a:solidFill>
          <a:ln>
            <a:noFill/>
          </a:ln>
        </p:spPr>
      </p:sp>
      <p:sp>
        <p:nvSpPr>
          <p:cNvPr id="19" name="t530352"/>
          <p:cNvSpPr txBox="1"/>
          <p:nvPr/>
        </p:nvSpPr>
        <p:spPr>
          <a:xfrm>
            <a:off x="530352" y="3677600"/>
            <a:ext cx="3657600" cy="488632"/>
          </a:xfrm>
          <a:prstGeom prst="rect">
            <a:avLst/>
          </a:prstGeom>
          <a:noFill/>
          <a:ln>
            <a:noFill/>
          </a:ln>
        </p:spPr>
        <p:txBody>
          <a:bodyPr wrap="square" rtlCol="0" anchor="ctr">
            <a:normAutofit/>
          </a:bodyPr>
          <a:lstStyle/>
          <a:p>
            <a:pPr marL="0" indent="0" algn="l">
              <a:buNone/>
            </a:pPr>
            <a:r>
              <a:rPr lang="en-US" sz="900" b="0" kern="0" dirty="0">
                <a:solidFill>
                  <a:srgbClr val="D0D8E8"/>
                </a:solidFill>
                <a:latin typeface="Calibri" pitchFamily="34" charset="0"/>
              </a:rPr>
              <a:t>Threat landscape evolves rapidly; model requires periodic updates to remain current.</a:t>
            </a:r>
          </a:p>
        </p:txBody>
      </p:sp>
      <p:sp>
        <p:nvSpPr>
          <p:cNvPr id="20" name="r4846320"/>
          <p:cNvSpPr/>
          <p:nvPr/>
        </p:nvSpPr>
        <p:spPr>
          <a:xfrm>
            <a:off x="4846320" y="1105852"/>
            <a:ext cx="3931920" cy="282892"/>
          </a:xfrm>
          <a:prstGeom prst="rect">
            <a:avLst/>
          </a:prstGeom>
          <a:solidFill>
            <a:srgbClr val="001F6E"/>
          </a:solidFill>
          <a:ln>
            <a:noFill/>
          </a:ln>
        </p:spPr>
      </p:sp>
      <p:sp>
        <p:nvSpPr>
          <p:cNvPr id="21" name="t4937760"/>
          <p:cNvSpPr txBox="1"/>
          <p:nvPr/>
        </p:nvSpPr>
        <p:spPr>
          <a:xfrm>
            <a:off x="4937760" y="1116139"/>
            <a:ext cx="3657600" cy="257175"/>
          </a:xfrm>
          <a:prstGeom prst="rect">
            <a:avLst/>
          </a:prstGeom>
          <a:noFill/>
          <a:ln>
            <a:noFill/>
          </a:ln>
        </p:spPr>
        <p:txBody>
          <a:bodyPr wrap="square" rtlCol="0" anchor="ctr">
            <a:normAutofit lnSpcReduction="10000"/>
          </a:bodyPr>
          <a:lstStyle/>
          <a:p>
            <a:pPr marL="0" indent="0" algn="l">
              <a:buNone/>
            </a:pPr>
            <a:r>
              <a:rPr lang="en-US" sz="1100" b="1" kern="0" spc="300" dirty="0">
                <a:solidFill>
                  <a:srgbClr val="00D4FF"/>
                </a:solidFill>
                <a:latin typeface="Calibri" pitchFamily="34" charset="0"/>
              </a:rPr>
              <a:t>FUTURE SCOPE</a:t>
            </a:r>
          </a:p>
        </p:txBody>
      </p:sp>
      <p:sp>
        <p:nvSpPr>
          <p:cNvPr id="22" name="r4846320"/>
          <p:cNvSpPr/>
          <p:nvPr/>
        </p:nvSpPr>
        <p:spPr>
          <a:xfrm>
            <a:off x="4846320" y="1517332"/>
            <a:ext cx="4023360" cy="617220"/>
          </a:xfrm>
          <a:prstGeom prst="rect">
            <a:avLst/>
          </a:prstGeom>
          <a:solidFill>
            <a:srgbClr val="0A1640"/>
          </a:solidFill>
          <a:ln>
            <a:noFill/>
          </a:ln>
        </p:spPr>
      </p:sp>
      <p:sp>
        <p:nvSpPr>
          <p:cNvPr id="23" name="r4846320"/>
          <p:cNvSpPr/>
          <p:nvPr/>
        </p:nvSpPr>
        <p:spPr>
          <a:xfrm>
            <a:off x="4846320" y="1517332"/>
            <a:ext cx="54864" cy="617220"/>
          </a:xfrm>
          <a:prstGeom prst="rect">
            <a:avLst/>
          </a:prstGeom>
          <a:solidFill>
            <a:srgbClr val="00D4FF"/>
          </a:solidFill>
          <a:ln>
            <a:noFill/>
          </a:ln>
        </p:spPr>
      </p:sp>
      <p:sp>
        <p:nvSpPr>
          <p:cNvPr id="24" name="t5010912"/>
          <p:cNvSpPr txBox="1"/>
          <p:nvPr/>
        </p:nvSpPr>
        <p:spPr>
          <a:xfrm>
            <a:off x="5010912" y="1594484"/>
            <a:ext cx="3657600" cy="488632"/>
          </a:xfrm>
          <a:prstGeom prst="rect">
            <a:avLst/>
          </a:prstGeom>
          <a:noFill/>
          <a:ln>
            <a:noFill/>
          </a:ln>
        </p:spPr>
        <p:txBody>
          <a:bodyPr wrap="square" rtlCol="0" anchor="ctr">
            <a:normAutofit/>
          </a:bodyPr>
          <a:lstStyle/>
          <a:p>
            <a:pPr marL="0" indent="0" algn="l">
              <a:buNone/>
            </a:pPr>
            <a:r>
              <a:rPr lang="en-US" sz="900" b="0" kern="0" dirty="0">
                <a:solidFill>
                  <a:srgbClr val="D0D8E8"/>
                </a:solidFill>
                <a:latin typeface="Calibri" pitchFamily="34" charset="0"/>
              </a:rPr>
              <a:t>Integrate AI &amp; machine learning for real-time automated threat detection and risk scoring.</a:t>
            </a:r>
          </a:p>
        </p:txBody>
      </p:sp>
      <p:sp>
        <p:nvSpPr>
          <p:cNvPr id="25" name="r4846320"/>
          <p:cNvSpPr/>
          <p:nvPr/>
        </p:nvSpPr>
        <p:spPr>
          <a:xfrm>
            <a:off x="4846320" y="2211704"/>
            <a:ext cx="4023360" cy="617220"/>
          </a:xfrm>
          <a:prstGeom prst="rect">
            <a:avLst/>
          </a:prstGeom>
          <a:solidFill>
            <a:srgbClr val="0A1640"/>
          </a:solidFill>
          <a:ln>
            <a:noFill/>
          </a:ln>
        </p:spPr>
      </p:sp>
      <p:sp>
        <p:nvSpPr>
          <p:cNvPr id="26" name="r4846320"/>
          <p:cNvSpPr/>
          <p:nvPr/>
        </p:nvSpPr>
        <p:spPr>
          <a:xfrm>
            <a:off x="4846320" y="2211704"/>
            <a:ext cx="54864" cy="617220"/>
          </a:xfrm>
          <a:prstGeom prst="rect">
            <a:avLst/>
          </a:prstGeom>
          <a:solidFill>
            <a:srgbClr val="00D4FF"/>
          </a:solidFill>
          <a:ln>
            <a:noFill/>
          </a:ln>
        </p:spPr>
      </p:sp>
      <p:sp>
        <p:nvSpPr>
          <p:cNvPr id="27" name="t5010912"/>
          <p:cNvSpPr txBox="1"/>
          <p:nvPr/>
        </p:nvSpPr>
        <p:spPr>
          <a:xfrm>
            <a:off x="5010912" y="2288856"/>
            <a:ext cx="3657600" cy="488632"/>
          </a:xfrm>
          <a:prstGeom prst="rect">
            <a:avLst/>
          </a:prstGeom>
          <a:noFill/>
          <a:ln>
            <a:noFill/>
          </a:ln>
        </p:spPr>
        <p:txBody>
          <a:bodyPr wrap="square" rtlCol="0" anchor="ctr">
            <a:normAutofit/>
          </a:bodyPr>
          <a:lstStyle/>
          <a:p>
            <a:pPr marL="0" indent="0" algn="l">
              <a:buNone/>
            </a:pPr>
            <a:r>
              <a:rPr lang="en-US" sz="900" b="0" kern="0" dirty="0">
                <a:solidFill>
                  <a:srgbClr val="D0D8E8"/>
                </a:solidFill>
                <a:latin typeface="Calibri" pitchFamily="34" charset="0"/>
              </a:rPr>
              <a:t>Develop an automated risk scoring tool / dashboard SMEs can self-administer with minimal expertise.</a:t>
            </a:r>
          </a:p>
        </p:txBody>
      </p:sp>
      <p:sp>
        <p:nvSpPr>
          <p:cNvPr id="28" name="r4846320"/>
          <p:cNvSpPr/>
          <p:nvPr/>
        </p:nvSpPr>
        <p:spPr>
          <a:xfrm>
            <a:off x="4846320" y="2906076"/>
            <a:ext cx="4023360" cy="617220"/>
          </a:xfrm>
          <a:prstGeom prst="rect">
            <a:avLst/>
          </a:prstGeom>
          <a:solidFill>
            <a:srgbClr val="0A1640"/>
          </a:solidFill>
          <a:ln>
            <a:noFill/>
          </a:ln>
        </p:spPr>
      </p:sp>
      <p:sp>
        <p:nvSpPr>
          <p:cNvPr id="29" name="r4846320"/>
          <p:cNvSpPr/>
          <p:nvPr/>
        </p:nvSpPr>
        <p:spPr>
          <a:xfrm>
            <a:off x="4846320" y="2906076"/>
            <a:ext cx="54864" cy="617220"/>
          </a:xfrm>
          <a:prstGeom prst="rect">
            <a:avLst/>
          </a:prstGeom>
          <a:solidFill>
            <a:srgbClr val="00D4FF"/>
          </a:solidFill>
          <a:ln>
            <a:noFill/>
          </a:ln>
        </p:spPr>
      </p:sp>
      <p:sp>
        <p:nvSpPr>
          <p:cNvPr id="30" name="t5010912"/>
          <p:cNvSpPr txBox="1"/>
          <p:nvPr/>
        </p:nvSpPr>
        <p:spPr>
          <a:xfrm>
            <a:off x="5010912" y="2983228"/>
            <a:ext cx="3657600" cy="488632"/>
          </a:xfrm>
          <a:prstGeom prst="rect">
            <a:avLst/>
          </a:prstGeom>
          <a:noFill/>
          <a:ln>
            <a:noFill/>
          </a:ln>
        </p:spPr>
        <p:txBody>
          <a:bodyPr wrap="square" rtlCol="0" anchor="ctr">
            <a:normAutofit/>
          </a:bodyPr>
          <a:lstStyle/>
          <a:p>
            <a:pPr marL="0" indent="0" algn="l">
              <a:buNone/>
            </a:pPr>
            <a:r>
              <a:rPr lang="en-US" sz="900" b="0" kern="0" dirty="0">
                <a:solidFill>
                  <a:srgbClr val="D0D8E8"/>
                </a:solidFill>
                <a:latin typeface="Calibri" pitchFamily="34" charset="0"/>
              </a:rPr>
              <a:t>Expand the framework to cover cloud security, IoT devices, and remote-work environments.</a:t>
            </a:r>
          </a:p>
        </p:txBody>
      </p:sp>
      <p:sp>
        <p:nvSpPr>
          <p:cNvPr id="31" name="r4846320"/>
          <p:cNvSpPr/>
          <p:nvPr/>
        </p:nvSpPr>
        <p:spPr>
          <a:xfrm>
            <a:off x="4846320" y="3600448"/>
            <a:ext cx="4023360" cy="617220"/>
          </a:xfrm>
          <a:prstGeom prst="rect">
            <a:avLst/>
          </a:prstGeom>
          <a:solidFill>
            <a:srgbClr val="0A1640"/>
          </a:solidFill>
          <a:ln>
            <a:noFill/>
          </a:ln>
        </p:spPr>
      </p:sp>
      <p:sp>
        <p:nvSpPr>
          <p:cNvPr id="32" name="r4846320"/>
          <p:cNvSpPr/>
          <p:nvPr/>
        </p:nvSpPr>
        <p:spPr>
          <a:xfrm>
            <a:off x="4846320" y="3600448"/>
            <a:ext cx="54864" cy="617220"/>
          </a:xfrm>
          <a:prstGeom prst="rect">
            <a:avLst/>
          </a:prstGeom>
          <a:solidFill>
            <a:srgbClr val="00D4FF"/>
          </a:solidFill>
          <a:ln>
            <a:noFill/>
          </a:ln>
        </p:spPr>
      </p:sp>
      <p:sp>
        <p:nvSpPr>
          <p:cNvPr id="33" name="t5010912"/>
          <p:cNvSpPr txBox="1"/>
          <p:nvPr/>
        </p:nvSpPr>
        <p:spPr>
          <a:xfrm>
            <a:off x="5010912" y="3677600"/>
            <a:ext cx="3657600" cy="488632"/>
          </a:xfrm>
          <a:prstGeom prst="rect">
            <a:avLst/>
          </a:prstGeom>
          <a:noFill/>
          <a:ln>
            <a:noFill/>
          </a:ln>
        </p:spPr>
        <p:txBody>
          <a:bodyPr wrap="square" rtlCol="0" anchor="ctr">
            <a:normAutofit/>
          </a:bodyPr>
          <a:lstStyle/>
          <a:p>
            <a:pPr marL="0" indent="0" algn="l">
              <a:buNone/>
            </a:pPr>
            <a:r>
              <a:rPr lang="en-US" sz="900" b="0" kern="0" dirty="0">
                <a:solidFill>
                  <a:srgbClr val="D0D8E8"/>
                </a:solidFill>
                <a:latin typeface="Calibri" pitchFamily="34" charset="0"/>
              </a:rPr>
              <a:t>Align with additional standards: ISO/IEC 27001, GDPR compliance, and OWASP Top 10.</a:t>
            </a:r>
          </a:p>
        </p:txBody>
      </p:sp>
      <p:sp>
        <p:nvSpPr>
          <p:cNvPr id="34" name="t365760"/>
          <p:cNvSpPr txBox="1"/>
          <p:nvPr/>
        </p:nvSpPr>
        <p:spPr>
          <a:xfrm>
            <a:off x="365760" y="4603432"/>
            <a:ext cx="5029200" cy="308610"/>
          </a:xfrm>
          <a:prstGeom prst="rect">
            <a:avLst/>
          </a:prstGeom>
          <a:noFill/>
          <a:ln>
            <a:noFill/>
          </a:ln>
        </p:spPr>
        <p:txBody>
          <a:bodyPr wrap="square" rtlCol="0" anchor="ctr">
            <a:normAutofit/>
          </a:bodyPr>
          <a:lstStyle/>
          <a:p>
            <a:pPr marL="0" indent="0" algn="l">
              <a:buNone/>
            </a:pPr>
            <a:r>
              <a:rPr lang="en-US" sz="900" b="0" kern="0" dirty="0">
                <a:solidFill>
                  <a:srgbClr val="7EC8E3"/>
                </a:solidFill>
                <a:latin typeface="Calibri" pitchFamily="34" charset="0"/>
              </a:rPr>
              <a:t>Cybersecurity Risk Assessment Framework  ·  Minor Project I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60E2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r0"/>
          <p:cNvSpPr/>
          <p:nvPr/>
        </p:nvSpPr>
        <p:spPr>
          <a:xfrm>
            <a:off x="0" y="0"/>
            <a:ext cx="64008" cy="5143500"/>
          </a:xfrm>
          <a:prstGeom prst="rect">
            <a:avLst/>
          </a:prstGeom>
          <a:solidFill>
            <a:srgbClr val="00D4FF"/>
          </a:solidFill>
          <a:ln>
            <a:noFill/>
          </a:ln>
        </p:spPr>
      </p:sp>
      <p:sp>
        <p:nvSpPr>
          <p:cNvPr id="2" name="r0"/>
          <p:cNvSpPr/>
          <p:nvPr/>
        </p:nvSpPr>
        <p:spPr>
          <a:xfrm>
            <a:off x="0" y="0"/>
            <a:ext cx="9144000" cy="41148"/>
          </a:xfrm>
          <a:prstGeom prst="rect">
            <a:avLst/>
          </a:prstGeom>
          <a:solidFill>
            <a:srgbClr val="00D4FF">
              <a:alpha val="40000"/>
            </a:srgbClr>
          </a:solidFill>
          <a:ln>
            <a:noFill/>
          </a:ln>
        </p:spPr>
      </p:sp>
      <p:sp>
        <p:nvSpPr>
          <p:cNvPr id="3" name="r0"/>
          <p:cNvSpPr/>
          <p:nvPr/>
        </p:nvSpPr>
        <p:spPr>
          <a:xfrm>
            <a:off x="0" y="4526280"/>
            <a:ext cx="9144000" cy="617220"/>
          </a:xfrm>
          <a:prstGeom prst="rect">
            <a:avLst/>
          </a:prstGeom>
          <a:solidFill>
            <a:srgbClr val="001040"/>
          </a:solidFill>
          <a:ln>
            <a:noFill/>
          </a:ln>
        </p:spPr>
      </p:sp>
      <p:sp>
        <p:nvSpPr>
          <p:cNvPr id="4" name="r0"/>
          <p:cNvSpPr/>
          <p:nvPr/>
        </p:nvSpPr>
        <p:spPr>
          <a:xfrm>
            <a:off x="0" y="4526280"/>
            <a:ext cx="64008" cy="617220"/>
          </a:xfrm>
          <a:prstGeom prst="rect">
            <a:avLst/>
          </a:prstGeom>
          <a:solidFill>
            <a:srgbClr val="00D4FF"/>
          </a:solidFill>
          <a:ln>
            <a:noFill/>
          </a:ln>
        </p:spPr>
      </p:sp>
      <p:sp>
        <p:nvSpPr>
          <p:cNvPr id="5" name="r182880"/>
          <p:cNvSpPr/>
          <p:nvPr/>
        </p:nvSpPr>
        <p:spPr>
          <a:xfrm>
            <a:off x="182880" y="308610"/>
            <a:ext cx="8778240" cy="668655"/>
          </a:xfrm>
          <a:prstGeom prst="rect">
            <a:avLst/>
          </a:prstGeom>
          <a:solidFill>
            <a:srgbClr val="0A1640"/>
          </a:solidFill>
          <a:ln>
            <a:noFill/>
          </a:ln>
        </p:spPr>
      </p:sp>
      <p:sp>
        <p:nvSpPr>
          <p:cNvPr id="51" name="t457200"/>
          <p:cNvSpPr txBox="1"/>
          <p:nvPr/>
        </p:nvSpPr>
        <p:spPr>
          <a:xfrm>
            <a:off x="457200" y="334327"/>
            <a:ext cx="8046720" cy="617220"/>
          </a:xfrm>
          <a:prstGeom prst="rect">
            <a:avLst/>
          </a:prstGeom>
          <a:noFill/>
          <a:ln>
            <a:noFill/>
          </a:ln>
        </p:spPr>
        <p:txBody>
          <a:bodyPr wrap="square" rtlCol="0" anchor="ctr">
            <a:normAutofit/>
          </a:bodyPr>
          <a:lstStyle/>
          <a:p>
            <a:pPr marL="0" indent="0" algn="l">
              <a:buNone/>
            </a:pPr>
            <a:r>
              <a:rPr lang="en-US" sz="2200" b="1" kern="0" spc="200" dirty="0">
                <a:solidFill>
                  <a:srgbClr val="00D4FF"/>
                </a:solidFill>
                <a:latin typeface="Calibri" pitchFamily="34" charset="0"/>
              </a:rPr>
              <a:t>References &amp; Bibliography</a:t>
            </a:r>
          </a:p>
        </p:txBody>
      </p:sp>
      <p:sp>
        <p:nvSpPr>
          <p:cNvPr id="6" name="t457200"/>
          <p:cNvSpPr txBox="1"/>
          <p:nvPr/>
        </p:nvSpPr>
        <p:spPr>
          <a:xfrm>
            <a:off x="457200" y="951547"/>
            <a:ext cx="8046720" cy="360045"/>
          </a:xfrm>
          <a:prstGeom prst="rect">
            <a:avLst/>
          </a:prstGeom>
          <a:noFill/>
          <a:ln>
            <a:noFill/>
          </a:ln>
        </p:spPr>
        <p:txBody>
          <a:bodyPr wrap="square" rtlCol="0" anchor="ctr">
            <a:normAutofit/>
          </a:bodyPr>
          <a:lstStyle/>
          <a:p>
            <a:pPr marL="0" indent="0" algn="l">
              <a:buNone/>
            </a:pPr>
            <a:r>
              <a:rPr lang="en-US" sz="1100" b="0" kern="0" dirty="0">
                <a:solidFill>
                  <a:srgbClr val="7EC8E3"/>
                </a:solidFill>
                <a:latin typeface="Calibri" pitchFamily="34" charset="0"/>
              </a:rPr>
              <a:t>Standards, frameworks, and sources used in this project</a:t>
            </a:r>
          </a:p>
        </p:txBody>
      </p:sp>
      <p:sp>
        <p:nvSpPr>
          <p:cNvPr id="7" name="r365760"/>
          <p:cNvSpPr/>
          <p:nvPr/>
        </p:nvSpPr>
        <p:spPr>
          <a:xfrm>
            <a:off x="365760" y="1183005"/>
            <a:ext cx="4160520" cy="951547"/>
          </a:xfrm>
          <a:prstGeom prst="rect">
            <a:avLst/>
          </a:prstGeom>
          <a:solidFill>
            <a:srgbClr val="0A1640"/>
          </a:solidFill>
          <a:ln>
            <a:noFill/>
          </a:ln>
        </p:spPr>
      </p:sp>
      <p:sp>
        <p:nvSpPr>
          <p:cNvPr id="8" name="r365760"/>
          <p:cNvSpPr/>
          <p:nvPr/>
        </p:nvSpPr>
        <p:spPr>
          <a:xfrm>
            <a:off x="365760" y="1183005"/>
            <a:ext cx="54864" cy="951547"/>
          </a:xfrm>
          <a:prstGeom prst="rect">
            <a:avLst/>
          </a:prstGeom>
          <a:solidFill>
            <a:srgbClr val="00D4FF"/>
          </a:solidFill>
          <a:ln>
            <a:noFill/>
          </a:ln>
        </p:spPr>
      </p:sp>
      <p:sp>
        <p:nvSpPr>
          <p:cNvPr id="9" name="t502920"/>
          <p:cNvSpPr txBox="1"/>
          <p:nvPr/>
        </p:nvSpPr>
        <p:spPr>
          <a:xfrm>
            <a:off x="502920" y="1234440"/>
            <a:ext cx="548640" cy="282892"/>
          </a:xfrm>
          <a:prstGeom prst="rect">
            <a:avLst/>
          </a:prstGeom>
          <a:noFill/>
          <a:ln>
            <a:noFill/>
          </a:ln>
        </p:spPr>
        <p:txBody>
          <a:bodyPr wrap="square" rtlCol="0" anchor="ctr">
            <a:normAutofit/>
          </a:bodyPr>
          <a:lstStyle/>
          <a:p>
            <a:pPr marL="0" indent="0" algn="l">
              <a:buNone/>
            </a:pPr>
            <a:r>
              <a:rPr lang="en-US" sz="1000" b="1" kern="0" dirty="0">
                <a:solidFill>
                  <a:srgbClr val="00D4FF"/>
                </a:solidFill>
                <a:latin typeface="Calibri" pitchFamily="34" charset="0"/>
              </a:rPr>
              <a:t>[1]</a:t>
            </a:r>
          </a:p>
        </p:txBody>
      </p:sp>
      <p:sp>
        <p:nvSpPr>
          <p:cNvPr id="10" name="t502920"/>
          <p:cNvSpPr txBox="1"/>
          <p:nvPr/>
        </p:nvSpPr>
        <p:spPr>
          <a:xfrm>
            <a:off x="502920" y="1517332"/>
            <a:ext cx="3931920" cy="282892"/>
          </a:xfrm>
          <a:prstGeom prst="rect">
            <a:avLst/>
          </a:prstGeom>
          <a:noFill/>
          <a:ln>
            <a:noFill/>
          </a:ln>
        </p:spPr>
        <p:txBody>
          <a:bodyPr wrap="square" rtlCol="0" anchor="ctr">
            <a:normAutofit/>
          </a:bodyPr>
          <a:lstStyle/>
          <a:p>
            <a:pPr marL="0" indent="0" algn="l">
              <a:buNone/>
            </a:pPr>
            <a:r>
              <a:rPr lang="en-US" sz="1000" b="1" kern="0" dirty="0">
                <a:solidFill>
                  <a:srgbClr val="FFFFFF"/>
                </a:solidFill>
                <a:latin typeface="Calibri" pitchFamily="34" charset="0"/>
              </a:rPr>
              <a:t>NIST Cybersecurity Framework (CSF) v2.0</a:t>
            </a:r>
          </a:p>
        </p:txBody>
      </p:sp>
      <p:sp>
        <p:nvSpPr>
          <p:cNvPr id="11" name="t502920"/>
          <p:cNvSpPr txBox="1"/>
          <p:nvPr/>
        </p:nvSpPr>
        <p:spPr>
          <a:xfrm>
            <a:off x="502920" y="1774507"/>
            <a:ext cx="3931920" cy="334327"/>
          </a:xfrm>
          <a:prstGeom prst="rect">
            <a:avLst/>
          </a:prstGeom>
          <a:noFill/>
          <a:ln>
            <a:noFill/>
          </a:ln>
        </p:spPr>
        <p:txBody>
          <a:bodyPr wrap="square" rtlCol="0" anchor="ctr">
            <a:normAutofit lnSpcReduction="10000"/>
          </a:bodyPr>
          <a:lstStyle/>
          <a:p>
            <a:pPr marL="0" indent="0" algn="l">
              <a:buNone/>
            </a:pPr>
            <a:r>
              <a:rPr lang="en-US" sz="800" b="0" kern="0" dirty="0">
                <a:solidFill>
                  <a:srgbClr val="8BAED6"/>
                </a:solidFill>
                <a:latin typeface="Calibri" pitchFamily="34" charset="0"/>
              </a:rPr>
              <a:t>National Institute of Standards and Technology. (2024). Cybersecurity Framework. https://www.nist.gov/cyberframework</a:t>
            </a:r>
          </a:p>
        </p:txBody>
      </p:sp>
      <p:sp>
        <p:nvSpPr>
          <p:cNvPr id="12" name="r365760"/>
          <p:cNvSpPr/>
          <p:nvPr/>
        </p:nvSpPr>
        <p:spPr>
          <a:xfrm>
            <a:off x="365760" y="2237422"/>
            <a:ext cx="4160520" cy="951547"/>
          </a:xfrm>
          <a:prstGeom prst="rect">
            <a:avLst/>
          </a:prstGeom>
          <a:solidFill>
            <a:srgbClr val="0A1640"/>
          </a:solidFill>
          <a:ln>
            <a:noFill/>
          </a:ln>
        </p:spPr>
      </p:sp>
      <p:sp>
        <p:nvSpPr>
          <p:cNvPr id="13" name="r365760"/>
          <p:cNvSpPr/>
          <p:nvPr/>
        </p:nvSpPr>
        <p:spPr>
          <a:xfrm>
            <a:off x="365760" y="2237422"/>
            <a:ext cx="54864" cy="951547"/>
          </a:xfrm>
          <a:prstGeom prst="rect">
            <a:avLst/>
          </a:prstGeom>
          <a:solidFill>
            <a:srgbClr val="00D4FF"/>
          </a:solidFill>
          <a:ln>
            <a:noFill/>
          </a:ln>
        </p:spPr>
      </p:sp>
      <p:sp>
        <p:nvSpPr>
          <p:cNvPr id="14" name="t502920"/>
          <p:cNvSpPr txBox="1"/>
          <p:nvPr/>
        </p:nvSpPr>
        <p:spPr>
          <a:xfrm>
            <a:off x="502920" y="2288857"/>
            <a:ext cx="548640" cy="282892"/>
          </a:xfrm>
          <a:prstGeom prst="rect">
            <a:avLst/>
          </a:prstGeom>
          <a:noFill/>
          <a:ln>
            <a:noFill/>
          </a:ln>
        </p:spPr>
        <p:txBody>
          <a:bodyPr wrap="square" rtlCol="0" anchor="ctr">
            <a:normAutofit/>
          </a:bodyPr>
          <a:lstStyle/>
          <a:p>
            <a:pPr marL="0" indent="0" algn="l">
              <a:buNone/>
            </a:pPr>
            <a:r>
              <a:rPr lang="en-US" sz="1000" b="1" kern="0" dirty="0">
                <a:solidFill>
                  <a:srgbClr val="00D4FF"/>
                </a:solidFill>
                <a:latin typeface="Calibri" pitchFamily="34" charset="0"/>
              </a:rPr>
              <a:t>[2]</a:t>
            </a:r>
          </a:p>
        </p:txBody>
      </p:sp>
      <p:sp>
        <p:nvSpPr>
          <p:cNvPr id="15" name="t502920"/>
          <p:cNvSpPr txBox="1"/>
          <p:nvPr/>
        </p:nvSpPr>
        <p:spPr>
          <a:xfrm>
            <a:off x="502920" y="2571749"/>
            <a:ext cx="3931920" cy="282892"/>
          </a:xfrm>
          <a:prstGeom prst="rect">
            <a:avLst/>
          </a:prstGeom>
          <a:noFill/>
          <a:ln>
            <a:noFill/>
          </a:ln>
        </p:spPr>
        <p:txBody>
          <a:bodyPr wrap="square" rtlCol="0" anchor="ctr">
            <a:normAutofit/>
          </a:bodyPr>
          <a:lstStyle/>
          <a:p>
            <a:pPr marL="0" indent="0" algn="l">
              <a:buNone/>
            </a:pPr>
            <a:r>
              <a:rPr lang="en-US" sz="1000" b="1" kern="0" dirty="0">
                <a:solidFill>
                  <a:srgbClr val="FFFFFF"/>
                </a:solidFill>
                <a:latin typeface="Calibri" pitchFamily="34" charset="0"/>
              </a:rPr>
              <a:t>ISO/IEC 27001:2022 — Information Security Management</a:t>
            </a:r>
          </a:p>
        </p:txBody>
      </p:sp>
      <p:sp>
        <p:nvSpPr>
          <p:cNvPr id="16" name="t502920"/>
          <p:cNvSpPr txBox="1"/>
          <p:nvPr/>
        </p:nvSpPr>
        <p:spPr>
          <a:xfrm>
            <a:off x="502920" y="2828924"/>
            <a:ext cx="3931920" cy="334327"/>
          </a:xfrm>
          <a:prstGeom prst="rect">
            <a:avLst/>
          </a:prstGeom>
          <a:noFill/>
          <a:ln>
            <a:noFill/>
          </a:ln>
        </p:spPr>
        <p:txBody>
          <a:bodyPr wrap="square" rtlCol="0" anchor="ctr">
            <a:normAutofit lnSpcReduction="10000"/>
          </a:bodyPr>
          <a:lstStyle/>
          <a:p>
            <a:pPr marL="0" indent="0" algn="l">
              <a:buNone/>
            </a:pPr>
            <a:r>
              <a:rPr lang="en-US" sz="800" b="0" kern="0" dirty="0">
                <a:solidFill>
                  <a:srgbClr val="8BAED6"/>
                </a:solidFill>
                <a:latin typeface="Calibri" pitchFamily="34" charset="0"/>
              </a:rPr>
              <a:t>International Organization for Standardization. Information security, cybersecurity and privacy protection.</a:t>
            </a:r>
          </a:p>
        </p:txBody>
      </p:sp>
      <p:sp>
        <p:nvSpPr>
          <p:cNvPr id="17" name="r365760"/>
          <p:cNvSpPr/>
          <p:nvPr/>
        </p:nvSpPr>
        <p:spPr>
          <a:xfrm>
            <a:off x="365760" y="3291839"/>
            <a:ext cx="4160520" cy="951547"/>
          </a:xfrm>
          <a:prstGeom prst="rect">
            <a:avLst/>
          </a:prstGeom>
          <a:solidFill>
            <a:srgbClr val="0A1640"/>
          </a:solidFill>
          <a:ln>
            <a:noFill/>
          </a:ln>
        </p:spPr>
      </p:sp>
      <p:sp>
        <p:nvSpPr>
          <p:cNvPr id="18" name="r365760"/>
          <p:cNvSpPr/>
          <p:nvPr/>
        </p:nvSpPr>
        <p:spPr>
          <a:xfrm>
            <a:off x="365760" y="3291839"/>
            <a:ext cx="54864" cy="951547"/>
          </a:xfrm>
          <a:prstGeom prst="rect">
            <a:avLst/>
          </a:prstGeom>
          <a:solidFill>
            <a:srgbClr val="00D4FF"/>
          </a:solidFill>
          <a:ln>
            <a:noFill/>
          </a:ln>
        </p:spPr>
      </p:sp>
      <p:sp>
        <p:nvSpPr>
          <p:cNvPr id="19" name="t502920"/>
          <p:cNvSpPr txBox="1"/>
          <p:nvPr/>
        </p:nvSpPr>
        <p:spPr>
          <a:xfrm>
            <a:off x="502920" y="3343274"/>
            <a:ext cx="548640" cy="282892"/>
          </a:xfrm>
          <a:prstGeom prst="rect">
            <a:avLst/>
          </a:prstGeom>
          <a:noFill/>
          <a:ln>
            <a:noFill/>
          </a:ln>
        </p:spPr>
        <p:txBody>
          <a:bodyPr wrap="square" rtlCol="0" anchor="ctr">
            <a:normAutofit/>
          </a:bodyPr>
          <a:lstStyle/>
          <a:p>
            <a:pPr marL="0" indent="0" algn="l">
              <a:buNone/>
            </a:pPr>
            <a:r>
              <a:rPr lang="en-US" sz="1000" b="1" kern="0" dirty="0">
                <a:solidFill>
                  <a:srgbClr val="00D4FF"/>
                </a:solidFill>
                <a:latin typeface="Calibri" pitchFamily="34" charset="0"/>
              </a:rPr>
              <a:t>[3]</a:t>
            </a:r>
          </a:p>
        </p:txBody>
      </p:sp>
      <p:sp>
        <p:nvSpPr>
          <p:cNvPr id="20" name="t502920"/>
          <p:cNvSpPr txBox="1"/>
          <p:nvPr/>
        </p:nvSpPr>
        <p:spPr>
          <a:xfrm>
            <a:off x="502920" y="3626166"/>
            <a:ext cx="3931920" cy="282892"/>
          </a:xfrm>
          <a:prstGeom prst="rect">
            <a:avLst/>
          </a:prstGeom>
          <a:noFill/>
          <a:ln>
            <a:noFill/>
          </a:ln>
        </p:spPr>
        <p:txBody>
          <a:bodyPr wrap="square" rtlCol="0" anchor="ctr">
            <a:normAutofit/>
          </a:bodyPr>
          <a:lstStyle/>
          <a:p>
            <a:pPr marL="0" indent="0" algn="l">
              <a:buNone/>
            </a:pPr>
            <a:r>
              <a:rPr lang="en-US" sz="1000" b="1" kern="0" dirty="0">
                <a:solidFill>
                  <a:srgbClr val="FFFFFF"/>
                </a:solidFill>
                <a:latin typeface="Calibri" pitchFamily="34" charset="0"/>
              </a:rPr>
              <a:t>OWASP Top 10 — Web Application Security Risks</a:t>
            </a:r>
          </a:p>
        </p:txBody>
      </p:sp>
      <p:sp>
        <p:nvSpPr>
          <p:cNvPr id="21" name="t502920"/>
          <p:cNvSpPr txBox="1"/>
          <p:nvPr/>
        </p:nvSpPr>
        <p:spPr>
          <a:xfrm>
            <a:off x="502920" y="3883341"/>
            <a:ext cx="3931920" cy="334327"/>
          </a:xfrm>
          <a:prstGeom prst="rect">
            <a:avLst/>
          </a:prstGeom>
          <a:noFill/>
          <a:ln>
            <a:noFill/>
          </a:ln>
        </p:spPr>
        <p:txBody>
          <a:bodyPr wrap="square" rtlCol="0" anchor="ctr">
            <a:normAutofit lnSpcReduction="10000"/>
          </a:bodyPr>
          <a:lstStyle/>
          <a:p>
            <a:pPr marL="0" indent="0" algn="l">
              <a:buNone/>
            </a:pPr>
            <a:r>
              <a:rPr lang="en-US" sz="800" b="0" kern="0" dirty="0">
                <a:solidFill>
                  <a:srgbClr val="8BAED6"/>
                </a:solidFill>
                <a:latin typeface="Calibri" pitchFamily="34" charset="0"/>
              </a:rPr>
              <a:t>Open Web Application Security Project. (2021). OWASP Top 10. https://owasp.org/www-project-top-ten/</a:t>
            </a:r>
          </a:p>
        </p:txBody>
      </p:sp>
      <p:sp>
        <p:nvSpPr>
          <p:cNvPr id="22" name="r4846320"/>
          <p:cNvSpPr/>
          <p:nvPr/>
        </p:nvSpPr>
        <p:spPr>
          <a:xfrm>
            <a:off x="4846320" y="1183005"/>
            <a:ext cx="4160520" cy="951547"/>
          </a:xfrm>
          <a:prstGeom prst="rect">
            <a:avLst/>
          </a:prstGeom>
          <a:solidFill>
            <a:srgbClr val="0A1640"/>
          </a:solidFill>
          <a:ln>
            <a:noFill/>
          </a:ln>
        </p:spPr>
      </p:sp>
      <p:sp>
        <p:nvSpPr>
          <p:cNvPr id="23" name="r4846320"/>
          <p:cNvSpPr/>
          <p:nvPr/>
        </p:nvSpPr>
        <p:spPr>
          <a:xfrm>
            <a:off x="4846320" y="1183005"/>
            <a:ext cx="54864" cy="951547"/>
          </a:xfrm>
          <a:prstGeom prst="rect">
            <a:avLst/>
          </a:prstGeom>
          <a:solidFill>
            <a:srgbClr val="00D4FF"/>
          </a:solidFill>
          <a:ln>
            <a:noFill/>
          </a:ln>
        </p:spPr>
      </p:sp>
      <p:sp>
        <p:nvSpPr>
          <p:cNvPr id="24" name="t4983480"/>
          <p:cNvSpPr txBox="1"/>
          <p:nvPr/>
        </p:nvSpPr>
        <p:spPr>
          <a:xfrm>
            <a:off x="4983480" y="1234440"/>
            <a:ext cx="548640" cy="282892"/>
          </a:xfrm>
          <a:prstGeom prst="rect">
            <a:avLst/>
          </a:prstGeom>
          <a:noFill/>
          <a:ln>
            <a:noFill/>
          </a:ln>
        </p:spPr>
        <p:txBody>
          <a:bodyPr wrap="square" rtlCol="0" anchor="ctr">
            <a:normAutofit/>
          </a:bodyPr>
          <a:lstStyle/>
          <a:p>
            <a:pPr marL="0" indent="0" algn="l">
              <a:buNone/>
            </a:pPr>
            <a:r>
              <a:rPr lang="en-US" sz="1000" b="1" kern="0" dirty="0">
                <a:solidFill>
                  <a:srgbClr val="00D4FF"/>
                </a:solidFill>
                <a:latin typeface="Calibri" pitchFamily="34" charset="0"/>
              </a:rPr>
              <a:t>[4]</a:t>
            </a:r>
          </a:p>
        </p:txBody>
      </p:sp>
      <p:sp>
        <p:nvSpPr>
          <p:cNvPr id="25" name="t4983480"/>
          <p:cNvSpPr txBox="1"/>
          <p:nvPr/>
        </p:nvSpPr>
        <p:spPr>
          <a:xfrm>
            <a:off x="4983480" y="1517332"/>
            <a:ext cx="3931920" cy="282892"/>
          </a:xfrm>
          <a:prstGeom prst="rect">
            <a:avLst/>
          </a:prstGeom>
          <a:noFill/>
          <a:ln>
            <a:noFill/>
          </a:ln>
        </p:spPr>
        <p:txBody>
          <a:bodyPr wrap="square" rtlCol="0" anchor="ctr">
            <a:normAutofit/>
          </a:bodyPr>
          <a:lstStyle/>
          <a:p>
            <a:pPr marL="0" indent="0" algn="l">
              <a:buNone/>
            </a:pPr>
            <a:r>
              <a:rPr lang="en-US" sz="1000" b="1" kern="0" dirty="0">
                <a:solidFill>
                  <a:srgbClr val="FFFFFF"/>
                </a:solidFill>
                <a:latin typeface="Calibri" pitchFamily="34" charset="0"/>
              </a:rPr>
              <a:t>Cybersecurity for Small Businesses — FCC Guide</a:t>
            </a:r>
          </a:p>
        </p:txBody>
      </p:sp>
      <p:sp>
        <p:nvSpPr>
          <p:cNvPr id="26" name="t4983480"/>
          <p:cNvSpPr txBox="1"/>
          <p:nvPr/>
        </p:nvSpPr>
        <p:spPr>
          <a:xfrm>
            <a:off x="4983480" y="1774507"/>
            <a:ext cx="3931920" cy="334327"/>
          </a:xfrm>
          <a:prstGeom prst="rect">
            <a:avLst/>
          </a:prstGeom>
          <a:noFill/>
          <a:ln>
            <a:noFill/>
          </a:ln>
        </p:spPr>
        <p:txBody>
          <a:bodyPr wrap="square" rtlCol="0" anchor="ctr">
            <a:normAutofit lnSpcReduction="10000"/>
          </a:bodyPr>
          <a:lstStyle/>
          <a:p>
            <a:pPr marL="0" indent="0" algn="l">
              <a:buNone/>
            </a:pPr>
            <a:r>
              <a:rPr lang="en-US" sz="800" b="0" kern="0" dirty="0">
                <a:solidFill>
                  <a:srgbClr val="8BAED6"/>
                </a:solidFill>
                <a:latin typeface="Calibri" pitchFamily="34" charset="0"/>
              </a:rPr>
              <a:t>Federal Communications Commission. Cybersecurity Planning Guide for Small Businesses. https://www.fcc.gov/cyberplanner</a:t>
            </a:r>
          </a:p>
        </p:txBody>
      </p:sp>
      <p:sp>
        <p:nvSpPr>
          <p:cNvPr id="27" name="r4846320"/>
          <p:cNvSpPr/>
          <p:nvPr/>
        </p:nvSpPr>
        <p:spPr>
          <a:xfrm>
            <a:off x="4846320" y="2237422"/>
            <a:ext cx="4160520" cy="951547"/>
          </a:xfrm>
          <a:prstGeom prst="rect">
            <a:avLst/>
          </a:prstGeom>
          <a:solidFill>
            <a:srgbClr val="0A1640"/>
          </a:solidFill>
          <a:ln>
            <a:noFill/>
          </a:ln>
        </p:spPr>
      </p:sp>
      <p:sp>
        <p:nvSpPr>
          <p:cNvPr id="28" name="r4846320"/>
          <p:cNvSpPr/>
          <p:nvPr/>
        </p:nvSpPr>
        <p:spPr>
          <a:xfrm>
            <a:off x="4846320" y="2237422"/>
            <a:ext cx="54864" cy="951547"/>
          </a:xfrm>
          <a:prstGeom prst="rect">
            <a:avLst/>
          </a:prstGeom>
          <a:solidFill>
            <a:srgbClr val="00D4FF"/>
          </a:solidFill>
          <a:ln>
            <a:noFill/>
          </a:ln>
        </p:spPr>
      </p:sp>
      <p:sp>
        <p:nvSpPr>
          <p:cNvPr id="29" name="t4983480"/>
          <p:cNvSpPr txBox="1"/>
          <p:nvPr/>
        </p:nvSpPr>
        <p:spPr>
          <a:xfrm>
            <a:off x="4983480" y="2288857"/>
            <a:ext cx="548640" cy="282892"/>
          </a:xfrm>
          <a:prstGeom prst="rect">
            <a:avLst/>
          </a:prstGeom>
          <a:noFill/>
          <a:ln>
            <a:noFill/>
          </a:ln>
        </p:spPr>
        <p:txBody>
          <a:bodyPr wrap="square" rtlCol="0" anchor="ctr">
            <a:normAutofit/>
          </a:bodyPr>
          <a:lstStyle/>
          <a:p>
            <a:pPr marL="0" indent="0" algn="l">
              <a:buNone/>
            </a:pPr>
            <a:r>
              <a:rPr lang="en-US" sz="1000" b="1" kern="0" dirty="0">
                <a:solidFill>
                  <a:srgbClr val="00D4FF"/>
                </a:solidFill>
                <a:latin typeface="Calibri" pitchFamily="34" charset="0"/>
              </a:rPr>
              <a:t>[5]</a:t>
            </a:r>
          </a:p>
        </p:txBody>
      </p:sp>
      <p:sp>
        <p:nvSpPr>
          <p:cNvPr id="30" name="t4983480"/>
          <p:cNvSpPr txBox="1"/>
          <p:nvPr/>
        </p:nvSpPr>
        <p:spPr>
          <a:xfrm>
            <a:off x="4983480" y="2571749"/>
            <a:ext cx="3931920" cy="282892"/>
          </a:xfrm>
          <a:prstGeom prst="rect">
            <a:avLst/>
          </a:prstGeom>
          <a:noFill/>
          <a:ln>
            <a:noFill/>
          </a:ln>
        </p:spPr>
        <p:txBody>
          <a:bodyPr wrap="square" rtlCol="0" anchor="ctr">
            <a:normAutofit/>
          </a:bodyPr>
          <a:lstStyle/>
          <a:p>
            <a:pPr marL="0" indent="0" algn="l">
              <a:buNone/>
            </a:pPr>
            <a:r>
              <a:rPr lang="en-US" sz="1000" b="1" kern="0" dirty="0">
                <a:solidFill>
                  <a:srgbClr val="FFFFFF"/>
                </a:solidFill>
                <a:latin typeface="Calibri" pitchFamily="34" charset="0"/>
              </a:rPr>
              <a:t>Verizon Data Breach Investigations Report (DBIR)</a:t>
            </a:r>
          </a:p>
        </p:txBody>
      </p:sp>
      <p:sp>
        <p:nvSpPr>
          <p:cNvPr id="31" name="t4983480"/>
          <p:cNvSpPr txBox="1"/>
          <p:nvPr/>
        </p:nvSpPr>
        <p:spPr>
          <a:xfrm>
            <a:off x="4983480" y="2828924"/>
            <a:ext cx="3931920" cy="334327"/>
          </a:xfrm>
          <a:prstGeom prst="rect">
            <a:avLst/>
          </a:prstGeom>
          <a:noFill/>
          <a:ln>
            <a:noFill/>
          </a:ln>
        </p:spPr>
        <p:txBody>
          <a:bodyPr wrap="square" rtlCol="0" anchor="ctr">
            <a:normAutofit/>
          </a:bodyPr>
          <a:lstStyle/>
          <a:p>
            <a:pPr marL="0" indent="0" algn="l">
              <a:buNone/>
            </a:pPr>
            <a:r>
              <a:rPr lang="en-US" sz="800" b="0" kern="0" dirty="0">
                <a:solidFill>
                  <a:srgbClr val="8BAED6"/>
                </a:solidFill>
                <a:latin typeface="Calibri" pitchFamily="34" charset="0"/>
              </a:rPr>
              <a:t>Verizon. (2023). Data Breach Investigations Report — SMB threat landscape analysis.</a:t>
            </a:r>
          </a:p>
        </p:txBody>
      </p:sp>
      <p:sp>
        <p:nvSpPr>
          <p:cNvPr id="32" name="r4846320"/>
          <p:cNvSpPr/>
          <p:nvPr/>
        </p:nvSpPr>
        <p:spPr>
          <a:xfrm>
            <a:off x="4846320" y="3291839"/>
            <a:ext cx="4160520" cy="951547"/>
          </a:xfrm>
          <a:prstGeom prst="rect">
            <a:avLst/>
          </a:prstGeom>
          <a:solidFill>
            <a:srgbClr val="0A1640"/>
          </a:solidFill>
          <a:ln>
            <a:noFill/>
          </a:ln>
        </p:spPr>
      </p:sp>
      <p:sp>
        <p:nvSpPr>
          <p:cNvPr id="33" name="r4846320"/>
          <p:cNvSpPr/>
          <p:nvPr/>
        </p:nvSpPr>
        <p:spPr>
          <a:xfrm>
            <a:off x="4846320" y="3291839"/>
            <a:ext cx="54864" cy="951547"/>
          </a:xfrm>
          <a:prstGeom prst="rect">
            <a:avLst/>
          </a:prstGeom>
          <a:solidFill>
            <a:srgbClr val="00D4FF"/>
          </a:solidFill>
          <a:ln>
            <a:noFill/>
          </a:ln>
        </p:spPr>
      </p:sp>
      <p:sp>
        <p:nvSpPr>
          <p:cNvPr id="34" name="t4983480"/>
          <p:cNvSpPr txBox="1"/>
          <p:nvPr/>
        </p:nvSpPr>
        <p:spPr>
          <a:xfrm>
            <a:off x="4983480" y="3343274"/>
            <a:ext cx="548640" cy="282892"/>
          </a:xfrm>
          <a:prstGeom prst="rect">
            <a:avLst/>
          </a:prstGeom>
          <a:noFill/>
          <a:ln>
            <a:noFill/>
          </a:ln>
        </p:spPr>
        <p:txBody>
          <a:bodyPr wrap="square" rtlCol="0" anchor="ctr">
            <a:normAutofit/>
          </a:bodyPr>
          <a:lstStyle/>
          <a:p>
            <a:pPr marL="0" indent="0" algn="l">
              <a:buNone/>
            </a:pPr>
            <a:r>
              <a:rPr lang="en-US" sz="1000" b="1" kern="0" dirty="0">
                <a:solidFill>
                  <a:srgbClr val="00D4FF"/>
                </a:solidFill>
                <a:latin typeface="Calibri" pitchFamily="34" charset="0"/>
              </a:rPr>
              <a:t>[6]</a:t>
            </a:r>
          </a:p>
        </p:txBody>
      </p:sp>
      <p:sp>
        <p:nvSpPr>
          <p:cNvPr id="35" name="t4983480"/>
          <p:cNvSpPr txBox="1"/>
          <p:nvPr/>
        </p:nvSpPr>
        <p:spPr>
          <a:xfrm>
            <a:off x="4983480" y="3626166"/>
            <a:ext cx="3931920" cy="282892"/>
          </a:xfrm>
          <a:prstGeom prst="rect">
            <a:avLst/>
          </a:prstGeom>
          <a:noFill/>
          <a:ln>
            <a:noFill/>
          </a:ln>
        </p:spPr>
        <p:txBody>
          <a:bodyPr wrap="square" rtlCol="0" anchor="ctr">
            <a:normAutofit/>
          </a:bodyPr>
          <a:lstStyle/>
          <a:p>
            <a:pPr marL="0" indent="0" algn="l">
              <a:buNone/>
            </a:pPr>
            <a:r>
              <a:rPr lang="en-US" sz="1000" b="1" kern="0" dirty="0">
                <a:solidFill>
                  <a:srgbClr val="FFFFFF"/>
                </a:solidFill>
                <a:latin typeface="Calibri" pitchFamily="34" charset="0"/>
              </a:rPr>
              <a:t>Risk Assessment Methodology — ENISA</a:t>
            </a:r>
          </a:p>
        </p:txBody>
      </p:sp>
      <p:sp>
        <p:nvSpPr>
          <p:cNvPr id="36" name="t4983480"/>
          <p:cNvSpPr txBox="1"/>
          <p:nvPr/>
        </p:nvSpPr>
        <p:spPr>
          <a:xfrm>
            <a:off x="4983480" y="3883341"/>
            <a:ext cx="3931920" cy="334327"/>
          </a:xfrm>
          <a:prstGeom prst="rect">
            <a:avLst/>
          </a:prstGeom>
          <a:noFill/>
          <a:ln>
            <a:noFill/>
          </a:ln>
        </p:spPr>
        <p:txBody>
          <a:bodyPr wrap="square" rtlCol="0" anchor="ctr">
            <a:normAutofit lnSpcReduction="10000"/>
          </a:bodyPr>
          <a:lstStyle/>
          <a:p>
            <a:pPr marL="0" indent="0" algn="l">
              <a:buNone/>
            </a:pPr>
            <a:r>
              <a:rPr lang="en-US" sz="800" b="0" kern="0" dirty="0">
                <a:solidFill>
                  <a:srgbClr val="8BAED6"/>
                </a:solidFill>
                <a:latin typeface="Calibri" pitchFamily="34" charset="0"/>
              </a:rPr>
              <a:t>European Union Agency for Cybersecurity. (2023). ENISA Threat Landscape for Small and Medium Enterprises.</a:t>
            </a:r>
          </a:p>
        </p:txBody>
      </p:sp>
      <p:sp>
        <p:nvSpPr>
          <p:cNvPr id="37" name="t365760"/>
          <p:cNvSpPr txBox="1"/>
          <p:nvPr/>
        </p:nvSpPr>
        <p:spPr>
          <a:xfrm>
            <a:off x="365760" y="4603432"/>
            <a:ext cx="5029200" cy="308610"/>
          </a:xfrm>
          <a:prstGeom prst="rect">
            <a:avLst/>
          </a:prstGeom>
          <a:noFill/>
          <a:ln>
            <a:noFill/>
          </a:ln>
        </p:spPr>
        <p:txBody>
          <a:bodyPr wrap="square" rtlCol="0" anchor="ctr">
            <a:normAutofit/>
          </a:bodyPr>
          <a:lstStyle/>
          <a:p>
            <a:pPr marL="0" indent="0" algn="l">
              <a:buNone/>
            </a:pPr>
            <a:r>
              <a:rPr lang="en-US" sz="900" b="0" kern="0" dirty="0">
                <a:solidFill>
                  <a:srgbClr val="7EC8E3"/>
                </a:solidFill>
                <a:latin typeface="Calibri" pitchFamily="34" charset="0"/>
              </a:rPr>
              <a:t>Cybersecurity Risk Assessment Framework  ·  Minor Project I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60E2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r0"/>
          <p:cNvSpPr/>
          <p:nvPr/>
        </p:nvSpPr>
        <p:spPr>
          <a:xfrm>
            <a:off x="0" y="0"/>
            <a:ext cx="64008" cy="5143500"/>
          </a:xfrm>
          <a:prstGeom prst="rect">
            <a:avLst/>
          </a:prstGeom>
          <a:solidFill>
            <a:srgbClr val="00D4FF"/>
          </a:solidFill>
          <a:ln>
            <a:noFill/>
          </a:ln>
        </p:spPr>
      </p:sp>
      <p:sp>
        <p:nvSpPr>
          <p:cNvPr id="2" name="r0"/>
          <p:cNvSpPr/>
          <p:nvPr/>
        </p:nvSpPr>
        <p:spPr>
          <a:xfrm>
            <a:off x="0" y="0"/>
            <a:ext cx="9144000" cy="41148"/>
          </a:xfrm>
          <a:prstGeom prst="rect">
            <a:avLst/>
          </a:prstGeom>
          <a:solidFill>
            <a:srgbClr val="00D4FF">
              <a:alpha val="40000"/>
            </a:srgbClr>
          </a:solidFill>
          <a:ln>
            <a:noFill/>
          </a:ln>
        </p:spPr>
      </p:sp>
      <p:sp>
        <p:nvSpPr>
          <p:cNvPr id="3" name="r0"/>
          <p:cNvSpPr/>
          <p:nvPr/>
        </p:nvSpPr>
        <p:spPr>
          <a:xfrm>
            <a:off x="0" y="4526280"/>
            <a:ext cx="9144000" cy="617220"/>
          </a:xfrm>
          <a:prstGeom prst="rect">
            <a:avLst/>
          </a:prstGeom>
          <a:solidFill>
            <a:srgbClr val="001040"/>
          </a:solidFill>
          <a:ln>
            <a:noFill/>
          </a:ln>
        </p:spPr>
      </p:sp>
      <p:sp>
        <p:nvSpPr>
          <p:cNvPr id="4" name="r0"/>
          <p:cNvSpPr/>
          <p:nvPr/>
        </p:nvSpPr>
        <p:spPr>
          <a:xfrm>
            <a:off x="0" y="4526280"/>
            <a:ext cx="64008" cy="617220"/>
          </a:xfrm>
          <a:prstGeom prst="rect">
            <a:avLst/>
          </a:prstGeom>
          <a:solidFill>
            <a:srgbClr val="00D4FF"/>
          </a:solidFill>
          <a:ln>
            <a:noFill/>
          </a:ln>
        </p:spPr>
      </p:sp>
      <p:sp>
        <p:nvSpPr>
          <p:cNvPr id="5" name="r6217920"/>
          <p:cNvSpPr/>
          <p:nvPr/>
        </p:nvSpPr>
        <p:spPr>
          <a:xfrm>
            <a:off x="6217920" y="0"/>
            <a:ext cx="2926080" cy="5143500"/>
          </a:xfrm>
          <a:prstGeom prst="rect">
            <a:avLst/>
          </a:prstGeom>
          <a:solidFill>
            <a:srgbClr val="0A1640"/>
          </a:solidFill>
          <a:ln>
            <a:noFill/>
          </a:ln>
        </p:spPr>
      </p:sp>
      <p:sp>
        <p:nvSpPr>
          <p:cNvPr id="52" name="c7680960"/>
          <p:cNvSpPr/>
          <p:nvPr/>
        </p:nvSpPr>
        <p:spPr>
          <a:xfrm>
            <a:off x="6137910" y="771525"/>
            <a:ext cx="3086100" cy="3086100"/>
          </a:xfrm>
          <a:prstGeom prst="ellipse">
            <a:avLst/>
          </a:prstGeom>
          <a:solidFill>
            <a:srgbClr val="001F6E">
              <a:alpha val="70000"/>
            </a:srgbClr>
          </a:solidFill>
          <a:ln>
            <a:noFill/>
          </a:ln>
        </p:spPr>
      </p:sp>
      <p:sp>
        <p:nvSpPr>
          <p:cNvPr id="6" name="c7680960"/>
          <p:cNvSpPr/>
          <p:nvPr/>
        </p:nvSpPr>
        <p:spPr>
          <a:xfrm>
            <a:off x="6755130" y="1388745"/>
            <a:ext cx="1851660" cy="1851660"/>
          </a:xfrm>
          <a:prstGeom prst="ellipse">
            <a:avLst/>
          </a:prstGeom>
          <a:solidFill>
            <a:srgbClr val="003399">
              <a:alpha val="50000"/>
            </a:srgbClr>
          </a:solidFill>
          <a:ln>
            <a:noFill/>
          </a:ln>
        </p:spPr>
      </p:sp>
      <p:sp>
        <p:nvSpPr>
          <p:cNvPr id="7" name="c7680960"/>
          <p:cNvSpPr/>
          <p:nvPr/>
        </p:nvSpPr>
        <p:spPr>
          <a:xfrm>
            <a:off x="7269480" y="1903095"/>
            <a:ext cx="822960" cy="822960"/>
          </a:xfrm>
          <a:prstGeom prst="ellipse">
            <a:avLst/>
          </a:prstGeom>
          <a:solidFill>
            <a:srgbClr val="00D4FF">
              <a:alpha val="35000"/>
            </a:srgbClr>
          </a:solidFill>
          <a:ln>
            <a:noFill/>
          </a:ln>
        </p:spPr>
      </p:sp>
      <p:sp>
        <p:nvSpPr>
          <p:cNvPr id="51" name="t502920"/>
          <p:cNvSpPr txBox="1"/>
          <p:nvPr/>
        </p:nvSpPr>
        <p:spPr>
          <a:xfrm>
            <a:off x="502920" y="925830"/>
            <a:ext cx="5303520" cy="1131570"/>
          </a:xfrm>
          <a:prstGeom prst="rect">
            <a:avLst/>
          </a:prstGeom>
          <a:noFill/>
          <a:ln>
            <a:noFill/>
          </a:ln>
        </p:spPr>
        <p:txBody>
          <a:bodyPr wrap="square" rtlCol="0" anchor="ctr">
            <a:normAutofit/>
          </a:bodyPr>
          <a:lstStyle/>
          <a:p>
            <a:pPr marL="0" indent="0" algn="l">
              <a:buNone/>
            </a:pPr>
            <a:r>
              <a:rPr lang="en-US" sz="5500" b="1" kern="0" spc="500" dirty="0">
                <a:solidFill>
                  <a:srgbClr val="00D4FF"/>
                </a:solidFill>
                <a:latin typeface="Calibri Light" pitchFamily="34" charset="0"/>
              </a:rPr>
              <a:t>THANK YOU</a:t>
            </a:r>
          </a:p>
        </p:txBody>
      </p:sp>
      <p:sp>
        <p:nvSpPr>
          <p:cNvPr id="8" name="r502920"/>
          <p:cNvSpPr/>
          <p:nvPr/>
        </p:nvSpPr>
        <p:spPr>
          <a:xfrm>
            <a:off x="502920" y="2211705"/>
            <a:ext cx="3657600" cy="25717"/>
          </a:xfrm>
          <a:prstGeom prst="rect">
            <a:avLst/>
          </a:prstGeom>
          <a:solidFill>
            <a:srgbClr val="00D4FF"/>
          </a:solidFill>
          <a:ln>
            <a:noFill/>
          </a:ln>
        </p:spPr>
      </p:sp>
      <p:sp>
        <p:nvSpPr>
          <p:cNvPr id="9" name="t502920"/>
          <p:cNvSpPr txBox="1"/>
          <p:nvPr/>
        </p:nvSpPr>
        <p:spPr>
          <a:xfrm>
            <a:off x="502920" y="2366010"/>
            <a:ext cx="5303520" cy="360045"/>
          </a:xfrm>
          <a:prstGeom prst="rect">
            <a:avLst/>
          </a:prstGeom>
          <a:noFill/>
          <a:ln>
            <a:noFill/>
          </a:ln>
        </p:spPr>
        <p:txBody>
          <a:bodyPr wrap="square" rtlCol="0" anchor="ctr">
            <a:normAutofit/>
          </a:bodyPr>
          <a:lstStyle/>
          <a:p>
            <a:pPr marL="0" indent="0" algn="l">
              <a:buNone/>
            </a:pPr>
            <a:r>
              <a:rPr lang="en-US" sz="1400" b="1" kern="0" dirty="0">
                <a:solidFill>
                  <a:srgbClr val="FFFFFF"/>
                </a:solidFill>
                <a:latin typeface="Calibri" pitchFamily="34" charset="0"/>
              </a:rPr>
              <a:t>Presented by: Himanshu Soni</a:t>
            </a:r>
          </a:p>
        </p:txBody>
      </p:sp>
      <p:sp>
        <p:nvSpPr>
          <p:cNvPr id="10" name="t502920"/>
          <p:cNvSpPr txBox="1"/>
          <p:nvPr/>
        </p:nvSpPr>
        <p:spPr>
          <a:xfrm>
            <a:off x="502920" y="2777490"/>
            <a:ext cx="5303520" cy="308610"/>
          </a:xfrm>
          <a:prstGeom prst="rect">
            <a:avLst/>
          </a:prstGeom>
          <a:noFill/>
          <a:ln>
            <a:noFill/>
          </a:ln>
        </p:spPr>
        <p:txBody>
          <a:bodyPr wrap="square" rtlCol="0" anchor="ctr">
            <a:normAutofit/>
          </a:bodyPr>
          <a:lstStyle/>
          <a:p>
            <a:pPr marL="0" indent="0" algn="l">
              <a:buNone/>
            </a:pPr>
            <a:r>
              <a:rPr lang="en-US" sz="1000" b="0" kern="0" dirty="0">
                <a:solidFill>
                  <a:srgbClr val="7EC8E3"/>
                </a:solidFill>
                <a:latin typeface="Calibri" pitchFamily="34" charset="0"/>
              </a:rPr>
              <a:t>Minor Project — I  ·  Naviotech Solution Pvt Ltd</a:t>
            </a:r>
          </a:p>
        </p:txBody>
      </p:sp>
      <p:sp>
        <p:nvSpPr>
          <p:cNvPr id="11" name="r502920"/>
          <p:cNvSpPr/>
          <p:nvPr/>
        </p:nvSpPr>
        <p:spPr>
          <a:xfrm>
            <a:off x="502920" y="3317557"/>
            <a:ext cx="5303520" cy="591502"/>
          </a:xfrm>
          <a:prstGeom prst="rect">
            <a:avLst/>
          </a:prstGeom>
          <a:solidFill>
            <a:srgbClr val="0A1640"/>
          </a:solidFill>
          <a:ln>
            <a:noFill/>
          </a:ln>
        </p:spPr>
      </p:sp>
      <p:sp>
        <p:nvSpPr>
          <p:cNvPr id="12" name="r502920"/>
          <p:cNvSpPr/>
          <p:nvPr/>
        </p:nvSpPr>
        <p:spPr>
          <a:xfrm>
            <a:off x="502920" y="3317557"/>
            <a:ext cx="64008" cy="591502"/>
          </a:xfrm>
          <a:prstGeom prst="rect">
            <a:avLst/>
          </a:prstGeom>
          <a:solidFill>
            <a:srgbClr val="00D4FF"/>
          </a:solidFill>
          <a:ln>
            <a:noFill/>
          </a:ln>
        </p:spPr>
      </p:sp>
      <p:sp>
        <p:nvSpPr>
          <p:cNvPr id="13" name="t685800"/>
          <p:cNvSpPr txBox="1"/>
          <p:nvPr/>
        </p:nvSpPr>
        <p:spPr>
          <a:xfrm>
            <a:off x="685800" y="3368992"/>
            <a:ext cx="4937760" cy="282892"/>
          </a:xfrm>
          <a:prstGeom prst="rect">
            <a:avLst/>
          </a:prstGeom>
          <a:noFill/>
          <a:ln>
            <a:noFill/>
          </a:ln>
        </p:spPr>
        <p:txBody>
          <a:bodyPr wrap="square" rtlCol="0" anchor="ctr">
            <a:normAutofit/>
          </a:bodyPr>
          <a:lstStyle/>
          <a:p>
            <a:pPr marL="0" indent="0" algn="l">
              <a:buNone/>
            </a:pPr>
            <a:r>
              <a:rPr lang="en-US" sz="1100" b="1" kern="0" dirty="0">
                <a:solidFill>
                  <a:srgbClr val="FFFFFF"/>
                </a:solidFill>
                <a:latin typeface="Calibri" pitchFamily="34" charset="0"/>
              </a:rPr>
              <a:t>Cybersecurity Risk Assessment Framework</a:t>
            </a:r>
          </a:p>
        </p:txBody>
      </p:sp>
      <p:sp>
        <p:nvSpPr>
          <p:cNvPr id="14" name="t685800"/>
          <p:cNvSpPr txBox="1"/>
          <p:nvPr/>
        </p:nvSpPr>
        <p:spPr>
          <a:xfrm>
            <a:off x="685800" y="3626167"/>
            <a:ext cx="4937760" cy="246888"/>
          </a:xfrm>
          <a:prstGeom prst="rect">
            <a:avLst/>
          </a:prstGeom>
          <a:noFill/>
          <a:ln>
            <a:noFill/>
          </a:ln>
        </p:spPr>
        <p:txBody>
          <a:bodyPr wrap="square" rtlCol="0" anchor="ctr">
            <a:normAutofit/>
          </a:bodyPr>
          <a:lstStyle/>
          <a:p>
            <a:pPr marL="0" indent="0" algn="l">
              <a:buNone/>
            </a:pPr>
            <a:r>
              <a:rPr lang="en-US" sz="1000" b="0" kern="0" dirty="0">
                <a:solidFill>
                  <a:srgbClr val="7EC8E3"/>
                </a:solidFill>
                <a:latin typeface="Calibri" pitchFamily="34" charset="0"/>
              </a:rPr>
              <a:t>for Small Businesses</a:t>
            </a:r>
          </a:p>
        </p:txBody>
      </p:sp>
      <p:sp>
        <p:nvSpPr>
          <p:cNvPr id="15" name="t502920"/>
          <p:cNvSpPr txBox="1"/>
          <p:nvPr/>
        </p:nvSpPr>
        <p:spPr>
          <a:xfrm>
            <a:off x="502920" y="4089082"/>
            <a:ext cx="5303520" cy="308610"/>
          </a:xfrm>
          <a:prstGeom prst="rect">
            <a:avLst/>
          </a:prstGeom>
          <a:noFill/>
          <a:ln>
            <a:noFill/>
          </a:ln>
        </p:spPr>
        <p:txBody>
          <a:bodyPr wrap="square" rtlCol="0" anchor="ctr">
            <a:normAutofit/>
          </a:bodyPr>
          <a:lstStyle/>
          <a:p>
            <a:pPr marL="0" indent="0" algn="l">
              <a:buNone/>
            </a:pPr>
            <a:r>
              <a:rPr lang="en-US" sz="1000" b="0" kern="0" dirty="0">
                <a:solidFill>
                  <a:srgbClr val="A0C4D8"/>
                </a:solidFill>
                <a:latin typeface="Calibri" pitchFamily="34" charset="0"/>
              </a:rPr>
              <a:t>Open for Questions &amp; Discussion</a:t>
            </a:r>
          </a:p>
        </p:txBody>
      </p:sp>
      <p:sp>
        <p:nvSpPr>
          <p:cNvPr id="16" name="t365760"/>
          <p:cNvSpPr txBox="1"/>
          <p:nvPr/>
        </p:nvSpPr>
        <p:spPr>
          <a:xfrm>
            <a:off x="365760" y="4603432"/>
            <a:ext cx="5029200" cy="308610"/>
          </a:xfrm>
          <a:prstGeom prst="rect">
            <a:avLst/>
          </a:prstGeom>
          <a:noFill/>
          <a:ln>
            <a:noFill/>
          </a:ln>
        </p:spPr>
        <p:txBody>
          <a:bodyPr wrap="square" rtlCol="0" anchor="ctr">
            <a:normAutofit/>
          </a:bodyPr>
          <a:lstStyle/>
          <a:p>
            <a:pPr marL="0" indent="0" algn="l">
              <a:buNone/>
            </a:pPr>
            <a:r>
              <a:rPr lang="en-US" sz="900" b="0" kern="0" dirty="0">
                <a:solidFill>
                  <a:srgbClr val="7EC8E3"/>
                </a:solidFill>
                <a:latin typeface="Calibri" pitchFamily="34" charset="0"/>
              </a:rPr>
              <a:t>Cybersecurity  ·  Risk Management  ·  2025–2026</a:t>
            </a:r>
          </a:p>
        </p:txBody>
      </p:sp>
      <p:sp>
        <p:nvSpPr>
          <p:cNvPr id="17" name="t5486400"/>
          <p:cNvSpPr txBox="1"/>
          <p:nvPr/>
        </p:nvSpPr>
        <p:spPr>
          <a:xfrm>
            <a:off x="5486400" y="4603432"/>
            <a:ext cx="3200400" cy="308610"/>
          </a:xfrm>
          <a:prstGeom prst="rect">
            <a:avLst/>
          </a:prstGeom>
          <a:noFill/>
          <a:ln>
            <a:noFill/>
          </a:ln>
        </p:spPr>
        <p:txBody>
          <a:bodyPr wrap="square" rtlCol="0" anchor="ctr">
            <a:normAutofit/>
          </a:bodyPr>
          <a:lstStyle/>
          <a:p>
            <a:pPr marL="0" indent="0" algn="r">
              <a:buNone/>
            </a:pPr>
            <a:r>
              <a:rPr lang="en-US" sz="900" b="1" kern="0" spc="400" dirty="0">
                <a:solidFill>
                  <a:srgbClr val="00D4FF"/>
                </a:solidFill>
                <a:latin typeface="Calibri" pitchFamily="34" charset="0"/>
              </a:rPr>
              <a:t>CONFIDENTIAL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2234</Words>
  <Application>Microsoft Office PowerPoint</Application>
  <PresentationFormat>On-screen Show (16:9)</PresentationFormat>
  <Paragraphs>544</Paragraphs>
  <Slides>26</Slides>
  <Notes>17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26</vt:i4>
      </vt:variant>
    </vt:vector>
  </HeadingPairs>
  <TitlesOfParts>
    <vt:vector size="31" baseType="lpstr">
      <vt:lpstr>Arial</vt:lpstr>
      <vt:lpstr>Calibri</vt:lpstr>
      <vt:lpstr>Calibri Light</vt:lpstr>
      <vt:lpstr>Trebuchet MS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Cybersecurity Risk Assessment Framework for SMEs</dc:title>
  <dc:subject>PptxGenJS Presentation</dc:subject>
  <dc:creator>PptxGenJS</dc:creator>
  <cp:lastModifiedBy>Microsoft account</cp:lastModifiedBy>
  <cp:revision>2</cp:revision>
  <dcterms:created xsi:type="dcterms:W3CDTF">2026-06-07T15:59:46Z</dcterms:created>
  <dcterms:modified xsi:type="dcterms:W3CDTF">2026-06-09T10:54:33Z</dcterms:modified>
</cp:coreProperties>
</file>